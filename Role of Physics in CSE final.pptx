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620" y="4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199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presentation title and team. Briefly explain that this talk explores how physics underlies computer science and engineering, from hardware to emerging technologies. Introduce each of the four presenters by 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computers are not abstract mathematical objects but physical machines. Electricity and signals are what actually carry information, and physics gives us the rules that make hardware and communication possible. This slide sets up the rest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how semiconductor physics makes transistors possible, how CPUs and GPUs are built from electronic circuits, and why thermodynamics matters for cooling and power efficiency in modern hardware. Point to the chip diagram to make the silicon die tangible.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wireless communication relies on electromagnetic waves propagating through space, fiber optics uses total internal reflection of light to move data at high speed, and signal processing techniques are built on physical and mathematical laws that filter and decode information.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how physics engines calculate motion, collisions, and interaction forces in real time, how optics principles create realistic lighting and shadows, and how these techniques come together in gaming, virtual reality, and scientific simulation.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quantum computing as a technology that harnesses superposition and entanglement, nanotechnology as atomic-scale engineering that improves device performance, and photonics as a light-based approach to future high-speed computing. Emphasize these all extend classical physics principles.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that physics underlies every layer of computer science and engineering, from hardware to networking, graphics, and emerging technology. Reinforce that a strong grasp of physics helps engineers build faster, more efficient, and more innovative systems.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that physics underlies every layer of computer science and engineering, from hardware to networking, graphics, and emerging technology. Reinforce that a strong grasp of physics helps engineers build faster, more efficient, and more innovative systems.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00706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406661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236633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7849994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8314985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493904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796337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4362545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2214772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95380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7069460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013816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8336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7/14/2026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65750413"/>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3.png"/><Relationship Id="rId7"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24.jpeg"/><Relationship Id="rId4" Type="http://schemas.openxmlformats.org/officeDocument/2006/relationships/image" Target="../media/image23.jpe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7"/>
        </a:solidFill>
        <a:effectLst/>
      </p:bgPr>
    </p:bg>
    <p:spTree>
      <p:nvGrpSpPr>
        <p:cNvPr id="1" name=""/>
        <p:cNvGrpSpPr/>
        <p:nvPr/>
      </p:nvGrpSpPr>
      <p:grpSpPr>
        <a:xfrm>
          <a:off x="0" y="0"/>
          <a:ext cx="0" cy="0"/>
          <a:chOff x="0" y="0"/>
          <a:chExt cx="0" cy="0"/>
        </a:xfrm>
      </p:grpSpPr>
      <p:sp>
        <p:nvSpPr>
          <p:cNvPr id="7" name="Text 5"/>
          <p:cNvSpPr/>
          <p:nvPr/>
        </p:nvSpPr>
        <p:spPr>
          <a:xfrm>
            <a:off x="822960" y="1322070"/>
            <a:ext cx="4572000" cy="320040"/>
          </a:xfrm>
          <a:prstGeom prst="rect">
            <a:avLst/>
          </a:prstGeom>
          <a:noFill/>
          <a:ln/>
        </p:spPr>
        <p:txBody>
          <a:bodyPr wrap="square" lIns="0" tIns="0" rIns="0" bIns="0" rtlCol="0" anchor="ctr"/>
          <a:lstStyle/>
          <a:p>
            <a:pPr marL="0" indent="0" algn="l">
              <a:buNone/>
            </a:pPr>
            <a:r>
              <a:rPr lang="en-US" sz="1200" b="1" kern="0" spc="200" dirty="0">
                <a:solidFill>
                  <a:srgbClr val="007AFF"/>
                </a:solidFill>
                <a:latin typeface="Arial" pitchFamily="34" charset="0"/>
                <a:cs typeface="Arial" pitchFamily="34" charset="-120"/>
              </a:rPr>
              <a:t>PRESENTATION</a:t>
            </a:r>
            <a:endParaRPr lang="en-US" sz="1200" dirty="0"/>
          </a:p>
        </p:txBody>
      </p:sp>
      <p:sp>
        <p:nvSpPr>
          <p:cNvPr id="8" name="Text 6"/>
          <p:cNvSpPr/>
          <p:nvPr/>
        </p:nvSpPr>
        <p:spPr>
          <a:xfrm>
            <a:off x="793228" y="1651391"/>
            <a:ext cx="8778240" cy="2148840"/>
          </a:xfrm>
          <a:prstGeom prst="rect">
            <a:avLst/>
          </a:prstGeom>
          <a:noFill/>
          <a:ln/>
        </p:spPr>
        <p:txBody>
          <a:bodyPr wrap="square" lIns="0" tIns="0" rIns="0" bIns="0" rtlCol="0" anchor="ctr"/>
          <a:lstStyle/>
          <a:p>
            <a:pPr marL="0" indent="0">
              <a:lnSpc>
                <a:spcPct val="104000"/>
              </a:lnSpc>
              <a:buNone/>
            </a:pPr>
            <a:r>
              <a:rPr lang="en-US" sz="4200" b="1" dirty="0">
                <a:solidFill>
                  <a:srgbClr val="1D1D1F"/>
                </a:solidFill>
                <a:latin typeface="Arial" pitchFamily="34" charset="0"/>
                <a:ea typeface="Arial" pitchFamily="34" charset="-122"/>
                <a:cs typeface="Arial" pitchFamily="34" charset="-120"/>
              </a:rPr>
              <a:t>Role of Physics in</a:t>
            </a:r>
            <a:endParaRPr lang="en-US" sz="4200" dirty="0"/>
          </a:p>
          <a:p>
            <a:pPr marL="0" indent="0">
              <a:lnSpc>
                <a:spcPct val="104000"/>
              </a:lnSpc>
              <a:buNone/>
            </a:pPr>
            <a:r>
              <a:rPr lang="en-US" sz="4200" b="1" dirty="0">
                <a:solidFill>
                  <a:srgbClr val="1D1D1F"/>
                </a:solidFill>
                <a:latin typeface="Arial" pitchFamily="34" charset="0"/>
                <a:ea typeface="Arial" pitchFamily="34" charset="-122"/>
                <a:cs typeface="Arial" pitchFamily="34" charset="-120"/>
              </a:rPr>
              <a:t>Computer Science and</a:t>
            </a:r>
            <a:endParaRPr lang="en-US" sz="4200" dirty="0"/>
          </a:p>
          <a:p>
            <a:pPr marL="0" indent="0">
              <a:lnSpc>
                <a:spcPct val="104000"/>
              </a:lnSpc>
              <a:buNone/>
            </a:pPr>
            <a:r>
              <a:rPr lang="en-US" sz="4200" b="1" dirty="0">
                <a:solidFill>
                  <a:srgbClr val="1D1D1F"/>
                </a:solidFill>
                <a:latin typeface="Arial" pitchFamily="34" charset="0"/>
                <a:ea typeface="Arial" pitchFamily="34" charset="-122"/>
                <a:cs typeface="Arial" pitchFamily="34" charset="-120"/>
              </a:rPr>
              <a:t>Engineering</a:t>
            </a:r>
            <a:endParaRPr lang="en-US" sz="4200" dirty="0"/>
          </a:p>
        </p:txBody>
      </p:sp>
      <p:sp>
        <p:nvSpPr>
          <p:cNvPr id="9" name="Text 7"/>
          <p:cNvSpPr/>
          <p:nvPr/>
        </p:nvSpPr>
        <p:spPr>
          <a:xfrm>
            <a:off x="822960" y="3794760"/>
            <a:ext cx="7498080" cy="548640"/>
          </a:xfrm>
          <a:prstGeom prst="rect">
            <a:avLst/>
          </a:prstGeom>
          <a:noFill/>
          <a:ln/>
        </p:spPr>
        <p:txBody>
          <a:bodyPr wrap="square" lIns="0" tIns="0" rIns="0" bIns="0" rtlCol="0" anchor="ctr"/>
          <a:lstStyle/>
          <a:p>
            <a:pPr marL="0" indent="0">
              <a:buNone/>
            </a:pPr>
            <a:r>
              <a:rPr lang="en-US" sz="1500" i="1" dirty="0">
                <a:solidFill>
                  <a:srgbClr val="6E6E73"/>
                </a:solidFill>
                <a:latin typeface="Arial" pitchFamily="34" charset="0"/>
                <a:ea typeface="Arial" pitchFamily="34" charset="-122"/>
                <a:cs typeface="Arial" pitchFamily="34" charset="-120"/>
              </a:rPr>
              <a:t>How the laws of physics quietly power every chip, signal, and system in modern computing.</a:t>
            </a:r>
            <a:endParaRPr lang="en-US" sz="1500" dirty="0"/>
          </a:p>
        </p:txBody>
      </p:sp>
      <p:sp>
        <p:nvSpPr>
          <p:cNvPr id="10" name="Shape 8"/>
          <p:cNvSpPr/>
          <p:nvPr/>
        </p:nvSpPr>
        <p:spPr>
          <a:xfrm>
            <a:off x="822960" y="4434840"/>
            <a:ext cx="914400" cy="0"/>
          </a:xfrm>
          <a:prstGeom prst="line">
            <a:avLst/>
          </a:prstGeom>
          <a:noFill/>
          <a:ln w="31750">
            <a:solidFill>
              <a:srgbClr val="007AFF"/>
            </a:solidFill>
            <a:prstDash val="solid"/>
          </a:ln>
        </p:spPr>
      </p:sp>
      <p:sp>
        <p:nvSpPr>
          <p:cNvPr id="11" name="Text 9"/>
          <p:cNvSpPr/>
          <p:nvPr/>
        </p:nvSpPr>
        <p:spPr>
          <a:xfrm>
            <a:off x="822960" y="4572000"/>
            <a:ext cx="7772400" cy="320040"/>
          </a:xfrm>
          <a:prstGeom prst="rect">
            <a:avLst/>
          </a:prstGeom>
          <a:noFill/>
          <a:ln/>
        </p:spPr>
        <p:txBody>
          <a:bodyPr wrap="square" lIns="0" tIns="0" rIns="0" bIns="0" rtlCol="0" anchor="ctr"/>
          <a:lstStyle/>
          <a:p>
            <a:pPr marL="0" indent="0">
              <a:buNone/>
            </a:pPr>
            <a:r>
              <a:rPr lang="en-US" sz="1300" b="1" dirty="0">
                <a:solidFill>
                  <a:srgbClr val="6E6E73"/>
                </a:solidFill>
                <a:latin typeface="Arial" pitchFamily="34" charset="0"/>
                <a:ea typeface="Arial" pitchFamily="34" charset="-122"/>
                <a:cs typeface="Arial" pitchFamily="34" charset="-120"/>
              </a:rPr>
              <a:t>Department of Computer Science and Engineering  •  World University Of Bangladesh  • Batch 73A </a:t>
            </a:r>
            <a:endParaRPr lang="en-US" sz="1300" dirty="0"/>
          </a:p>
        </p:txBody>
      </p:sp>
      <p:sp>
        <p:nvSpPr>
          <p:cNvPr id="12" name="Shape 10"/>
          <p:cNvSpPr/>
          <p:nvPr/>
        </p:nvSpPr>
        <p:spPr>
          <a:xfrm>
            <a:off x="768096" y="5206609"/>
            <a:ext cx="10515600" cy="1417320"/>
          </a:xfrm>
          <a:prstGeom prst="roundRect">
            <a:avLst>
              <a:gd name="adj" fmla="val 9032"/>
            </a:avLst>
          </a:prstGeom>
          <a:solidFill>
            <a:srgbClr val="FFFFFF"/>
          </a:solidFill>
          <a:ln/>
          <a:effectLst>
            <a:outerShdw blurRad="127000" dist="38100" dir="5400000" algn="bl" rotWithShape="0">
              <a:srgbClr val="8E8E93">
                <a:alpha val="22000"/>
              </a:srgbClr>
            </a:outerShdw>
          </a:effectLst>
        </p:spPr>
      </p:sp>
      <p:sp>
        <p:nvSpPr>
          <p:cNvPr id="13" name="Text 11"/>
          <p:cNvSpPr/>
          <p:nvPr/>
        </p:nvSpPr>
        <p:spPr>
          <a:xfrm>
            <a:off x="1009650" y="5230368"/>
            <a:ext cx="3657600" cy="274320"/>
          </a:xfrm>
          <a:prstGeom prst="rect">
            <a:avLst/>
          </a:prstGeom>
          <a:noFill/>
          <a:ln/>
        </p:spPr>
        <p:txBody>
          <a:bodyPr wrap="square" lIns="0" tIns="0" rIns="0" bIns="0" rtlCol="0" anchor="ctr"/>
          <a:lstStyle/>
          <a:p>
            <a:pPr marL="0" indent="0">
              <a:buNone/>
            </a:pPr>
            <a:r>
              <a:rPr lang="en-US" sz="1050" b="1" kern="0" spc="150" dirty="0">
                <a:solidFill>
                  <a:srgbClr val="007AFF"/>
                </a:solidFill>
                <a:latin typeface="Arial" pitchFamily="34" charset="0"/>
                <a:ea typeface="Arial" pitchFamily="34" charset="-122"/>
                <a:cs typeface="Arial" pitchFamily="34" charset="-120"/>
              </a:rPr>
              <a:t>PRESENTED BY</a:t>
            </a:r>
            <a:endParaRPr lang="en-US" sz="1050" dirty="0"/>
          </a:p>
        </p:txBody>
      </p:sp>
      <p:sp>
        <p:nvSpPr>
          <p:cNvPr id="14" name="Shape 12"/>
          <p:cNvSpPr/>
          <p:nvPr/>
        </p:nvSpPr>
        <p:spPr>
          <a:xfrm>
            <a:off x="942975" y="5540502"/>
            <a:ext cx="2450592" cy="822960"/>
          </a:xfrm>
          <a:prstGeom prst="roundRect">
            <a:avLst>
              <a:gd name="adj" fmla="val 11111"/>
            </a:avLst>
          </a:prstGeom>
          <a:solidFill>
            <a:srgbClr val="F5F5F7"/>
          </a:solidFill>
          <a:ln/>
        </p:spPr>
        <p:txBody>
          <a:bodyPr/>
          <a:lstStyle/>
          <a:p>
            <a:endParaRPr lang="en-US" dirty="0"/>
          </a:p>
        </p:txBody>
      </p:sp>
      <p:sp>
        <p:nvSpPr>
          <p:cNvPr id="15" name="Text 13"/>
          <p:cNvSpPr/>
          <p:nvPr/>
        </p:nvSpPr>
        <p:spPr>
          <a:xfrm>
            <a:off x="1107567" y="5669280"/>
            <a:ext cx="2121408" cy="292608"/>
          </a:xfrm>
          <a:prstGeom prst="rect">
            <a:avLst/>
          </a:prstGeom>
          <a:noFill/>
          <a:ln/>
        </p:spPr>
        <p:txBody>
          <a:bodyPr wrap="square" lIns="0" tIns="0" rIns="0" bIns="0" rtlCol="0" anchor="ctr"/>
          <a:lstStyle/>
          <a:p>
            <a:pPr marL="0" indent="0">
              <a:buNone/>
            </a:pPr>
            <a:r>
              <a:rPr lang="en-US" sz="1250" b="1" dirty="0" err="1">
                <a:solidFill>
                  <a:srgbClr val="1D1D1F"/>
                </a:solidFill>
                <a:latin typeface="Arial" pitchFamily="34" charset="0"/>
                <a:cs typeface="Arial" pitchFamily="34" charset="-120"/>
              </a:rPr>
              <a:t>Sakhawat</a:t>
            </a:r>
            <a:r>
              <a:rPr lang="en-US" sz="1250" b="1" dirty="0">
                <a:solidFill>
                  <a:srgbClr val="1D1D1F"/>
                </a:solidFill>
                <a:latin typeface="Arial" pitchFamily="34" charset="0"/>
                <a:cs typeface="Arial" pitchFamily="34" charset="-120"/>
              </a:rPr>
              <a:t> Hossain Samir</a:t>
            </a:r>
            <a:endParaRPr lang="en-US" sz="1250" dirty="0"/>
          </a:p>
        </p:txBody>
      </p:sp>
      <p:sp>
        <p:nvSpPr>
          <p:cNvPr id="16" name="Text 14"/>
          <p:cNvSpPr/>
          <p:nvPr/>
        </p:nvSpPr>
        <p:spPr>
          <a:xfrm>
            <a:off x="1307592" y="5998464"/>
            <a:ext cx="935094" cy="234940"/>
          </a:xfrm>
          <a:prstGeom prst="rect">
            <a:avLst/>
          </a:prstGeom>
          <a:noFill/>
          <a:ln/>
        </p:spPr>
        <p:txBody>
          <a:bodyPr wrap="square" lIns="0" tIns="0" rIns="0" bIns="0" rtlCol="0" anchor="ctr"/>
          <a:lstStyle/>
          <a:p>
            <a:pPr marL="0" indent="0">
              <a:buNone/>
            </a:pPr>
            <a:r>
              <a:rPr lang="en-US" sz="1100" dirty="0">
                <a:solidFill>
                  <a:srgbClr val="6E6E73"/>
                </a:solidFill>
                <a:latin typeface="Arial" pitchFamily="34" charset="0"/>
                <a:ea typeface="Arial" pitchFamily="34" charset="-122"/>
                <a:cs typeface="Arial" pitchFamily="34" charset="-120"/>
              </a:rPr>
              <a:t>Roll No: 5226</a:t>
            </a:r>
            <a:endParaRPr lang="en-US" sz="1100" dirty="0"/>
          </a:p>
        </p:txBody>
      </p:sp>
      <p:sp>
        <p:nvSpPr>
          <p:cNvPr id="17" name="Shape 15"/>
          <p:cNvSpPr/>
          <p:nvPr/>
        </p:nvSpPr>
        <p:spPr>
          <a:xfrm>
            <a:off x="3518154" y="5521452"/>
            <a:ext cx="2450592" cy="822960"/>
          </a:xfrm>
          <a:prstGeom prst="roundRect">
            <a:avLst>
              <a:gd name="adj" fmla="val 11111"/>
            </a:avLst>
          </a:prstGeom>
          <a:solidFill>
            <a:srgbClr val="F5F5F7"/>
          </a:solidFill>
          <a:ln/>
        </p:spPr>
      </p:sp>
      <p:sp>
        <p:nvSpPr>
          <p:cNvPr id="18" name="Text 16"/>
          <p:cNvSpPr/>
          <p:nvPr/>
        </p:nvSpPr>
        <p:spPr>
          <a:xfrm>
            <a:off x="3825621" y="5669280"/>
            <a:ext cx="2121408" cy="292608"/>
          </a:xfrm>
          <a:prstGeom prst="rect">
            <a:avLst/>
          </a:prstGeom>
          <a:noFill/>
          <a:ln/>
        </p:spPr>
        <p:txBody>
          <a:bodyPr wrap="square" lIns="0" tIns="0" rIns="0" bIns="0" rtlCol="0" anchor="ctr"/>
          <a:lstStyle/>
          <a:p>
            <a:pPr marL="0" indent="0">
              <a:buNone/>
            </a:pPr>
            <a:r>
              <a:rPr lang="en-US" sz="1250" b="1" dirty="0" err="1">
                <a:solidFill>
                  <a:srgbClr val="1D1D1F"/>
                </a:solidFill>
                <a:latin typeface="Arial" pitchFamily="34" charset="0"/>
                <a:cs typeface="Arial" pitchFamily="34" charset="-120"/>
              </a:rPr>
              <a:t>Sahariar</a:t>
            </a:r>
            <a:r>
              <a:rPr lang="en-US" sz="1250" b="1" dirty="0">
                <a:solidFill>
                  <a:srgbClr val="1D1D1F"/>
                </a:solidFill>
                <a:latin typeface="Arial" pitchFamily="34" charset="0"/>
                <a:cs typeface="Arial" pitchFamily="34" charset="-120"/>
              </a:rPr>
              <a:t> </a:t>
            </a:r>
            <a:r>
              <a:rPr lang="en-US" sz="1250" b="1" dirty="0" err="1">
                <a:solidFill>
                  <a:srgbClr val="1D1D1F"/>
                </a:solidFill>
                <a:latin typeface="Arial" pitchFamily="34" charset="0"/>
                <a:cs typeface="Arial" pitchFamily="34" charset="-120"/>
              </a:rPr>
              <a:t>Nayme</a:t>
            </a:r>
            <a:endParaRPr lang="en-US" sz="1250" dirty="0"/>
          </a:p>
        </p:txBody>
      </p:sp>
      <p:sp>
        <p:nvSpPr>
          <p:cNvPr id="19" name="Text 17"/>
          <p:cNvSpPr/>
          <p:nvPr/>
        </p:nvSpPr>
        <p:spPr>
          <a:xfrm>
            <a:off x="3825621" y="5998464"/>
            <a:ext cx="2121408" cy="274320"/>
          </a:xfrm>
          <a:prstGeom prst="rect">
            <a:avLst/>
          </a:prstGeom>
          <a:noFill/>
          <a:ln/>
        </p:spPr>
        <p:txBody>
          <a:bodyPr wrap="square" lIns="0" tIns="0" rIns="0" bIns="0" rtlCol="0" anchor="ctr"/>
          <a:lstStyle/>
          <a:p>
            <a:pPr marL="0" indent="0">
              <a:buNone/>
            </a:pPr>
            <a:r>
              <a:rPr lang="en-US" sz="1100" dirty="0">
                <a:solidFill>
                  <a:srgbClr val="6E6E73"/>
                </a:solidFill>
                <a:latin typeface="Arial" pitchFamily="34" charset="0"/>
                <a:ea typeface="Arial" pitchFamily="34" charset="-122"/>
                <a:cs typeface="Arial" pitchFamily="34" charset="-120"/>
              </a:rPr>
              <a:t>Roll No: 5246</a:t>
            </a:r>
            <a:endParaRPr lang="en-US" sz="1100" dirty="0"/>
          </a:p>
        </p:txBody>
      </p:sp>
      <p:sp>
        <p:nvSpPr>
          <p:cNvPr id="20" name="Shape 18"/>
          <p:cNvSpPr/>
          <p:nvPr/>
        </p:nvSpPr>
        <p:spPr>
          <a:xfrm>
            <a:off x="6093333" y="5504688"/>
            <a:ext cx="2450592" cy="822960"/>
          </a:xfrm>
          <a:prstGeom prst="roundRect">
            <a:avLst>
              <a:gd name="adj" fmla="val 11111"/>
            </a:avLst>
          </a:prstGeom>
          <a:solidFill>
            <a:srgbClr val="F5F5F7"/>
          </a:solidFill>
          <a:ln/>
        </p:spPr>
      </p:sp>
      <p:sp>
        <p:nvSpPr>
          <p:cNvPr id="21" name="Text 19"/>
          <p:cNvSpPr/>
          <p:nvPr/>
        </p:nvSpPr>
        <p:spPr>
          <a:xfrm>
            <a:off x="6343650" y="5652516"/>
            <a:ext cx="2121408" cy="292608"/>
          </a:xfrm>
          <a:prstGeom prst="rect">
            <a:avLst/>
          </a:prstGeom>
          <a:noFill/>
          <a:ln/>
        </p:spPr>
        <p:txBody>
          <a:bodyPr wrap="square" lIns="0" tIns="0" rIns="0" bIns="0" rtlCol="0" anchor="ctr"/>
          <a:lstStyle/>
          <a:p>
            <a:pPr marL="0" indent="0">
              <a:buNone/>
            </a:pPr>
            <a:r>
              <a:rPr lang="en-US" sz="1250" b="1" dirty="0" err="1">
                <a:solidFill>
                  <a:srgbClr val="1D1D1F"/>
                </a:solidFill>
                <a:latin typeface="Arial" pitchFamily="34" charset="0"/>
                <a:cs typeface="Arial" pitchFamily="34" charset="-120"/>
              </a:rPr>
              <a:t>Aritra</a:t>
            </a:r>
            <a:r>
              <a:rPr lang="en-US" sz="1250" b="1" dirty="0">
                <a:solidFill>
                  <a:srgbClr val="1D1D1F"/>
                </a:solidFill>
                <a:latin typeface="Arial" pitchFamily="34" charset="0"/>
                <a:cs typeface="Arial" pitchFamily="34" charset="-120"/>
              </a:rPr>
              <a:t> </a:t>
            </a:r>
            <a:r>
              <a:rPr lang="en-US" sz="1250" b="1" dirty="0" err="1">
                <a:solidFill>
                  <a:srgbClr val="1D1D1F"/>
                </a:solidFill>
                <a:latin typeface="Arial" pitchFamily="34" charset="0"/>
                <a:cs typeface="Arial" pitchFamily="34" charset="-120"/>
              </a:rPr>
              <a:t>Tarafder</a:t>
            </a:r>
            <a:endParaRPr lang="en-US" sz="1250" dirty="0"/>
          </a:p>
        </p:txBody>
      </p:sp>
      <p:sp>
        <p:nvSpPr>
          <p:cNvPr id="22" name="Text 20"/>
          <p:cNvSpPr/>
          <p:nvPr/>
        </p:nvSpPr>
        <p:spPr>
          <a:xfrm>
            <a:off x="6343650" y="5981700"/>
            <a:ext cx="2121408" cy="274320"/>
          </a:xfrm>
          <a:prstGeom prst="rect">
            <a:avLst/>
          </a:prstGeom>
          <a:noFill/>
          <a:ln/>
        </p:spPr>
        <p:txBody>
          <a:bodyPr wrap="square" lIns="0" tIns="0" rIns="0" bIns="0" rtlCol="0" anchor="ctr"/>
          <a:lstStyle/>
          <a:p>
            <a:pPr marL="0" indent="0">
              <a:buNone/>
            </a:pPr>
            <a:r>
              <a:rPr lang="en-US" sz="1100" dirty="0">
                <a:solidFill>
                  <a:srgbClr val="6E6E73"/>
                </a:solidFill>
                <a:latin typeface="Arial" pitchFamily="34" charset="0"/>
                <a:ea typeface="Arial" pitchFamily="34" charset="-122"/>
                <a:cs typeface="Arial" pitchFamily="34" charset="-120"/>
              </a:rPr>
              <a:t>Roll No: 5225</a:t>
            </a:r>
            <a:endParaRPr lang="en-US" sz="1100" dirty="0"/>
          </a:p>
        </p:txBody>
      </p:sp>
      <p:sp>
        <p:nvSpPr>
          <p:cNvPr id="23" name="Shape 21"/>
          <p:cNvSpPr/>
          <p:nvPr/>
        </p:nvSpPr>
        <p:spPr>
          <a:xfrm>
            <a:off x="8668512" y="5511546"/>
            <a:ext cx="2448687" cy="822960"/>
          </a:xfrm>
          <a:prstGeom prst="roundRect">
            <a:avLst>
              <a:gd name="adj" fmla="val 11111"/>
            </a:avLst>
          </a:prstGeom>
          <a:solidFill>
            <a:srgbClr val="F5F5F7"/>
          </a:solidFill>
          <a:ln/>
        </p:spPr>
      </p:sp>
      <p:sp>
        <p:nvSpPr>
          <p:cNvPr id="24" name="Text 22"/>
          <p:cNvSpPr/>
          <p:nvPr/>
        </p:nvSpPr>
        <p:spPr>
          <a:xfrm>
            <a:off x="8975979" y="5640324"/>
            <a:ext cx="2121408" cy="292608"/>
          </a:xfrm>
          <a:prstGeom prst="rect">
            <a:avLst/>
          </a:prstGeom>
          <a:noFill/>
          <a:ln/>
        </p:spPr>
        <p:txBody>
          <a:bodyPr wrap="square" lIns="0" tIns="0" rIns="0" bIns="0" rtlCol="0" anchor="ctr"/>
          <a:lstStyle/>
          <a:p>
            <a:pPr marL="0" indent="0">
              <a:buNone/>
            </a:pPr>
            <a:r>
              <a:rPr lang="en-US" sz="1250" b="1" dirty="0">
                <a:solidFill>
                  <a:srgbClr val="1D1D1F"/>
                </a:solidFill>
                <a:latin typeface="Arial" pitchFamily="34" charset="0"/>
                <a:ea typeface="Arial" pitchFamily="34" charset="-122"/>
                <a:cs typeface="Arial" pitchFamily="34" charset="-120"/>
              </a:rPr>
              <a:t>Presenter 4 Name</a:t>
            </a:r>
            <a:endParaRPr lang="en-US" sz="1250" dirty="0"/>
          </a:p>
        </p:txBody>
      </p:sp>
      <p:sp>
        <p:nvSpPr>
          <p:cNvPr id="25" name="Text 23"/>
          <p:cNvSpPr/>
          <p:nvPr/>
        </p:nvSpPr>
        <p:spPr>
          <a:xfrm>
            <a:off x="8975979" y="5969508"/>
            <a:ext cx="2121408" cy="274320"/>
          </a:xfrm>
          <a:prstGeom prst="rect">
            <a:avLst/>
          </a:prstGeom>
          <a:noFill/>
          <a:ln/>
        </p:spPr>
        <p:txBody>
          <a:bodyPr wrap="square" lIns="0" tIns="0" rIns="0" bIns="0" rtlCol="0" anchor="ctr"/>
          <a:lstStyle/>
          <a:p>
            <a:pPr marL="0" indent="0">
              <a:buNone/>
            </a:pPr>
            <a:r>
              <a:rPr lang="en-US" sz="1100" dirty="0">
                <a:solidFill>
                  <a:srgbClr val="6E6E73"/>
                </a:solidFill>
                <a:latin typeface="Arial" pitchFamily="34" charset="0"/>
                <a:ea typeface="Arial" pitchFamily="34" charset="-122"/>
                <a:cs typeface="Arial" pitchFamily="34" charset="-120"/>
              </a:rPr>
              <a:t>Roll No: [XXXXXXX]</a:t>
            </a:r>
            <a:endParaRPr lang="en-US" sz="1100" dirty="0"/>
          </a:p>
        </p:txBody>
      </p:sp>
      <p:pic>
        <p:nvPicPr>
          <p:cNvPr id="29" name="Picture 28">
            <a:extLst>
              <a:ext uri="{FF2B5EF4-FFF2-40B4-BE49-F238E27FC236}">
                <a16:creationId xmlns:a16="http://schemas.microsoft.com/office/drawing/2014/main" id="{760309A8-5573-427E-B689-00F48E85D172}"/>
              </a:ext>
            </a:extLst>
          </p:cNvPr>
          <p:cNvPicPr>
            <a:picLocks noChangeAspect="1"/>
          </p:cNvPicPr>
          <p:nvPr/>
        </p:nvPicPr>
        <p:blipFill>
          <a:blip r:embed="rId3"/>
          <a:stretch>
            <a:fillRect/>
          </a:stretch>
        </p:blipFill>
        <p:spPr>
          <a:xfrm>
            <a:off x="7404354" y="-295356"/>
            <a:ext cx="5391150" cy="3600450"/>
          </a:xfrm>
          <a:prstGeom prst="roundRect">
            <a:avLst/>
          </a:prstGeom>
          <a:effectLst>
            <a:outerShdw blurRad="190500" sx="102000" sy="102000" algn="ctr" rotWithShape="0">
              <a:prstClr val="black">
                <a:alpha val="30000"/>
              </a:prstClr>
            </a:outerShdw>
          </a:effec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8" grpId="0" animBg="1"/>
      <p:bldP spid="19" grpId="0" animBg="1"/>
      <p:bldP spid="21" grpId="0" animBg="1"/>
      <p:bldP spid="22" grpId="0" animBg="1"/>
      <p:bldP spid="24" grpId="0" animBg="1"/>
      <p:bldP spid="2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1046" name="Picture 22">
            <a:extLst>
              <a:ext uri="{FF2B5EF4-FFF2-40B4-BE49-F238E27FC236}">
                <a16:creationId xmlns:a16="http://schemas.microsoft.com/office/drawing/2014/main" id="{00212B4B-180F-4757-B44D-065409ABDE66}"/>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9444540" y="-168965"/>
            <a:ext cx="3787323" cy="7026965"/>
          </a:xfrm>
          <a:prstGeom prst="rect">
            <a:avLst/>
          </a:prstGeom>
          <a:noFill/>
          <a:extLst>
            <a:ext uri="{909E8E84-426E-40DD-AFC4-6F175D3DCCD1}">
              <a14:hiddenFill xmlns:a14="http://schemas.microsoft.com/office/drawing/2010/main">
                <a:solidFill>
                  <a:srgbClr val="FFFFFF"/>
                </a:solidFill>
              </a14:hiddenFill>
            </a:ext>
          </a:extLst>
        </p:spPr>
      </p:pic>
      <p:sp>
        <p:nvSpPr>
          <p:cNvPr id="2" name="Text 0"/>
          <p:cNvSpPr/>
          <p:nvPr/>
        </p:nvSpPr>
        <p:spPr>
          <a:xfrm>
            <a:off x="822960" y="566928"/>
            <a:ext cx="5486400" cy="320040"/>
          </a:xfrm>
          <a:prstGeom prst="rect">
            <a:avLst/>
          </a:prstGeom>
          <a:noFill/>
          <a:ln/>
        </p:spPr>
        <p:txBody>
          <a:bodyPr wrap="square" lIns="0" tIns="0" rIns="0" bIns="0" rtlCol="0" anchor="ctr"/>
          <a:lstStyle/>
          <a:p>
            <a:pPr marL="0" indent="0" algn="l">
              <a:buNone/>
            </a:pPr>
            <a:r>
              <a:rPr lang="en-US" sz="1200" b="1" kern="0" spc="200" dirty="0">
                <a:solidFill>
                  <a:srgbClr val="007AFF"/>
                </a:solidFill>
                <a:latin typeface="Arial" pitchFamily="34" charset="0"/>
                <a:ea typeface="Arial" pitchFamily="34" charset="-122"/>
                <a:cs typeface="Arial" pitchFamily="34" charset="-120"/>
              </a:rPr>
              <a:t>FOUNDATIONS</a:t>
            </a:r>
            <a:endParaRPr lang="en-US" sz="1200" dirty="0"/>
          </a:p>
        </p:txBody>
      </p:sp>
      <p:sp>
        <p:nvSpPr>
          <p:cNvPr id="3" name="Text 1"/>
          <p:cNvSpPr/>
          <p:nvPr/>
        </p:nvSpPr>
        <p:spPr>
          <a:xfrm>
            <a:off x="777240" y="841248"/>
            <a:ext cx="7315200" cy="822960"/>
          </a:xfrm>
          <a:prstGeom prst="rect">
            <a:avLst/>
          </a:prstGeom>
          <a:noFill/>
          <a:ln/>
        </p:spPr>
        <p:txBody>
          <a:bodyPr wrap="square" lIns="0" tIns="0" rIns="0" bIns="0" rtlCol="0" anchor="ctr"/>
          <a:lstStyle/>
          <a:p>
            <a:pPr marL="0" indent="0" algn="l">
              <a:lnSpc>
                <a:spcPct val="102000"/>
              </a:lnSpc>
              <a:buNone/>
            </a:pPr>
            <a:r>
              <a:rPr lang="en-US" sz="3400" b="1" dirty="0">
                <a:solidFill>
                  <a:srgbClr val="1D1D1F"/>
                </a:solidFill>
                <a:latin typeface="Arial" pitchFamily="34" charset="0"/>
                <a:ea typeface="Arial" pitchFamily="34" charset="-122"/>
                <a:cs typeface="Arial" pitchFamily="34" charset="-120"/>
              </a:rPr>
              <a:t>Why Physics Matters in CSE</a:t>
            </a:r>
            <a:endParaRPr lang="en-US" sz="3400" dirty="0"/>
          </a:p>
        </p:txBody>
      </p:sp>
      <p:sp>
        <p:nvSpPr>
          <p:cNvPr id="4" name="Text 2"/>
          <p:cNvSpPr/>
          <p:nvPr/>
        </p:nvSpPr>
        <p:spPr>
          <a:xfrm>
            <a:off x="822960" y="1536192"/>
            <a:ext cx="6309360" cy="502920"/>
          </a:xfrm>
          <a:prstGeom prst="rect">
            <a:avLst/>
          </a:prstGeom>
          <a:noFill/>
          <a:ln/>
        </p:spPr>
        <p:txBody>
          <a:bodyPr wrap="square" lIns="0" tIns="0" rIns="0" bIns="0" rtlCol="0" anchor="ctr"/>
          <a:lstStyle/>
          <a:p>
            <a:pPr marL="0" indent="0">
              <a:buNone/>
            </a:pPr>
            <a:r>
              <a:rPr lang="en-US" sz="1350" dirty="0">
                <a:solidFill>
                  <a:srgbClr val="6E6E73"/>
                </a:solidFill>
                <a:latin typeface="Arial" pitchFamily="34" charset="0"/>
                <a:ea typeface="Arial" pitchFamily="34" charset="-122"/>
                <a:cs typeface="Arial" pitchFamily="34" charset="-120"/>
              </a:rPr>
              <a:t>Every computation task happens inside a physical device that follows </a:t>
            </a:r>
          </a:p>
          <a:p>
            <a:pPr marL="0" indent="0">
              <a:buNone/>
            </a:pPr>
            <a:r>
              <a:rPr lang="en-US" sz="1350" dirty="0">
                <a:solidFill>
                  <a:srgbClr val="6E6E73"/>
                </a:solidFill>
                <a:latin typeface="Arial" pitchFamily="34" charset="0"/>
                <a:ea typeface="Arial" pitchFamily="34" charset="-122"/>
                <a:cs typeface="Arial" pitchFamily="34" charset="-120"/>
              </a:rPr>
              <a:t>the law of  Physics.</a:t>
            </a:r>
          </a:p>
        </p:txBody>
      </p:sp>
      <p:sp>
        <p:nvSpPr>
          <p:cNvPr id="5" name="Shape 3"/>
          <p:cNvSpPr/>
          <p:nvPr/>
        </p:nvSpPr>
        <p:spPr>
          <a:xfrm>
            <a:off x="822960" y="2331720"/>
            <a:ext cx="6446520" cy="1170432"/>
          </a:xfrm>
          <a:prstGeom prst="roundRect">
            <a:avLst>
              <a:gd name="adj" fmla="val 12500"/>
            </a:avLst>
          </a:prstGeom>
          <a:solidFill>
            <a:srgbClr val="FFFFFF"/>
          </a:solidFill>
          <a:ln/>
          <a:effectLst>
            <a:outerShdw blurRad="127000" dist="38100" dir="5400000" algn="bl" rotWithShape="0">
              <a:srgbClr val="8E8E93">
                <a:alpha val="22000"/>
              </a:srgbClr>
            </a:outerShdw>
          </a:effectLst>
        </p:spPr>
      </p:sp>
      <p:sp>
        <p:nvSpPr>
          <p:cNvPr id="6" name="Shape 4"/>
          <p:cNvSpPr/>
          <p:nvPr/>
        </p:nvSpPr>
        <p:spPr>
          <a:xfrm>
            <a:off x="1051560" y="2551176"/>
            <a:ext cx="731520" cy="731520"/>
          </a:xfrm>
          <a:prstGeom prst="ellipse">
            <a:avLst/>
          </a:prstGeom>
          <a:solidFill>
            <a:srgbClr val="E8F1FF"/>
          </a:solidFill>
          <a:ln/>
        </p:spPr>
      </p:sp>
      <p:sp>
        <p:nvSpPr>
          <p:cNvPr id="8" name="Text 5"/>
          <p:cNvSpPr/>
          <p:nvPr/>
        </p:nvSpPr>
        <p:spPr>
          <a:xfrm>
            <a:off x="1965960" y="2478024"/>
            <a:ext cx="512064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Computers Are Physical Systems</a:t>
            </a:r>
            <a:endParaRPr lang="en-US" sz="1550" dirty="0"/>
          </a:p>
        </p:txBody>
      </p:sp>
      <p:sp>
        <p:nvSpPr>
          <p:cNvPr id="9" name="Text 6"/>
          <p:cNvSpPr/>
          <p:nvPr/>
        </p:nvSpPr>
        <p:spPr>
          <a:xfrm>
            <a:off x="1965960" y="2843784"/>
            <a:ext cx="5120640" cy="548640"/>
          </a:xfrm>
          <a:prstGeom prst="rect">
            <a:avLst/>
          </a:prstGeom>
          <a:noFill/>
          <a:ln/>
        </p:spPr>
        <p:txBody>
          <a:bodyPr wrap="square" lIns="0" tIns="0" rIns="0" bIns="0" rtlCol="0" anchor="ctr"/>
          <a:lstStyle/>
          <a:p>
            <a:pPr marL="0" indent="0">
              <a:lnSpc>
                <a:spcPct val="110000"/>
              </a:lnSpc>
              <a:buNone/>
            </a:pPr>
            <a:r>
              <a:rPr lang="en-US" sz="1150" dirty="0">
                <a:solidFill>
                  <a:srgbClr val="6E6E73"/>
                </a:solidFill>
                <a:latin typeface="Arial" pitchFamily="34" charset="0"/>
                <a:ea typeface="Arial" pitchFamily="34" charset="-122"/>
                <a:cs typeface="Arial" pitchFamily="34" charset="-120"/>
              </a:rPr>
              <a:t>Every processor, memory cell, and wire is a physical object obeying the laws of nature.</a:t>
            </a:r>
            <a:endParaRPr lang="en-US" sz="1150" dirty="0"/>
          </a:p>
        </p:txBody>
      </p:sp>
      <p:sp>
        <p:nvSpPr>
          <p:cNvPr id="10" name="Shape 7"/>
          <p:cNvSpPr/>
          <p:nvPr/>
        </p:nvSpPr>
        <p:spPr>
          <a:xfrm>
            <a:off x="822960" y="3685032"/>
            <a:ext cx="6446520" cy="1170432"/>
          </a:xfrm>
          <a:prstGeom prst="roundRect">
            <a:avLst>
              <a:gd name="adj" fmla="val 12500"/>
            </a:avLst>
          </a:prstGeom>
          <a:solidFill>
            <a:srgbClr val="FFFFFF"/>
          </a:solidFill>
          <a:ln/>
          <a:effectLst>
            <a:outerShdw blurRad="127000" dist="38100" dir="5400000" algn="bl" rotWithShape="0">
              <a:srgbClr val="8E8E93">
                <a:alpha val="22000"/>
              </a:srgbClr>
            </a:outerShdw>
          </a:effectLst>
        </p:spPr>
      </p:sp>
      <p:sp>
        <p:nvSpPr>
          <p:cNvPr id="11" name="Shape 8"/>
          <p:cNvSpPr/>
          <p:nvPr/>
        </p:nvSpPr>
        <p:spPr>
          <a:xfrm>
            <a:off x="1051560" y="3904488"/>
            <a:ext cx="731520" cy="731520"/>
          </a:xfrm>
          <a:prstGeom prst="ellipse">
            <a:avLst/>
          </a:prstGeom>
          <a:solidFill>
            <a:srgbClr val="E8F1FF"/>
          </a:solidFill>
          <a:ln/>
        </p:spPr>
      </p:sp>
      <p:sp>
        <p:nvSpPr>
          <p:cNvPr id="13" name="Text 9"/>
          <p:cNvSpPr/>
          <p:nvPr/>
        </p:nvSpPr>
        <p:spPr>
          <a:xfrm>
            <a:off x="1965960" y="3831336"/>
            <a:ext cx="512064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Electricity &amp; Signals Power Devices</a:t>
            </a:r>
            <a:endParaRPr lang="en-US" sz="1550" dirty="0"/>
          </a:p>
        </p:txBody>
      </p:sp>
      <p:sp>
        <p:nvSpPr>
          <p:cNvPr id="14" name="Text 10"/>
          <p:cNvSpPr/>
          <p:nvPr/>
        </p:nvSpPr>
        <p:spPr>
          <a:xfrm>
            <a:off x="1965960" y="4197096"/>
            <a:ext cx="5120640" cy="548640"/>
          </a:xfrm>
          <a:prstGeom prst="rect">
            <a:avLst/>
          </a:prstGeom>
          <a:noFill/>
          <a:ln/>
        </p:spPr>
        <p:txBody>
          <a:bodyPr wrap="square" lIns="0" tIns="0" rIns="0" bIns="0" rtlCol="0" anchor="ctr"/>
          <a:lstStyle/>
          <a:p>
            <a:pPr marL="0" indent="0">
              <a:lnSpc>
                <a:spcPct val="110000"/>
              </a:lnSpc>
              <a:buNone/>
            </a:pPr>
            <a:r>
              <a:rPr lang="en-US" sz="1150" dirty="0">
                <a:solidFill>
                  <a:srgbClr val="6E6E73"/>
                </a:solidFill>
                <a:latin typeface="Arial" pitchFamily="34" charset="0"/>
                <a:ea typeface="Arial" pitchFamily="34" charset="-122"/>
                <a:cs typeface="Arial" pitchFamily="34" charset="-120"/>
              </a:rPr>
              <a:t>Digital technology runs on the controlled flow of electrons and voltage signals.</a:t>
            </a:r>
            <a:endParaRPr lang="en-US" sz="1150" dirty="0"/>
          </a:p>
        </p:txBody>
      </p:sp>
      <p:sp>
        <p:nvSpPr>
          <p:cNvPr id="15" name="Shape 11"/>
          <p:cNvSpPr/>
          <p:nvPr/>
        </p:nvSpPr>
        <p:spPr>
          <a:xfrm>
            <a:off x="822960" y="5038344"/>
            <a:ext cx="6446520" cy="1170432"/>
          </a:xfrm>
          <a:prstGeom prst="roundRect">
            <a:avLst>
              <a:gd name="adj" fmla="val 12500"/>
            </a:avLst>
          </a:prstGeom>
          <a:solidFill>
            <a:srgbClr val="FFFFFF"/>
          </a:solidFill>
          <a:ln/>
          <a:effectLst>
            <a:outerShdw blurRad="127000" dist="38100" dir="5400000" algn="bl" rotWithShape="0">
              <a:srgbClr val="8E8E93">
                <a:alpha val="22000"/>
              </a:srgbClr>
            </a:outerShdw>
          </a:effectLst>
        </p:spPr>
      </p:sp>
      <p:sp>
        <p:nvSpPr>
          <p:cNvPr id="16" name="Shape 12"/>
          <p:cNvSpPr/>
          <p:nvPr/>
        </p:nvSpPr>
        <p:spPr>
          <a:xfrm>
            <a:off x="1051560" y="5257800"/>
            <a:ext cx="731520" cy="731520"/>
          </a:xfrm>
          <a:prstGeom prst="ellipse">
            <a:avLst/>
          </a:prstGeom>
          <a:solidFill>
            <a:srgbClr val="E8F1FF"/>
          </a:solidFill>
          <a:ln/>
        </p:spPr>
      </p:sp>
      <p:sp>
        <p:nvSpPr>
          <p:cNvPr id="18" name="Text 13"/>
          <p:cNvSpPr/>
          <p:nvPr/>
        </p:nvSpPr>
        <p:spPr>
          <a:xfrm>
            <a:off x="1965960" y="5184648"/>
            <a:ext cx="512064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Physics Underpins Hardware &amp; Communication</a:t>
            </a:r>
            <a:endParaRPr lang="en-US" sz="1550" dirty="0"/>
          </a:p>
        </p:txBody>
      </p:sp>
      <p:sp>
        <p:nvSpPr>
          <p:cNvPr id="19" name="Text 14"/>
          <p:cNvSpPr/>
          <p:nvPr/>
        </p:nvSpPr>
        <p:spPr>
          <a:xfrm>
            <a:off x="1965960" y="5550408"/>
            <a:ext cx="5120640" cy="548640"/>
          </a:xfrm>
          <a:prstGeom prst="rect">
            <a:avLst/>
          </a:prstGeom>
          <a:noFill/>
          <a:ln/>
        </p:spPr>
        <p:txBody>
          <a:bodyPr wrap="square" lIns="0" tIns="0" rIns="0" bIns="0" rtlCol="0" anchor="ctr"/>
          <a:lstStyle/>
          <a:p>
            <a:pPr marL="0" indent="0">
              <a:lnSpc>
                <a:spcPct val="110000"/>
              </a:lnSpc>
              <a:buNone/>
            </a:pPr>
            <a:r>
              <a:rPr lang="en-US" sz="1150" dirty="0">
                <a:solidFill>
                  <a:srgbClr val="6E6E73"/>
                </a:solidFill>
                <a:latin typeface="Arial" pitchFamily="34" charset="0"/>
                <a:ea typeface="Arial" pitchFamily="34" charset="-122"/>
                <a:cs typeface="Arial" pitchFamily="34" charset="-120"/>
              </a:rPr>
              <a:t>From transistors to transmission lines, physics is the foundation everything is built on.</a:t>
            </a:r>
            <a:endParaRPr lang="en-US" sz="1150" dirty="0"/>
          </a:p>
        </p:txBody>
      </p:sp>
      <p:sp>
        <p:nvSpPr>
          <p:cNvPr id="20" name="Shape 15"/>
          <p:cNvSpPr/>
          <p:nvPr/>
        </p:nvSpPr>
        <p:spPr>
          <a:xfrm>
            <a:off x="7541514" y="2331720"/>
            <a:ext cx="2831518" cy="3977640"/>
          </a:xfrm>
          <a:prstGeom prst="roundRect">
            <a:avLst>
              <a:gd name="adj" fmla="val 8295"/>
            </a:avLst>
          </a:prstGeom>
          <a:solidFill>
            <a:srgbClr val="F5F5F7"/>
          </a:solidFill>
          <a:ln/>
          <a:effectLst>
            <a:outerShdw blurRad="203200" sx="102000" sy="102000" algn="ctr" rotWithShape="0">
              <a:prstClr val="black">
                <a:alpha val="19000"/>
              </a:prstClr>
            </a:outerShdw>
          </a:effectLst>
        </p:spPr>
      </p:sp>
      <p:sp>
        <p:nvSpPr>
          <p:cNvPr id="21" name="Text 16"/>
          <p:cNvSpPr/>
          <p:nvPr/>
        </p:nvSpPr>
        <p:spPr>
          <a:xfrm>
            <a:off x="7680960" y="2009198"/>
            <a:ext cx="3291840" cy="274320"/>
          </a:xfrm>
          <a:prstGeom prst="rect">
            <a:avLst/>
          </a:prstGeom>
          <a:noFill/>
          <a:ln/>
        </p:spPr>
        <p:txBody>
          <a:bodyPr wrap="square" lIns="0" tIns="0" rIns="0" bIns="0" rtlCol="0" anchor="ctr"/>
          <a:lstStyle/>
          <a:p>
            <a:pPr marL="0" indent="0">
              <a:buNone/>
            </a:pPr>
            <a:r>
              <a:rPr lang="en-US" sz="1050" b="1" kern="0" spc="150" dirty="0">
                <a:solidFill>
                  <a:srgbClr val="007AFF"/>
                </a:solidFill>
                <a:latin typeface="Arial" pitchFamily="34" charset="0"/>
                <a:ea typeface="Arial" pitchFamily="34" charset="-122"/>
                <a:cs typeface="Arial" pitchFamily="34" charset="-120"/>
              </a:rPr>
              <a:t>FROM LAW TO LOGIC</a:t>
            </a:r>
            <a:endParaRPr lang="en-US" sz="1050" dirty="0"/>
          </a:p>
        </p:txBody>
      </p:sp>
      <p:sp>
        <p:nvSpPr>
          <p:cNvPr id="22" name="Shape 17"/>
          <p:cNvSpPr/>
          <p:nvPr/>
        </p:nvSpPr>
        <p:spPr>
          <a:xfrm>
            <a:off x="8398961" y="2496670"/>
            <a:ext cx="685800" cy="685800"/>
          </a:xfrm>
          <a:prstGeom prst="ellipse">
            <a:avLst/>
          </a:prstGeom>
          <a:solidFill>
            <a:srgbClr val="FFFFFF"/>
          </a:solidFill>
          <a:ln/>
        </p:spPr>
      </p:sp>
      <p:sp>
        <p:nvSpPr>
          <p:cNvPr id="24" name="Text 18"/>
          <p:cNvSpPr/>
          <p:nvPr/>
        </p:nvSpPr>
        <p:spPr>
          <a:xfrm>
            <a:off x="8750328" y="3292823"/>
            <a:ext cx="1249680" cy="274320"/>
          </a:xfrm>
          <a:prstGeom prst="rect">
            <a:avLst/>
          </a:prstGeom>
          <a:noFill/>
          <a:ln/>
        </p:spPr>
        <p:txBody>
          <a:bodyPr wrap="square" lIns="0" tIns="0" rIns="0" bIns="0" rtlCol="0" anchor="ctr"/>
          <a:lstStyle/>
          <a:p>
            <a:pPr marL="0" indent="0" algn="ctr">
              <a:buNone/>
            </a:pPr>
            <a:r>
              <a:rPr lang="en-US" sz="1150" b="1" dirty="0">
                <a:solidFill>
                  <a:srgbClr val="1D1D1F"/>
                </a:solidFill>
                <a:latin typeface="Arial" pitchFamily="34" charset="0"/>
                <a:ea typeface="Arial" pitchFamily="34" charset="-122"/>
                <a:cs typeface="Arial" pitchFamily="34" charset="-120"/>
              </a:rPr>
              <a:t>Physical Law</a:t>
            </a:r>
            <a:endParaRPr lang="en-US" sz="1150" dirty="0"/>
          </a:p>
        </p:txBody>
      </p:sp>
      <p:sp>
        <p:nvSpPr>
          <p:cNvPr id="25" name="Shape 19"/>
          <p:cNvSpPr/>
          <p:nvPr/>
        </p:nvSpPr>
        <p:spPr>
          <a:xfrm>
            <a:off x="8750328" y="3199532"/>
            <a:ext cx="0" cy="869548"/>
          </a:xfrm>
          <a:prstGeom prst="line">
            <a:avLst/>
          </a:prstGeom>
          <a:noFill/>
          <a:ln w="25400">
            <a:solidFill>
              <a:srgbClr val="007AFF"/>
            </a:solidFill>
            <a:prstDash val="dash"/>
          </a:ln>
        </p:spPr>
      </p:sp>
      <p:sp>
        <p:nvSpPr>
          <p:cNvPr id="26" name="Shape 20"/>
          <p:cNvSpPr/>
          <p:nvPr/>
        </p:nvSpPr>
        <p:spPr>
          <a:xfrm>
            <a:off x="8398961" y="3719303"/>
            <a:ext cx="685800" cy="685800"/>
          </a:xfrm>
          <a:prstGeom prst="ellipse">
            <a:avLst/>
          </a:prstGeom>
          <a:solidFill>
            <a:srgbClr val="FFFFFF"/>
          </a:solidFill>
          <a:ln/>
        </p:spPr>
      </p:sp>
      <p:pic>
        <p:nvPicPr>
          <p:cNvPr id="27" name="Image 4" descr="/home/claude/deck/icons/zap_blue.png"/>
          <p:cNvPicPr>
            <a:picLocks noChangeAspect="1"/>
          </p:cNvPicPr>
          <p:nvPr/>
        </p:nvPicPr>
        <p:blipFill>
          <a:blip r:embed="rId4"/>
          <a:stretch>
            <a:fillRect/>
          </a:stretch>
        </p:blipFill>
        <p:spPr>
          <a:xfrm>
            <a:off x="8584127" y="3918268"/>
            <a:ext cx="315468" cy="315468"/>
          </a:xfrm>
          <a:prstGeom prst="rect">
            <a:avLst/>
          </a:prstGeom>
        </p:spPr>
      </p:pic>
      <p:sp>
        <p:nvSpPr>
          <p:cNvPr id="28" name="Text 21"/>
          <p:cNvSpPr/>
          <p:nvPr/>
        </p:nvSpPr>
        <p:spPr>
          <a:xfrm>
            <a:off x="8688302" y="4615499"/>
            <a:ext cx="1376652" cy="258315"/>
          </a:xfrm>
          <a:prstGeom prst="rect">
            <a:avLst/>
          </a:prstGeom>
          <a:noFill/>
          <a:ln/>
        </p:spPr>
        <p:txBody>
          <a:bodyPr wrap="square" lIns="0" tIns="0" rIns="0" bIns="0" rtlCol="0" anchor="ctr"/>
          <a:lstStyle/>
          <a:p>
            <a:pPr marL="0" indent="0" algn="ctr">
              <a:buNone/>
            </a:pPr>
            <a:r>
              <a:rPr lang="en-US" sz="1150" b="1" dirty="0">
                <a:solidFill>
                  <a:srgbClr val="1D1D1F"/>
                </a:solidFill>
                <a:latin typeface="Arial" pitchFamily="34" charset="0"/>
                <a:ea typeface="Arial" pitchFamily="34" charset="-122"/>
                <a:cs typeface="Arial" pitchFamily="34" charset="-120"/>
              </a:rPr>
              <a:t>Electric Signal</a:t>
            </a:r>
            <a:endParaRPr lang="en-US" sz="1150" dirty="0"/>
          </a:p>
        </p:txBody>
      </p:sp>
      <p:sp>
        <p:nvSpPr>
          <p:cNvPr id="29" name="Shape 22"/>
          <p:cNvSpPr/>
          <p:nvPr/>
        </p:nvSpPr>
        <p:spPr>
          <a:xfrm>
            <a:off x="8750328" y="4368674"/>
            <a:ext cx="0" cy="751966"/>
          </a:xfrm>
          <a:prstGeom prst="line">
            <a:avLst/>
          </a:prstGeom>
          <a:noFill/>
          <a:ln w="25400">
            <a:solidFill>
              <a:srgbClr val="007AFF"/>
            </a:solidFill>
            <a:prstDash val="dash"/>
          </a:ln>
        </p:spPr>
      </p:sp>
      <p:sp>
        <p:nvSpPr>
          <p:cNvPr id="32" name="Text 24"/>
          <p:cNvSpPr/>
          <p:nvPr/>
        </p:nvSpPr>
        <p:spPr>
          <a:xfrm>
            <a:off x="7234261" y="5736954"/>
            <a:ext cx="3108960" cy="274320"/>
          </a:xfrm>
          <a:prstGeom prst="rect">
            <a:avLst/>
          </a:prstGeom>
          <a:noFill/>
          <a:ln/>
        </p:spPr>
        <p:txBody>
          <a:bodyPr wrap="square" lIns="0" tIns="0" rIns="0" bIns="0" rtlCol="0" anchor="ctr"/>
          <a:lstStyle/>
          <a:p>
            <a:pPr marL="0" indent="0" algn="ctr">
              <a:buNone/>
            </a:pPr>
            <a:r>
              <a:rPr lang="en-US" sz="1150" b="1" dirty="0">
                <a:solidFill>
                  <a:srgbClr val="1D1D1F"/>
                </a:solidFill>
                <a:latin typeface="Arial" pitchFamily="34" charset="0"/>
                <a:ea typeface="Arial" pitchFamily="34" charset="-122"/>
                <a:cs typeface="Arial" pitchFamily="34" charset="-120"/>
              </a:rPr>
              <a:t>Digital Logic</a:t>
            </a:r>
            <a:endParaRPr lang="en-US" sz="1150" dirty="0"/>
          </a:p>
        </p:txBody>
      </p:sp>
      <p:sp>
        <p:nvSpPr>
          <p:cNvPr id="33" name="Text 25"/>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b="1" dirty="0">
                <a:solidFill>
                  <a:srgbClr val="AEAEB2"/>
                </a:solidFill>
                <a:latin typeface="Arial" pitchFamily="34" charset="0"/>
                <a:ea typeface="Arial" pitchFamily="34" charset="-122"/>
                <a:cs typeface="Arial" pitchFamily="34" charset="-120"/>
              </a:rPr>
              <a:t>02</a:t>
            </a:r>
            <a:endParaRPr lang="en-US" sz="1000" dirty="0"/>
          </a:p>
        </p:txBody>
      </p:sp>
      <p:sp>
        <p:nvSpPr>
          <p:cNvPr id="34" name="Text 26"/>
          <p:cNvSpPr/>
          <p:nvPr/>
        </p:nvSpPr>
        <p:spPr>
          <a:xfrm>
            <a:off x="548640" y="6473952"/>
            <a:ext cx="2743200" cy="274320"/>
          </a:xfrm>
          <a:prstGeom prst="rect">
            <a:avLst/>
          </a:prstGeom>
          <a:noFill/>
          <a:ln/>
        </p:spPr>
        <p:txBody>
          <a:bodyPr wrap="square" lIns="0" tIns="0" rIns="0" bIns="0" rtlCol="0" anchor="ctr"/>
          <a:lstStyle/>
          <a:p>
            <a:pPr marL="0" indent="0" algn="l">
              <a:buNone/>
            </a:pPr>
            <a:r>
              <a:rPr lang="en-US" sz="900" b="1" kern="0" spc="150" dirty="0">
                <a:solidFill>
                  <a:srgbClr val="AEAEB2"/>
                </a:solidFill>
                <a:latin typeface="Arial" pitchFamily="34" charset="0"/>
                <a:ea typeface="Arial" pitchFamily="34" charset="-122"/>
                <a:cs typeface="Arial" pitchFamily="34" charset="-120"/>
              </a:rPr>
              <a:t>PHYSICS IN CSE</a:t>
            </a:r>
            <a:endParaRPr lang="en-US" sz="900" dirty="0"/>
          </a:p>
        </p:txBody>
      </p:sp>
      <p:pic>
        <p:nvPicPr>
          <p:cNvPr id="1028" name="Picture 4" descr="Quantum computing icon with complex particles digital art ...">
            <a:extLst>
              <a:ext uri="{FF2B5EF4-FFF2-40B4-BE49-F238E27FC236}">
                <a16:creationId xmlns:a16="http://schemas.microsoft.com/office/drawing/2014/main" id="{2A716EE9-CDA0-42CC-8706-8D43360239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1557" y="2537291"/>
            <a:ext cx="731521" cy="73152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345E208-4A94-4C3A-9735-87250A374F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1557" y="5321808"/>
            <a:ext cx="737251" cy="6303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8FF24DBF-9B6B-4692-A430-7B43D1D8C3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1360" y="3995928"/>
            <a:ext cx="52878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AFB56326-EF27-4C73-AD39-550A173C8D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53256" y="2543469"/>
            <a:ext cx="585962" cy="58596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a:extLst>
              <a:ext uri="{FF2B5EF4-FFF2-40B4-BE49-F238E27FC236}">
                <a16:creationId xmlns:a16="http://schemas.microsoft.com/office/drawing/2014/main" id="{4186CE3C-CCD2-478B-B3B0-2ECAC7B4F135}"/>
              </a:ext>
            </a:extLst>
          </p:cNvPr>
          <p:cNvPicPr>
            <a:picLocks noChangeAspect="1"/>
          </p:cNvPicPr>
          <p:nvPr/>
        </p:nvPicPr>
        <p:blipFill>
          <a:blip r:embed="rId9"/>
          <a:stretch>
            <a:fillRect/>
          </a:stretch>
        </p:blipFill>
        <p:spPr>
          <a:xfrm>
            <a:off x="8415205" y="5064868"/>
            <a:ext cx="757301" cy="676658"/>
          </a:xfrm>
          <a:prstGeom prst="ellipse">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lgn="l">
              <a:buNone/>
            </a:pPr>
            <a:r>
              <a:rPr lang="en-US" sz="1200" b="1" kern="0" spc="200" dirty="0">
                <a:solidFill>
                  <a:srgbClr val="007AFF"/>
                </a:solidFill>
                <a:latin typeface="Arial" pitchFamily="34" charset="0"/>
                <a:ea typeface="Arial" pitchFamily="34" charset="-122"/>
                <a:cs typeface="Arial" pitchFamily="34" charset="-120"/>
              </a:rPr>
              <a:t>HARDWARE</a:t>
            </a:r>
            <a:endParaRPr lang="en-US" sz="1200" dirty="0"/>
          </a:p>
        </p:txBody>
      </p:sp>
      <p:sp>
        <p:nvSpPr>
          <p:cNvPr id="3" name="Text 1"/>
          <p:cNvSpPr/>
          <p:nvPr/>
        </p:nvSpPr>
        <p:spPr>
          <a:xfrm>
            <a:off x="777240" y="841248"/>
            <a:ext cx="7772400" cy="822960"/>
          </a:xfrm>
          <a:prstGeom prst="rect">
            <a:avLst/>
          </a:prstGeom>
          <a:noFill/>
          <a:ln/>
        </p:spPr>
        <p:txBody>
          <a:bodyPr wrap="square" lIns="0" tIns="0" rIns="0" bIns="0" rtlCol="0" anchor="ctr"/>
          <a:lstStyle/>
          <a:p>
            <a:pPr marL="0" indent="0" algn="l">
              <a:lnSpc>
                <a:spcPct val="102000"/>
              </a:lnSpc>
              <a:buNone/>
            </a:pPr>
            <a:r>
              <a:rPr lang="en-US" sz="3400" b="1" dirty="0">
                <a:solidFill>
                  <a:srgbClr val="1D1D1F"/>
                </a:solidFill>
                <a:latin typeface="Arial" pitchFamily="34" charset="0"/>
                <a:ea typeface="Arial" pitchFamily="34" charset="-122"/>
                <a:cs typeface="Arial" pitchFamily="34" charset="-120"/>
              </a:rPr>
              <a:t>Physics in Computer Hardware</a:t>
            </a:r>
            <a:endParaRPr lang="en-US" sz="3400" dirty="0"/>
          </a:p>
        </p:txBody>
      </p:sp>
      <p:sp>
        <p:nvSpPr>
          <p:cNvPr id="4" name="Shape 2"/>
          <p:cNvSpPr/>
          <p:nvPr/>
        </p:nvSpPr>
        <p:spPr>
          <a:xfrm>
            <a:off x="822960" y="1691640"/>
            <a:ext cx="4160520" cy="4572000"/>
          </a:xfrm>
          <a:prstGeom prst="roundRect">
            <a:avLst>
              <a:gd name="adj" fmla="val 3516"/>
            </a:avLst>
          </a:prstGeom>
          <a:solidFill>
            <a:srgbClr val="FFFFFF"/>
          </a:solidFill>
          <a:ln/>
          <a:effectLst>
            <a:outerShdw blurRad="127000" dist="38100" dir="5400000" algn="bl" rotWithShape="0">
              <a:srgbClr val="8E8E93">
                <a:alpha val="22000"/>
              </a:srgbClr>
            </a:outerShdw>
          </a:effectLst>
        </p:spPr>
        <p:txBody>
          <a:bodyPr/>
          <a:lstStyle/>
          <a:p>
            <a:endParaRPr lang="en-US" dirty="0"/>
          </a:p>
        </p:txBody>
      </p:sp>
      <p:sp>
        <p:nvSpPr>
          <p:cNvPr id="5" name="Text 3"/>
          <p:cNvSpPr/>
          <p:nvPr/>
        </p:nvSpPr>
        <p:spPr>
          <a:xfrm>
            <a:off x="1097280" y="1901952"/>
            <a:ext cx="3657600" cy="274320"/>
          </a:xfrm>
          <a:prstGeom prst="rect">
            <a:avLst/>
          </a:prstGeom>
          <a:noFill/>
          <a:ln/>
        </p:spPr>
        <p:txBody>
          <a:bodyPr wrap="square" lIns="0" tIns="0" rIns="0" bIns="0" rtlCol="0" anchor="ctr"/>
          <a:lstStyle/>
          <a:p>
            <a:pPr marL="0" indent="0">
              <a:buNone/>
            </a:pPr>
            <a:r>
              <a:rPr lang="en-US" sz="1050" b="1" kern="0" spc="150" dirty="0">
                <a:solidFill>
                  <a:srgbClr val="007AFF"/>
                </a:solidFill>
                <a:latin typeface="Arial" pitchFamily="34" charset="0"/>
                <a:ea typeface="Arial" pitchFamily="34" charset="-122"/>
                <a:cs typeface="Arial" pitchFamily="34" charset="-120"/>
              </a:rPr>
              <a:t>INSIDE THE PROCESSOR</a:t>
            </a:r>
            <a:endParaRPr lang="en-US" sz="1050" dirty="0"/>
          </a:p>
        </p:txBody>
      </p:sp>
      <p:sp>
        <p:nvSpPr>
          <p:cNvPr id="25" name="Text 23"/>
          <p:cNvSpPr/>
          <p:nvPr/>
        </p:nvSpPr>
        <p:spPr>
          <a:xfrm>
            <a:off x="1691640" y="4882896"/>
            <a:ext cx="2148840" cy="274320"/>
          </a:xfrm>
          <a:prstGeom prst="rect">
            <a:avLst/>
          </a:prstGeom>
          <a:noFill/>
          <a:ln/>
        </p:spPr>
        <p:txBody>
          <a:bodyPr wrap="square" lIns="0" tIns="0" rIns="0" bIns="0" rtlCol="0" anchor="ctr"/>
          <a:lstStyle/>
          <a:p>
            <a:pPr marL="0" indent="0" algn="ctr">
              <a:buNone/>
            </a:pPr>
            <a:r>
              <a:rPr lang="en-US" sz="2000" b="1" dirty="0">
                <a:solidFill>
                  <a:srgbClr val="1D1D1F"/>
                </a:solidFill>
                <a:latin typeface="Arial" pitchFamily="34" charset="0"/>
                <a:ea typeface="Arial" pitchFamily="34" charset="-122"/>
                <a:cs typeface="Arial" pitchFamily="34" charset="-120"/>
              </a:rPr>
              <a:t>Silicon</a:t>
            </a:r>
            <a:r>
              <a:rPr lang="en-US" sz="1100" b="1" dirty="0">
                <a:solidFill>
                  <a:srgbClr val="1D1D1F"/>
                </a:solidFill>
                <a:latin typeface="Arial" pitchFamily="34" charset="0"/>
                <a:ea typeface="Arial" pitchFamily="34" charset="-122"/>
                <a:cs typeface="Arial" pitchFamily="34" charset="-120"/>
              </a:rPr>
              <a:t> Die</a:t>
            </a:r>
            <a:endParaRPr lang="en-US" sz="1100" dirty="0"/>
          </a:p>
        </p:txBody>
      </p:sp>
      <p:sp>
        <p:nvSpPr>
          <p:cNvPr id="26" name="Text 24"/>
          <p:cNvSpPr/>
          <p:nvPr/>
        </p:nvSpPr>
        <p:spPr>
          <a:xfrm>
            <a:off x="1097280" y="5257800"/>
            <a:ext cx="3611880" cy="822960"/>
          </a:xfrm>
          <a:prstGeom prst="rect">
            <a:avLst/>
          </a:prstGeom>
          <a:noFill/>
          <a:ln/>
        </p:spPr>
        <p:txBody>
          <a:bodyPr wrap="square" lIns="0" tIns="0" rIns="0" bIns="0" rtlCol="0" anchor="ctr"/>
          <a:lstStyle/>
          <a:p>
            <a:pPr marL="0" indent="0" algn="ctr">
              <a:lnSpc>
                <a:spcPct val="115000"/>
              </a:lnSpc>
              <a:buNone/>
            </a:pPr>
            <a:r>
              <a:rPr lang="en-US" sz="1100" dirty="0">
                <a:solidFill>
                  <a:srgbClr val="6E6E73"/>
                </a:solidFill>
                <a:latin typeface="Arial" pitchFamily="34" charset="0"/>
                <a:ea typeface="Arial" pitchFamily="34" charset="-122"/>
                <a:cs typeface="Arial" pitchFamily="34" charset="-120"/>
              </a:rPr>
              <a:t>Millions of transistors switch billions of times per second inside a space smaller than a fingernail.</a:t>
            </a:r>
            <a:endParaRPr lang="en-US" sz="1100" dirty="0"/>
          </a:p>
        </p:txBody>
      </p:sp>
      <p:sp>
        <p:nvSpPr>
          <p:cNvPr id="27" name="Shape 25"/>
          <p:cNvSpPr/>
          <p:nvPr/>
        </p:nvSpPr>
        <p:spPr>
          <a:xfrm>
            <a:off x="5257800" y="1783080"/>
            <a:ext cx="6080760" cy="1371600"/>
          </a:xfrm>
          <a:prstGeom prst="roundRect">
            <a:avLst>
              <a:gd name="adj" fmla="val 10667"/>
            </a:avLst>
          </a:prstGeom>
          <a:solidFill>
            <a:srgbClr val="FFFFFF"/>
          </a:solidFill>
          <a:ln/>
          <a:effectLst>
            <a:outerShdw blurRad="127000" dist="38100" dir="5400000" algn="bl" rotWithShape="0">
              <a:srgbClr val="8E8E93">
                <a:alpha val="22000"/>
              </a:srgbClr>
            </a:outerShdw>
          </a:effectLst>
        </p:spPr>
      </p:sp>
      <p:sp>
        <p:nvSpPr>
          <p:cNvPr id="28" name="Shape 26"/>
          <p:cNvSpPr/>
          <p:nvPr/>
        </p:nvSpPr>
        <p:spPr>
          <a:xfrm>
            <a:off x="5486400" y="2075688"/>
            <a:ext cx="777240" cy="777240"/>
          </a:xfrm>
          <a:prstGeom prst="ellipse">
            <a:avLst/>
          </a:prstGeom>
          <a:solidFill>
            <a:srgbClr val="E8F1FF"/>
          </a:solidFill>
          <a:ln/>
        </p:spPr>
      </p:sp>
      <p:pic>
        <p:nvPicPr>
          <p:cNvPr id="29" name="Image 0" descr="/home/claude/deck/icons/cpu_blue.png"/>
          <p:cNvPicPr>
            <a:picLocks noChangeAspect="1"/>
          </p:cNvPicPr>
          <p:nvPr/>
        </p:nvPicPr>
        <p:blipFill>
          <a:blip r:embed="rId3"/>
          <a:stretch>
            <a:fillRect/>
          </a:stretch>
        </p:blipFill>
        <p:spPr>
          <a:xfrm>
            <a:off x="5696255" y="2285543"/>
            <a:ext cx="357530" cy="357530"/>
          </a:xfrm>
          <a:prstGeom prst="rect">
            <a:avLst/>
          </a:prstGeom>
        </p:spPr>
      </p:pic>
      <p:sp>
        <p:nvSpPr>
          <p:cNvPr id="30" name="Text 27"/>
          <p:cNvSpPr/>
          <p:nvPr/>
        </p:nvSpPr>
        <p:spPr>
          <a:xfrm>
            <a:off x="6492240" y="2002536"/>
            <a:ext cx="470916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Semiconductor Physics Enables Transistors</a:t>
            </a:r>
            <a:endParaRPr lang="en-US" sz="1550" dirty="0"/>
          </a:p>
        </p:txBody>
      </p:sp>
      <p:sp>
        <p:nvSpPr>
          <p:cNvPr id="31" name="Text 28"/>
          <p:cNvSpPr/>
          <p:nvPr/>
        </p:nvSpPr>
        <p:spPr>
          <a:xfrm>
            <a:off x="6492240" y="2386584"/>
            <a:ext cx="4709160" cy="594360"/>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Quantum behavior of electrons in silicon lets transistors switch on and off reliably.</a:t>
            </a:r>
            <a:endParaRPr lang="en-US" sz="1150" dirty="0"/>
          </a:p>
        </p:txBody>
      </p:sp>
      <p:sp>
        <p:nvSpPr>
          <p:cNvPr id="32" name="Shape 29"/>
          <p:cNvSpPr/>
          <p:nvPr/>
        </p:nvSpPr>
        <p:spPr>
          <a:xfrm>
            <a:off x="5257800" y="3319272"/>
            <a:ext cx="6080760" cy="1371600"/>
          </a:xfrm>
          <a:prstGeom prst="roundRect">
            <a:avLst>
              <a:gd name="adj" fmla="val 10667"/>
            </a:avLst>
          </a:prstGeom>
          <a:solidFill>
            <a:srgbClr val="FFFFFF"/>
          </a:solidFill>
          <a:ln/>
          <a:effectLst>
            <a:outerShdw blurRad="127000" dist="38100" dir="5400000" algn="bl" rotWithShape="0">
              <a:srgbClr val="8E8E93">
                <a:alpha val="22000"/>
              </a:srgbClr>
            </a:outerShdw>
          </a:effectLst>
        </p:spPr>
      </p:sp>
      <p:sp>
        <p:nvSpPr>
          <p:cNvPr id="33" name="Shape 30"/>
          <p:cNvSpPr/>
          <p:nvPr/>
        </p:nvSpPr>
        <p:spPr>
          <a:xfrm>
            <a:off x="5486400" y="3611880"/>
            <a:ext cx="777240" cy="777240"/>
          </a:xfrm>
          <a:prstGeom prst="ellipse">
            <a:avLst/>
          </a:prstGeom>
          <a:solidFill>
            <a:srgbClr val="E8F1FF"/>
          </a:solidFill>
          <a:ln/>
        </p:spPr>
      </p:sp>
      <p:pic>
        <p:nvPicPr>
          <p:cNvPr id="34" name="Image 1" descr="/home/claude/deck/icons/layers_blue.png"/>
          <p:cNvPicPr>
            <a:picLocks noChangeAspect="1"/>
          </p:cNvPicPr>
          <p:nvPr/>
        </p:nvPicPr>
        <p:blipFill>
          <a:blip r:embed="rId4"/>
          <a:stretch>
            <a:fillRect/>
          </a:stretch>
        </p:blipFill>
        <p:spPr>
          <a:xfrm>
            <a:off x="5696255" y="3821735"/>
            <a:ext cx="357530" cy="357530"/>
          </a:xfrm>
          <a:prstGeom prst="rect">
            <a:avLst/>
          </a:prstGeom>
        </p:spPr>
      </p:pic>
      <p:sp>
        <p:nvSpPr>
          <p:cNvPr id="35" name="Text 31"/>
          <p:cNvSpPr/>
          <p:nvPr/>
        </p:nvSpPr>
        <p:spPr>
          <a:xfrm>
            <a:off x="6492240" y="3538728"/>
            <a:ext cx="470916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CPUs &amp; GPUs Depend on Circuits</a:t>
            </a:r>
            <a:endParaRPr lang="en-US" sz="1550" dirty="0"/>
          </a:p>
        </p:txBody>
      </p:sp>
      <p:sp>
        <p:nvSpPr>
          <p:cNvPr id="36" name="Text 32"/>
          <p:cNvSpPr/>
          <p:nvPr/>
        </p:nvSpPr>
        <p:spPr>
          <a:xfrm>
            <a:off x="6492240" y="3922776"/>
            <a:ext cx="4709160" cy="594360"/>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Processing power comes from electronic circuits built on electromagnetic principles.</a:t>
            </a:r>
            <a:endParaRPr lang="en-US" sz="1150" dirty="0"/>
          </a:p>
        </p:txBody>
      </p:sp>
      <p:sp>
        <p:nvSpPr>
          <p:cNvPr id="37" name="Shape 33"/>
          <p:cNvSpPr/>
          <p:nvPr/>
        </p:nvSpPr>
        <p:spPr>
          <a:xfrm>
            <a:off x="5257800" y="4855464"/>
            <a:ext cx="6080760" cy="1371600"/>
          </a:xfrm>
          <a:prstGeom prst="roundRect">
            <a:avLst>
              <a:gd name="adj" fmla="val 10667"/>
            </a:avLst>
          </a:prstGeom>
          <a:solidFill>
            <a:srgbClr val="FFFFFF"/>
          </a:solidFill>
          <a:ln/>
          <a:effectLst>
            <a:outerShdw blurRad="127000" dist="38100" dir="5400000" algn="bl" rotWithShape="0">
              <a:srgbClr val="8E8E93">
                <a:alpha val="22000"/>
              </a:srgbClr>
            </a:outerShdw>
          </a:effectLst>
        </p:spPr>
      </p:sp>
      <p:sp>
        <p:nvSpPr>
          <p:cNvPr id="38" name="Shape 34"/>
          <p:cNvSpPr/>
          <p:nvPr/>
        </p:nvSpPr>
        <p:spPr>
          <a:xfrm>
            <a:off x="5486400" y="5148072"/>
            <a:ext cx="777240" cy="777240"/>
          </a:xfrm>
          <a:prstGeom prst="ellipse">
            <a:avLst/>
          </a:prstGeom>
          <a:solidFill>
            <a:srgbClr val="E8F1FF"/>
          </a:solidFill>
          <a:ln/>
        </p:spPr>
      </p:sp>
      <p:pic>
        <p:nvPicPr>
          <p:cNvPr id="39" name="Image 2" descr="/home/claude/deck/icons/thermometer_blue.png"/>
          <p:cNvPicPr>
            <a:picLocks noChangeAspect="1"/>
          </p:cNvPicPr>
          <p:nvPr/>
        </p:nvPicPr>
        <p:blipFill>
          <a:blip r:embed="rId5"/>
          <a:stretch>
            <a:fillRect/>
          </a:stretch>
        </p:blipFill>
        <p:spPr>
          <a:xfrm>
            <a:off x="5696255" y="5357927"/>
            <a:ext cx="357530" cy="357530"/>
          </a:xfrm>
          <a:prstGeom prst="rect">
            <a:avLst/>
          </a:prstGeom>
        </p:spPr>
      </p:pic>
      <p:sp>
        <p:nvSpPr>
          <p:cNvPr id="40" name="Text 35"/>
          <p:cNvSpPr/>
          <p:nvPr/>
        </p:nvSpPr>
        <p:spPr>
          <a:xfrm>
            <a:off x="6492240" y="5074920"/>
            <a:ext cx="470916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Thermodynamics Manages Heat &amp; Power</a:t>
            </a:r>
            <a:endParaRPr lang="en-US" sz="1550" dirty="0"/>
          </a:p>
        </p:txBody>
      </p:sp>
      <p:sp>
        <p:nvSpPr>
          <p:cNvPr id="41" name="Text 36"/>
          <p:cNvSpPr/>
          <p:nvPr/>
        </p:nvSpPr>
        <p:spPr>
          <a:xfrm>
            <a:off x="6492240" y="5458968"/>
            <a:ext cx="4709160" cy="594360"/>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Cooling systems and power efficiency rely directly on the laws of thermodynamics.</a:t>
            </a:r>
            <a:endParaRPr lang="en-US" sz="1150" dirty="0"/>
          </a:p>
        </p:txBody>
      </p:sp>
      <p:sp>
        <p:nvSpPr>
          <p:cNvPr id="42" name="Text 37"/>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b="1" dirty="0">
                <a:solidFill>
                  <a:srgbClr val="AEAEB2"/>
                </a:solidFill>
                <a:latin typeface="Arial" pitchFamily="34" charset="0"/>
                <a:ea typeface="Arial" pitchFamily="34" charset="-122"/>
                <a:cs typeface="Arial" pitchFamily="34" charset="-120"/>
              </a:rPr>
              <a:t>03</a:t>
            </a:r>
            <a:endParaRPr lang="en-US" sz="1000" dirty="0"/>
          </a:p>
        </p:txBody>
      </p:sp>
      <p:sp>
        <p:nvSpPr>
          <p:cNvPr id="43" name="Text 38"/>
          <p:cNvSpPr/>
          <p:nvPr/>
        </p:nvSpPr>
        <p:spPr>
          <a:xfrm>
            <a:off x="548640" y="6473952"/>
            <a:ext cx="2743200" cy="274320"/>
          </a:xfrm>
          <a:prstGeom prst="rect">
            <a:avLst/>
          </a:prstGeom>
          <a:noFill/>
          <a:ln/>
        </p:spPr>
        <p:txBody>
          <a:bodyPr wrap="square" lIns="0" tIns="0" rIns="0" bIns="0" rtlCol="0" anchor="ctr"/>
          <a:lstStyle/>
          <a:p>
            <a:pPr marL="0" indent="0" algn="l">
              <a:buNone/>
            </a:pPr>
            <a:r>
              <a:rPr lang="en-US" sz="900" b="1" kern="0" spc="150" dirty="0">
                <a:solidFill>
                  <a:srgbClr val="AEAEB2"/>
                </a:solidFill>
                <a:latin typeface="Arial" pitchFamily="34" charset="0"/>
                <a:ea typeface="Arial" pitchFamily="34" charset="-122"/>
                <a:cs typeface="Arial" pitchFamily="34" charset="-120"/>
              </a:rPr>
              <a:t>PHYSICS IN CSE</a:t>
            </a:r>
            <a:endParaRPr lang="en-US" sz="900" dirty="0"/>
          </a:p>
        </p:txBody>
      </p:sp>
      <p:pic>
        <p:nvPicPr>
          <p:cNvPr id="45" name="Picture 44">
            <a:extLst>
              <a:ext uri="{FF2B5EF4-FFF2-40B4-BE49-F238E27FC236}">
                <a16:creationId xmlns:a16="http://schemas.microsoft.com/office/drawing/2014/main" id="{A98D8239-17EA-45DE-896A-97AC79F10354}"/>
              </a:ext>
            </a:extLst>
          </p:cNvPr>
          <p:cNvPicPr>
            <a:picLocks noChangeAspect="1"/>
          </p:cNvPicPr>
          <p:nvPr/>
        </p:nvPicPr>
        <p:blipFill>
          <a:blip r:embed="rId6"/>
          <a:stretch>
            <a:fillRect/>
          </a:stretch>
        </p:blipFill>
        <p:spPr>
          <a:xfrm>
            <a:off x="1256196" y="1874520"/>
            <a:ext cx="3339767" cy="3339767"/>
          </a:xfrm>
          <a:prstGeom prst="rect">
            <a:avLst/>
          </a:prstGeom>
        </p:spPr>
      </p:pic>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lgn="l">
              <a:buNone/>
            </a:pPr>
            <a:r>
              <a:rPr lang="en-US" sz="1200" b="1" kern="0" spc="200" dirty="0">
                <a:solidFill>
                  <a:srgbClr val="007AFF"/>
                </a:solidFill>
                <a:latin typeface="Arial" pitchFamily="34" charset="0"/>
                <a:ea typeface="Arial" pitchFamily="34" charset="-122"/>
                <a:cs typeface="Arial" pitchFamily="34" charset="-120"/>
              </a:rPr>
              <a:t>NETWORKING</a:t>
            </a:r>
            <a:endParaRPr lang="en-US" sz="1200" dirty="0"/>
          </a:p>
        </p:txBody>
      </p:sp>
      <p:sp>
        <p:nvSpPr>
          <p:cNvPr id="3" name="Text 1"/>
          <p:cNvSpPr/>
          <p:nvPr/>
        </p:nvSpPr>
        <p:spPr>
          <a:xfrm>
            <a:off x="777240" y="841248"/>
            <a:ext cx="9144000" cy="822960"/>
          </a:xfrm>
          <a:prstGeom prst="rect">
            <a:avLst/>
          </a:prstGeom>
          <a:noFill/>
          <a:ln/>
        </p:spPr>
        <p:txBody>
          <a:bodyPr wrap="square" lIns="0" tIns="0" rIns="0" bIns="0" rtlCol="0" anchor="ctr"/>
          <a:lstStyle/>
          <a:p>
            <a:pPr marL="0" indent="0" algn="l">
              <a:lnSpc>
                <a:spcPct val="102000"/>
              </a:lnSpc>
              <a:buNone/>
            </a:pPr>
            <a:r>
              <a:rPr lang="en-US" sz="3400" b="1" dirty="0">
                <a:solidFill>
                  <a:srgbClr val="1D1D1F"/>
                </a:solidFill>
                <a:latin typeface="Arial" pitchFamily="34" charset="0"/>
                <a:ea typeface="Arial" pitchFamily="34" charset="-122"/>
                <a:cs typeface="Arial" pitchFamily="34" charset="-120"/>
              </a:rPr>
              <a:t>Physics in Networking &amp; Communication</a:t>
            </a:r>
            <a:endParaRPr lang="en-US" sz="3400" dirty="0"/>
          </a:p>
        </p:txBody>
      </p:sp>
      <p:sp>
        <p:nvSpPr>
          <p:cNvPr id="4" name="Text 2"/>
          <p:cNvSpPr/>
          <p:nvPr/>
        </p:nvSpPr>
        <p:spPr>
          <a:xfrm>
            <a:off x="822960" y="1536192"/>
            <a:ext cx="9601200" cy="457200"/>
          </a:xfrm>
          <a:prstGeom prst="rect">
            <a:avLst/>
          </a:prstGeom>
          <a:noFill/>
          <a:ln/>
        </p:spPr>
        <p:txBody>
          <a:bodyPr wrap="square" lIns="0" tIns="0" rIns="0" bIns="0" rtlCol="0" anchor="ctr"/>
          <a:lstStyle/>
          <a:p>
            <a:pPr marL="0" indent="0">
              <a:buNone/>
            </a:pPr>
            <a:r>
              <a:rPr lang="en-US" sz="1350" dirty="0">
                <a:solidFill>
                  <a:srgbClr val="6E6E73"/>
                </a:solidFill>
                <a:latin typeface="Arial" pitchFamily="34" charset="0"/>
                <a:ea typeface="Arial" pitchFamily="34" charset="-122"/>
                <a:cs typeface="Arial" pitchFamily="34" charset="-120"/>
              </a:rPr>
              <a:t>Every message that travels across a network rides on a physical carrier: waves, light, or electrical pulses.</a:t>
            </a:r>
            <a:endParaRPr lang="en-US" sz="1350" dirty="0"/>
          </a:p>
        </p:txBody>
      </p:sp>
      <p:sp>
        <p:nvSpPr>
          <p:cNvPr id="5" name="Shape 3"/>
          <p:cNvSpPr/>
          <p:nvPr/>
        </p:nvSpPr>
        <p:spPr>
          <a:xfrm>
            <a:off x="822960" y="2331720"/>
            <a:ext cx="3429000" cy="2423160"/>
          </a:xfrm>
          <a:prstGeom prst="roundRect">
            <a:avLst>
              <a:gd name="adj" fmla="val 6038"/>
            </a:avLst>
          </a:prstGeom>
          <a:solidFill>
            <a:srgbClr val="F5F5F7"/>
          </a:solidFill>
          <a:ln/>
          <a:effectLst>
            <a:outerShdw blurRad="127000" dist="38100" dir="5400000" algn="bl" rotWithShape="0">
              <a:srgbClr val="8E8E93">
                <a:alpha val="22000"/>
              </a:srgbClr>
            </a:outerShdw>
          </a:effectLst>
        </p:spPr>
      </p:sp>
      <p:sp>
        <p:nvSpPr>
          <p:cNvPr id="6" name="Shape 4"/>
          <p:cNvSpPr/>
          <p:nvPr/>
        </p:nvSpPr>
        <p:spPr>
          <a:xfrm>
            <a:off x="1115568" y="2624328"/>
            <a:ext cx="868680" cy="868680"/>
          </a:xfrm>
          <a:prstGeom prst="ellipse">
            <a:avLst/>
          </a:prstGeom>
          <a:solidFill>
            <a:srgbClr val="E8F1FF"/>
          </a:solidFill>
          <a:ln/>
        </p:spPr>
      </p:sp>
      <p:pic>
        <p:nvPicPr>
          <p:cNvPr id="7" name="Image 0" descr="/home/claude/deck/icons/wifi_blue.png"/>
          <p:cNvPicPr>
            <a:picLocks noChangeAspect="1"/>
          </p:cNvPicPr>
          <p:nvPr/>
        </p:nvPicPr>
        <p:blipFill>
          <a:blip r:embed="rId3"/>
          <a:stretch>
            <a:fillRect/>
          </a:stretch>
        </p:blipFill>
        <p:spPr>
          <a:xfrm>
            <a:off x="1350112" y="2858872"/>
            <a:ext cx="399593" cy="399593"/>
          </a:xfrm>
          <a:prstGeom prst="rect">
            <a:avLst/>
          </a:prstGeom>
        </p:spPr>
      </p:pic>
      <p:sp>
        <p:nvSpPr>
          <p:cNvPr id="8" name="Text 5"/>
          <p:cNvSpPr/>
          <p:nvPr/>
        </p:nvSpPr>
        <p:spPr>
          <a:xfrm>
            <a:off x="1115568" y="3611880"/>
            <a:ext cx="2880360" cy="457200"/>
          </a:xfrm>
          <a:prstGeom prst="rect">
            <a:avLst/>
          </a:prstGeom>
          <a:noFill/>
          <a:ln/>
        </p:spPr>
        <p:txBody>
          <a:bodyPr wrap="square" lIns="0" tIns="0" rIns="0" bIns="0" rtlCol="0" anchor="ctr"/>
          <a:lstStyle/>
          <a:p>
            <a:pPr marL="0" indent="0">
              <a:buNone/>
            </a:pPr>
            <a:r>
              <a:rPr lang="en-US" sz="1600" b="1" dirty="0">
                <a:solidFill>
                  <a:srgbClr val="1D1D1F"/>
                </a:solidFill>
                <a:latin typeface="Arial" pitchFamily="34" charset="0"/>
                <a:ea typeface="Arial" pitchFamily="34" charset="-122"/>
                <a:cs typeface="Arial" pitchFamily="34" charset="-120"/>
              </a:rPr>
              <a:t>Electromagnetic Waves</a:t>
            </a:r>
            <a:endParaRPr lang="en-US" sz="1600" dirty="0"/>
          </a:p>
        </p:txBody>
      </p:sp>
      <p:sp>
        <p:nvSpPr>
          <p:cNvPr id="9" name="Text 6"/>
          <p:cNvSpPr/>
          <p:nvPr/>
        </p:nvSpPr>
        <p:spPr>
          <a:xfrm>
            <a:off x="1115568" y="4050792"/>
            <a:ext cx="2880360" cy="621792"/>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Wireless communication travels through space as oscillating electric and magnetic fields.</a:t>
            </a:r>
            <a:endParaRPr lang="en-US" sz="1150" dirty="0"/>
          </a:p>
        </p:txBody>
      </p:sp>
      <p:sp>
        <p:nvSpPr>
          <p:cNvPr id="10" name="Shape 7"/>
          <p:cNvSpPr/>
          <p:nvPr/>
        </p:nvSpPr>
        <p:spPr>
          <a:xfrm>
            <a:off x="4507992" y="2331720"/>
            <a:ext cx="3429000" cy="2423160"/>
          </a:xfrm>
          <a:prstGeom prst="roundRect">
            <a:avLst>
              <a:gd name="adj" fmla="val 6038"/>
            </a:avLst>
          </a:prstGeom>
          <a:solidFill>
            <a:srgbClr val="F5F5F7"/>
          </a:solidFill>
          <a:ln/>
          <a:effectLst>
            <a:outerShdw blurRad="127000" dist="38100" dir="5400000" algn="bl" rotWithShape="0">
              <a:srgbClr val="8E8E93">
                <a:alpha val="22000"/>
              </a:srgbClr>
            </a:outerShdw>
          </a:effectLst>
        </p:spPr>
      </p:sp>
      <p:sp>
        <p:nvSpPr>
          <p:cNvPr id="11" name="Shape 8"/>
          <p:cNvSpPr/>
          <p:nvPr/>
        </p:nvSpPr>
        <p:spPr>
          <a:xfrm>
            <a:off x="4800600" y="2624328"/>
            <a:ext cx="868680" cy="868680"/>
          </a:xfrm>
          <a:prstGeom prst="ellipse">
            <a:avLst/>
          </a:prstGeom>
          <a:solidFill>
            <a:srgbClr val="E8F1FF"/>
          </a:solidFill>
          <a:ln/>
        </p:spPr>
      </p:sp>
      <p:pic>
        <p:nvPicPr>
          <p:cNvPr id="12" name="Image 1" descr="/home/claude/deck/icons/fiber_blue.png"/>
          <p:cNvPicPr>
            <a:picLocks noChangeAspect="1"/>
          </p:cNvPicPr>
          <p:nvPr/>
        </p:nvPicPr>
        <p:blipFill>
          <a:blip r:embed="rId4"/>
          <a:stretch>
            <a:fillRect/>
          </a:stretch>
        </p:blipFill>
        <p:spPr>
          <a:xfrm>
            <a:off x="5035144" y="2858872"/>
            <a:ext cx="399593" cy="399593"/>
          </a:xfrm>
          <a:prstGeom prst="rect">
            <a:avLst/>
          </a:prstGeom>
        </p:spPr>
      </p:pic>
      <p:sp>
        <p:nvSpPr>
          <p:cNvPr id="13" name="Text 9"/>
          <p:cNvSpPr/>
          <p:nvPr/>
        </p:nvSpPr>
        <p:spPr>
          <a:xfrm>
            <a:off x="4800600" y="3611880"/>
            <a:ext cx="2880360" cy="457200"/>
          </a:xfrm>
          <a:prstGeom prst="rect">
            <a:avLst/>
          </a:prstGeom>
          <a:noFill/>
          <a:ln/>
        </p:spPr>
        <p:txBody>
          <a:bodyPr wrap="square" lIns="0" tIns="0" rIns="0" bIns="0" rtlCol="0" anchor="ctr"/>
          <a:lstStyle/>
          <a:p>
            <a:pPr marL="0" indent="0">
              <a:buNone/>
            </a:pPr>
            <a:r>
              <a:rPr lang="en-US" sz="1600" b="1" dirty="0">
                <a:solidFill>
                  <a:srgbClr val="1D1D1F"/>
                </a:solidFill>
                <a:latin typeface="Arial" pitchFamily="34" charset="0"/>
                <a:ea typeface="Arial" pitchFamily="34" charset="-122"/>
                <a:cs typeface="Arial" pitchFamily="34" charset="-120"/>
              </a:rPr>
              <a:t>Fiber Optics &amp; Light</a:t>
            </a:r>
            <a:endParaRPr lang="en-US" sz="1600" dirty="0"/>
          </a:p>
        </p:txBody>
      </p:sp>
      <p:sp>
        <p:nvSpPr>
          <p:cNvPr id="14" name="Text 10"/>
          <p:cNvSpPr/>
          <p:nvPr/>
        </p:nvSpPr>
        <p:spPr>
          <a:xfrm>
            <a:off x="4800600" y="4050792"/>
            <a:ext cx="2880360" cy="621792"/>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Data is transmitted as pulses of light guided through thin strands of glass fiber.</a:t>
            </a:r>
            <a:endParaRPr lang="en-US" sz="1150" dirty="0"/>
          </a:p>
        </p:txBody>
      </p:sp>
      <p:sp>
        <p:nvSpPr>
          <p:cNvPr id="15" name="Shape 11"/>
          <p:cNvSpPr/>
          <p:nvPr/>
        </p:nvSpPr>
        <p:spPr>
          <a:xfrm>
            <a:off x="8193024" y="2331720"/>
            <a:ext cx="3429000" cy="2423160"/>
          </a:xfrm>
          <a:prstGeom prst="roundRect">
            <a:avLst>
              <a:gd name="adj" fmla="val 6038"/>
            </a:avLst>
          </a:prstGeom>
          <a:solidFill>
            <a:srgbClr val="F5F5F7"/>
          </a:solidFill>
          <a:ln/>
          <a:effectLst>
            <a:outerShdw blurRad="127000" dist="38100" dir="5400000" algn="bl" rotWithShape="0">
              <a:srgbClr val="8E8E93">
                <a:alpha val="22000"/>
              </a:srgbClr>
            </a:outerShdw>
          </a:effectLst>
        </p:spPr>
      </p:sp>
      <p:sp>
        <p:nvSpPr>
          <p:cNvPr id="16" name="Shape 12"/>
          <p:cNvSpPr/>
          <p:nvPr/>
        </p:nvSpPr>
        <p:spPr>
          <a:xfrm>
            <a:off x="8485632" y="2624328"/>
            <a:ext cx="868680" cy="868680"/>
          </a:xfrm>
          <a:prstGeom prst="ellipse">
            <a:avLst/>
          </a:prstGeom>
          <a:solidFill>
            <a:srgbClr val="E8F1FF"/>
          </a:solidFill>
          <a:ln/>
        </p:spPr>
      </p:sp>
      <p:pic>
        <p:nvPicPr>
          <p:cNvPr id="17" name="Image 2" descr="/home/claude/deck/icons/radio_blue.png"/>
          <p:cNvPicPr>
            <a:picLocks noChangeAspect="1"/>
          </p:cNvPicPr>
          <p:nvPr/>
        </p:nvPicPr>
        <p:blipFill>
          <a:blip r:embed="rId5"/>
          <a:stretch>
            <a:fillRect/>
          </a:stretch>
        </p:blipFill>
        <p:spPr>
          <a:xfrm>
            <a:off x="8661184" y="2868704"/>
            <a:ext cx="399593" cy="399593"/>
          </a:xfrm>
          <a:prstGeom prst="rect">
            <a:avLst/>
          </a:prstGeom>
        </p:spPr>
      </p:pic>
      <p:sp>
        <p:nvSpPr>
          <p:cNvPr id="18" name="Text 13"/>
          <p:cNvSpPr/>
          <p:nvPr/>
        </p:nvSpPr>
        <p:spPr>
          <a:xfrm>
            <a:off x="8485632" y="3611880"/>
            <a:ext cx="2880360" cy="457200"/>
          </a:xfrm>
          <a:prstGeom prst="rect">
            <a:avLst/>
          </a:prstGeom>
          <a:noFill/>
          <a:ln/>
        </p:spPr>
        <p:txBody>
          <a:bodyPr wrap="square" lIns="0" tIns="0" rIns="0" bIns="0" rtlCol="0" anchor="ctr"/>
          <a:lstStyle/>
          <a:p>
            <a:pPr marL="0" indent="0">
              <a:buNone/>
            </a:pPr>
            <a:r>
              <a:rPr lang="en-US" sz="1600" b="1" dirty="0">
                <a:solidFill>
                  <a:srgbClr val="1D1D1F"/>
                </a:solidFill>
                <a:latin typeface="Arial" pitchFamily="34" charset="0"/>
                <a:ea typeface="Arial" pitchFamily="34" charset="-122"/>
                <a:cs typeface="Arial" pitchFamily="34" charset="-120"/>
              </a:rPr>
              <a:t>Signal Processing</a:t>
            </a:r>
            <a:endParaRPr lang="en-US" sz="1600" dirty="0"/>
          </a:p>
        </p:txBody>
      </p:sp>
      <p:sp>
        <p:nvSpPr>
          <p:cNvPr id="19" name="Text 14"/>
          <p:cNvSpPr/>
          <p:nvPr/>
        </p:nvSpPr>
        <p:spPr>
          <a:xfrm>
            <a:off x="8485632" y="4050792"/>
            <a:ext cx="2880360" cy="621792"/>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Encoding, filtering, and decoding signals all depend on fundamental physical laws.</a:t>
            </a:r>
            <a:endParaRPr lang="en-US" sz="1150" dirty="0"/>
          </a:p>
        </p:txBody>
      </p:sp>
      <p:sp>
        <p:nvSpPr>
          <p:cNvPr id="20" name="Shape 15"/>
          <p:cNvSpPr/>
          <p:nvPr/>
        </p:nvSpPr>
        <p:spPr>
          <a:xfrm>
            <a:off x="822960" y="4983480"/>
            <a:ext cx="10515600" cy="1280160"/>
          </a:xfrm>
          <a:prstGeom prst="roundRect">
            <a:avLst>
              <a:gd name="adj" fmla="val 11429"/>
            </a:avLst>
          </a:prstGeom>
          <a:solidFill>
            <a:srgbClr val="1D1D1F"/>
          </a:solidFill>
          <a:ln/>
          <a:effectLst>
            <a:outerShdw blurRad="127000" dist="38100" dir="5400000" algn="bl" rotWithShape="0">
              <a:srgbClr val="8E8E93">
                <a:alpha val="22000"/>
              </a:srgbClr>
            </a:outerShdw>
          </a:effectLst>
        </p:spPr>
      </p:sp>
      <p:sp>
        <p:nvSpPr>
          <p:cNvPr id="21" name="Shape 16"/>
          <p:cNvSpPr/>
          <p:nvPr/>
        </p:nvSpPr>
        <p:spPr>
          <a:xfrm>
            <a:off x="1771650" y="5138928"/>
            <a:ext cx="731520" cy="731520"/>
          </a:xfrm>
          <a:prstGeom prst="ellipse">
            <a:avLst/>
          </a:prstGeom>
          <a:solidFill>
            <a:srgbClr val="2C2C2E"/>
          </a:solidFill>
          <a:ln/>
        </p:spPr>
      </p:sp>
      <p:pic>
        <p:nvPicPr>
          <p:cNvPr id="22" name="Image 3" descr="/home/claude/deck/icons/radio_blue.png"/>
          <p:cNvPicPr>
            <a:picLocks noChangeAspect="1"/>
          </p:cNvPicPr>
          <p:nvPr/>
        </p:nvPicPr>
        <p:blipFill>
          <a:blip r:embed="rId5"/>
          <a:stretch>
            <a:fillRect/>
          </a:stretch>
        </p:blipFill>
        <p:spPr>
          <a:xfrm>
            <a:off x="1969160" y="5336438"/>
            <a:ext cx="336499" cy="336499"/>
          </a:xfrm>
          <a:prstGeom prst="rect">
            <a:avLst/>
          </a:prstGeom>
        </p:spPr>
      </p:pic>
      <p:sp>
        <p:nvSpPr>
          <p:cNvPr id="23" name="Text 17"/>
          <p:cNvSpPr/>
          <p:nvPr/>
        </p:nvSpPr>
        <p:spPr>
          <a:xfrm>
            <a:off x="822960" y="5943600"/>
            <a:ext cx="262890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Transmitter</a:t>
            </a:r>
            <a:endParaRPr lang="en-US" sz="1050" dirty="0"/>
          </a:p>
        </p:txBody>
      </p:sp>
      <p:sp>
        <p:nvSpPr>
          <p:cNvPr id="24" name="Shape 18"/>
          <p:cNvSpPr/>
          <p:nvPr/>
        </p:nvSpPr>
        <p:spPr>
          <a:xfrm>
            <a:off x="2521458" y="5504688"/>
            <a:ext cx="1860804" cy="0"/>
          </a:xfrm>
          <a:prstGeom prst="line">
            <a:avLst/>
          </a:prstGeom>
          <a:noFill/>
          <a:ln w="22225">
            <a:solidFill>
              <a:srgbClr val="007AFF"/>
            </a:solidFill>
            <a:prstDash val="dash"/>
          </a:ln>
        </p:spPr>
      </p:sp>
      <p:sp>
        <p:nvSpPr>
          <p:cNvPr id="25" name="Shape 19"/>
          <p:cNvSpPr/>
          <p:nvPr/>
        </p:nvSpPr>
        <p:spPr>
          <a:xfrm>
            <a:off x="4400550" y="5138928"/>
            <a:ext cx="731520" cy="731520"/>
          </a:xfrm>
          <a:prstGeom prst="ellipse">
            <a:avLst/>
          </a:prstGeom>
          <a:solidFill>
            <a:srgbClr val="2C2C2E"/>
          </a:solidFill>
          <a:ln/>
        </p:spPr>
      </p:sp>
      <p:sp>
        <p:nvSpPr>
          <p:cNvPr id="27" name="Text 20"/>
          <p:cNvSpPr/>
          <p:nvPr/>
        </p:nvSpPr>
        <p:spPr>
          <a:xfrm>
            <a:off x="3451860" y="5943600"/>
            <a:ext cx="262890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EM Wave</a:t>
            </a:r>
            <a:endParaRPr lang="en-US" sz="1050" dirty="0"/>
          </a:p>
        </p:txBody>
      </p:sp>
      <p:sp>
        <p:nvSpPr>
          <p:cNvPr id="28" name="Shape 21"/>
          <p:cNvSpPr/>
          <p:nvPr/>
        </p:nvSpPr>
        <p:spPr>
          <a:xfrm>
            <a:off x="5150358" y="5504688"/>
            <a:ext cx="1860804" cy="0"/>
          </a:xfrm>
          <a:prstGeom prst="line">
            <a:avLst/>
          </a:prstGeom>
          <a:noFill/>
          <a:ln w="22225">
            <a:solidFill>
              <a:srgbClr val="007AFF"/>
            </a:solidFill>
            <a:prstDash val="dash"/>
          </a:ln>
        </p:spPr>
      </p:sp>
      <p:sp>
        <p:nvSpPr>
          <p:cNvPr id="29" name="Shape 22"/>
          <p:cNvSpPr/>
          <p:nvPr/>
        </p:nvSpPr>
        <p:spPr>
          <a:xfrm>
            <a:off x="7029450" y="5138928"/>
            <a:ext cx="731520" cy="731520"/>
          </a:xfrm>
          <a:prstGeom prst="ellipse">
            <a:avLst/>
          </a:prstGeom>
          <a:solidFill>
            <a:srgbClr val="2C2C2E"/>
          </a:solidFill>
          <a:ln/>
        </p:spPr>
      </p:sp>
      <p:sp>
        <p:nvSpPr>
          <p:cNvPr id="31" name="Text 23"/>
          <p:cNvSpPr/>
          <p:nvPr/>
        </p:nvSpPr>
        <p:spPr>
          <a:xfrm>
            <a:off x="6080760" y="5943600"/>
            <a:ext cx="262890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Fiber Link</a:t>
            </a:r>
            <a:endParaRPr lang="en-US" sz="1050" dirty="0"/>
          </a:p>
        </p:txBody>
      </p:sp>
      <p:sp>
        <p:nvSpPr>
          <p:cNvPr id="32" name="Shape 24"/>
          <p:cNvSpPr/>
          <p:nvPr/>
        </p:nvSpPr>
        <p:spPr>
          <a:xfrm>
            <a:off x="7779258" y="5504688"/>
            <a:ext cx="1860804" cy="0"/>
          </a:xfrm>
          <a:prstGeom prst="line">
            <a:avLst/>
          </a:prstGeom>
          <a:noFill/>
          <a:ln w="22225">
            <a:solidFill>
              <a:srgbClr val="007AFF"/>
            </a:solidFill>
            <a:prstDash val="dash"/>
          </a:ln>
        </p:spPr>
      </p:sp>
      <p:sp>
        <p:nvSpPr>
          <p:cNvPr id="33" name="Shape 25"/>
          <p:cNvSpPr/>
          <p:nvPr/>
        </p:nvSpPr>
        <p:spPr>
          <a:xfrm>
            <a:off x="9658350" y="5138928"/>
            <a:ext cx="731520" cy="731520"/>
          </a:xfrm>
          <a:prstGeom prst="ellipse">
            <a:avLst/>
          </a:prstGeom>
          <a:solidFill>
            <a:srgbClr val="2C2C2E"/>
          </a:solidFill>
          <a:ln/>
        </p:spPr>
      </p:sp>
      <p:pic>
        <p:nvPicPr>
          <p:cNvPr id="34" name="Image 6" descr="/home/claude/deck/icons/cpu_blue.png"/>
          <p:cNvPicPr>
            <a:picLocks noChangeAspect="1"/>
          </p:cNvPicPr>
          <p:nvPr/>
        </p:nvPicPr>
        <p:blipFill>
          <a:blip r:embed="rId6"/>
          <a:stretch>
            <a:fillRect/>
          </a:stretch>
        </p:blipFill>
        <p:spPr>
          <a:xfrm>
            <a:off x="9855860" y="5336438"/>
            <a:ext cx="336499" cy="336499"/>
          </a:xfrm>
          <a:prstGeom prst="rect">
            <a:avLst/>
          </a:prstGeom>
        </p:spPr>
      </p:pic>
      <p:sp>
        <p:nvSpPr>
          <p:cNvPr id="35" name="Text 26"/>
          <p:cNvSpPr/>
          <p:nvPr/>
        </p:nvSpPr>
        <p:spPr>
          <a:xfrm>
            <a:off x="8709660" y="5943600"/>
            <a:ext cx="262890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Receiver</a:t>
            </a:r>
            <a:endParaRPr lang="en-US" sz="1050" dirty="0"/>
          </a:p>
        </p:txBody>
      </p:sp>
      <p:sp>
        <p:nvSpPr>
          <p:cNvPr id="36" name="Text 27"/>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b="1" dirty="0">
                <a:solidFill>
                  <a:srgbClr val="8E8E93"/>
                </a:solidFill>
                <a:latin typeface="Arial" pitchFamily="34" charset="0"/>
                <a:ea typeface="Arial" pitchFamily="34" charset="-122"/>
                <a:cs typeface="Arial" pitchFamily="34" charset="-120"/>
              </a:rPr>
              <a:t>04</a:t>
            </a:r>
            <a:endParaRPr lang="en-US" sz="1000" dirty="0"/>
          </a:p>
        </p:txBody>
      </p:sp>
      <p:sp>
        <p:nvSpPr>
          <p:cNvPr id="37" name="Text 28"/>
          <p:cNvSpPr/>
          <p:nvPr/>
        </p:nvSpPr>
        <p:spPr>
          <a:xfrm>
            <a:off x="548640" y="6473952"/>
            <a:ext cx="2743200" cy="274320"/>
          </a:xfrm>
          <a:prstGeom prst="rect">
            <a:avLst/>
          </a:prstGeom>
          <a:noFill/>
          <a:ln/>
        </p:spPr>
        <p:txBody>
          <a:bodyPr wrap="square" lIns="0" tIns="0" rIns="0" bIns="0" rtlCol="0" anchor="ctr"/>
          <a:lstStyle/>
          <a:p>
            <a:pPr marL="0" indent="0" algn="l">
              <a:buNone/>
            </a:pPr>
            <a:r>
              <a:rPr lang="en-US" sz="900" b="1" kern="0" spc="150" dirty="0">
                <a:solidFill>
                  <a:srgbClr val="8E8E93"/>
                </a:solidFill>
                <a:latin typeface="Arial" pitchFamily="34" charset="0"/>
                <a:ea typeface="Arial" pitchFamily="34" charset="-122"/>
                <a:cs typeface="Arial" pitchFamily="34" charset="-120"/>
              </a:rPr>
              <a:t>PHYSICS IN CSE</a:t>
            </a:r>
            <a:endParaRPr lang="en-US" sz="900" dirty="0"/>
          </a:p>
        </p:txBody>
      </p:sp>
      <p:pic>
        <p:nvPicPr>
          <p:cNvPr id="3076" name="Picture 4" descr="Optical Fiber Cable Stock Photos, Images and Backgrounds for Free Download">
            <a:extLst>
              <a:ext uri="{FF2B5EF4-FFF2-40B4-BE49-F238E27FC236}">
                <a16:creationId xmlns:a16="http://schemas.microsoft.com/office/drawing/2014/main" id="{34483393-F253-4C07-B522-1C8987203E86}"/>
              </a:ext>
            </a:extLst>
          </p:cNvPr>
          <p:cNvPicPr>
            <a:picLocks noChangeAspect="1" noChangeArrowheads="1"/>
          </p:cNvPicPr>
          <p:nvPr/>
        </p:nvPicPr>
        <p:blipFill>
          <a:blip r:embed="rId7">
            <a:alphaModFix amt="85000"/>
            <a:extLst>
              <a:ext uri="{28A0092B-C50C-407E-A947-70E740481C1C}">
                <a14:useLocalDpi xmlns:a14="http://schemas.microsoft.com/office/drawing/2010/main" val="0"/>
              </a:ext>
            </a:extLst>
          </a:blip>
          <a:srcRect/>
          <a:stretch>
            <a:fillRect/>
          </a:stretch>
        </p:blipFill>
        <p:spPr bwMode="auto">
          <a:xfrm>
            <a:off x="7029450" y="5138928"/>
            <a:ext cx="731520" cy="7315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3080" name="Picture 8" descr="An electromagnetic wave - 3D model by famousandfaded (@famousandfaded)  [a7e7f0e]">
            <a:extLst>
              <a:ext uri="{FF2B5EF4-FFF2-40B4-BE49-F238E27FC236}">
                <a16:creationId xmlns:a16="http://schemas.microsoft.com/office/drawing/2014/main" id="{5E3BBD08-2254-4927-8157-A63C1AB63CCA}"/>
              </a:ext>
            </a:extLst>
          </p:cNvPr>
          <p:cNvPicPr>
            <a:picLocks noChangeAspect="1" noChangeArrowheads="1"/>
          </p:cNvPicPr>
          <p:nvPr/>
        </p:nvPicPr>
        <p:blipFill>
          <a:blip r:embed="rId8">
            <a:alphaModFix amt="85000"/>
            <a:extLst>
              <a:ext uri="{28A0092B-C50C-407E-A947-70E740481C1C}">
                <a14:useLocalDpi xmlns:a14="http://schemas.microsoft.com/office/drawing/2010/main" val="0"/>
              </a:ext>
            </a:extLst>
          </a:blip>
          <a:srcRect/>
          <a:stretch>
            <a:fillRect/>
          </a:stretch>
        </p:blipFill>
        <p:spPr bwMode="auto">
          <a:xfrm>
            <a:off x="4400550" y="5138928"/>
            <a:ext cx="731520" cy="731520"/>
          </a:xfrm>
          <a:prstGeom prst="flowChartConnector">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lgn="l">
              <a:buNone/>
            </a:pPr>
            <a:r>
              <a:rPr lang="en-US" sz="1200" b="1" kern="0" spc="200" dirty="0">
                <a:solidFill>
                  <a:srgbClr val="007AFF"/>
                </a:solidFill>
                <a:latin typeface="Arial" pitchFamily="34" charset="0"/>
                <a:ea typeface="Arial" pitchFamily="34" charset="-122"/>
                <a:cs typeface="Arial" pitchFamily="34" charset="-120"/>
              </a:rPr>
              <a:t>GRAPHICS &amp; SIMULATION</a:t>
            </a:r>
            <a:endParaRPr lang="en-US" sz="1200" dirty="0"/>
          </a:p>
        </p:txBody>
      </p:sp>
      <p:sp>
        <p:nvSpPr>
          <p:cNvPr id="3" name="Text 1"/>
          <p:cNvSpPr/>
          <p:nvPr/>
        </p:nvSpPr>
        <p:spPr>
          <a:xfrm>
            <a:off x="777240" y="841248"/>
            <a:ext cx="8686800" cy="822960"/>
          </a:xfrm>
          <a:prstGeom prst="rect">
            <a:avLst/>
          </a:prstGeom>
          <a:noFill/>
          <a:ln/>
        </p:spPr>
        <p:txBody>
          <a:bodyPr wrap="square" lIns="0" tIns="0" rIns="0" bIns="0" rtlCol="0" anchor="ctr"/>
          <a:lstStyle/>
          <a:p>
            <a:pPr marL="0" indent="0" algn="l">
              <a:lnSpc>
                <a:spcPct val="102000"/>
              </a:lnSpc>
              <a:buNone/>
            </a:pPr>
            <a:r>
              <a:rPr lang="en-US" sz="3400" b="1" dirty="0">
                <a:solidFill>
                  <a:srgbClr val="1D1D1F"/>
                </a:solidFill>
                <a:latin typeface="Arial" pitchFamily="34" charset="0"/>
                <a:ea typeface="Arial" pitchFamily="34" charset="-122"/>
                <a:cs typeface="Arial" pitchFamily="34" charset="-120"/>
              </a:rPr>
              <a:t>Physics in Graphics &amp; Simulation</a:t>
            </a:r>
            <a:endParaRPr lang="en-US" sz="3400" dirty="0"/>
          </a:p>
        </p:txBody>
      </p:sp>
      <p:sp>
        <p:nvSpPr>
          <p:cNvPr id="4" name="Shape 2"/>
          <p:cNvSpPr/>
          <p:nvPr/>
        </p:nvSpPr>
        <p:spPr>
          <a:xfrm>
            <a:off x="822960" y="1874520"/>
            <a:ext cx="6309360" cy="1298448"/>
          </a:xfrm>
          <a:prstGeom prst="roundRect">
            <a:avLst>
              <a:gd name="adj" fmla="val 11268"/>
            </a:avLst>
          </a:prstGeom>
          <a:solidFill>
            <a:srgbClr val="FFFFFF"/>
          </a:solidFill>
          <a:ln/>
          <a:effectLst>
            <a:outerShdw blurRad="127000" dist="38100" dir="5400000" algn="bl" rotWithShape="0">
              <a:srgbClr val="8E8E93">
                <a:alpha val="22000"/>
              </a:srgbClr>
            </a:outerShdw>
          </a:effectLst>
        </p:spPr>
      </p:sp>
      <p:sp>
        <p:nvSpPr>
          <p:cNvPr id="5" name="Shape 3"/>
          <p:cNvSpPr/>
          <p:nvPr/>
        </p:nvSpPr>
        <p:spPr>
          <a:xfrm>
            <a:off x="1060704" y="2130552"/>
            <a:ext cx="786384" cy="786384"/>
          </a:xfrm>
          <a:prstGeom prst="ellipse">
            <a:avLst/>
          </a:prstGeom>
          <a:solidFill>
            <a:srgbClr val="E8F1FF"/>
          </a:solidFill>
          <a:ln/>
        </p:spPr>
      </p:sp>
      <p:pic>
        <p:nvPicPr>
          <p:cNvPr id="6" name="Image 0" descr="/home/claude/deck/icons/cube_blue.png"/>
          <p:cNvPicPr>
            <a:picLocks noChangeAspect="1"/>
          </p:cNvPicPr>
          <p:nvPr/>
        </p:nvPicPr>
        <p:blipFill>
          <a:blip r:embed="rId3"/>
          <a:stretch>
            <a:fillRect/>
          </a:stretch>
        </p:blipFill>
        <p:spPr>
          <a:xfrm>
            <a:off x="1273028" y="2342876"/>
            <a:ext cx="361737" cy="361737"/>
          </a:xfrm>
          <a:prstGeom prst="rect">
            <a:avLst/>
          </a:prstGeom>
        </p:spPr>
      </p:pic>
      <p:sp>
        <p:nvSpPr>
          <p:cNvPr id="7" name="Text 4"/>
          <p:cNvSpPr/>
          <p:nvPr/>
        </p:nvSpPr>
        <p:spPr>
          <a:xfrm>
            <a:off x="2057400" y="2039112"/>
            <a:ext cx="493776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Physics Engines Simulate Motion</a:t>
            </a:r>
            <a:endParaRPr lang="en-US" sz="1550" dirty="0"/>
          </a:p>
        </p:txBody>
      </p:sp>
      <p:sp>
        <p:nvSpPr>
          <p:cNvPr id="8" name="Text 5"/>
          <p:cNvSpPr/>
          <p:nvPr/>
        </p:nvSpPr>
        <p:spPr>
          <a:xfrm>
            <a:off x="2057400" y="2423160"/>
            <a:ext cx="4937760" cy="594360"/>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Collision, gravity, and momentum are calculated in real time to drive interaction.</a:t>
            </a:r>
            <a:endParaRPr lang="en-US" sz="1150" dirty="0"/>
          </a:p>
        </p:txBody>
      </p:sp>
      <p:sp>
        <p:nvSpPr>
          <p:cNvPr id="9" name="Shape 6"/>
          <p:cNvSpPr/>
          <p:nvPr/>
        </p:nvSpPr>
        <p:spPr>
          <a:xfrm>
            <a:off x="822960" y="3355848"/>
            <a:ext cx="6309360" cy="1298448"/>
          </a:xfrm>
          <a:prstGeom prst="roundRect">
            <a:avLst>
              <a:gd name="adj" fmla="val 11268"/>
            </a:avLst>
          </a:prstGeom>
          <a:solidFill>
            <a:srgbClr val="FFFFFF"/>
          </a:solidFill>
          <a:ln/>
          <a:effectLst>
            <a:outerShdw blurRad="127000" dist="38100" dir="5400000" algn="bl" rotWithShape="0">
              <a:srgbClr val="8E8E93">
                <a:alpha val="22000"/>
              </a:srgbClr>
            </a:outerShdw>
          </a:effectLst>
        </p:spPr>
      </p:sp>
      <p:sp>
        <p:nvSpPr>
          <p:cNvPr id="10" name="Shape 7"/>
          <p:cNvSpPr/>
          <p:nvPr/>
        </p:nvSpPr>
        <p:spPr>
          <a:xfrm>
            <a:off x="1060704" y="3611880"/>
            <a:ext cx="786384" cy="786384"/>
          </a:xfrm>
          <a:prstGeom prst="ellipse">
            <a:avLst/>
          </a:prstGeom>
          <a:solidFill>
            <a:srgbClr val="E8F1FF"/>
          </a:solidFill>
          <a:ln/>
        </p:spPr>
      </p:sp>
      <p:pic>
        <p:nvPicPr>
          <p:cNvPr id="11" name="Image 1" descr="/home/claude/deck/icons/eye_blue.png"/>
          <p:cNvPicPr>
            <a:picLocks noChangeAspect="1"/>
          </p:cNvPicPr>
          <p:nvPr/>
        </p:nvPicPr>
        <p:blipFill>
          <a:blip r:embed="rId4"/>
          <a:stretch>
            <a:fillRect/>
          </a:stretch>
        </p:blipFill>
        <p:spPr>
          <a:xfrm>
            <a:off x="1273028" y="3824204"/>
            <a:ext cx="361737" cy="361737"/>
          </a:xfrm>
          <a:prstGeom prst="rect">
            <a:avLst/>
          </a:prstGeom>
        </p:spPr>
      </p:pic>
      <p:sp>
        <p:nvSpPr>
          <p:cNvPr id="12" name="Text 8"/>
          <p:cNvSpPr/>
          <p:nvPr/>
        </p:nvSpPr>
        <p:spPr>
          <a:xfrm>
            <a:off x="2057400" y="3520440"/>
            <a:ext cx="493776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Optics Creates Realistic Rendering</a:t>
            </a:r>
            <a:endParaRPr lang="en-US" sz="1550" dirty="0"/>
          </a:p>
        </p:txBody>
      </p:sp>
      <p:sp>
        <p:nvSpPr>
          <p:cNvPr id="13" name="Text 9"/>
          <p:cNvSpPr/>
          <p:nvPr/>
        </p:nvSpPr>
        <p:spPr>
          <a:xfrm>
            <a:off x="2057400" y="3904488"/>
            <a:ext cx="4937760" cy="594360"/>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Light reflection, refraction, and shadow models make rendered scenes believable.</a:t>
            </a:r>
            <a:endParaRPr lang="en-US" sz="1150" dirty="0"/>
          </a:p>
        </p:txBody>
      </p:sp>
      <p:sp>
        <p:nvSpPr>
          <p:cNvPr id="14" name="Shape 10"/>
          <p:cNvSpPr/>
          <p:nvPr/>
        </p:nvSpPr>
        <p:spPr>
          <a:xfrm>
            <a:off x="822960" y="4837176"/>
            <a:ext cx="6309360" cy="1298448"/>
          </a:xfrm>
          <a:prstGeom prst="roundRect">
            <a:avLst>
              <a:gd name="adj" fmla="val 11268"/>
            </a:avLst>
          </a:prstGeom>
          <a:solidFill>
            <a:srgbClr val="FFFFFF"/>
          </a:solidFill>
          <a:ln/>
          <a:effectLst>
            <a:outerShdw blurRad="127000" dist="38100" dir="5400000" algn="bl" rotWithShape="0">
              <a:srgbClr val="8E8E93">
                <a:alpha val="22000"/>
              </a:srgbClr>
            </a:outerShdw>
          </a:effectLst>
        </p:spPr>
      </p:sp>
      <p:sp>
        <p:nvSpPr>
          <p:cNvPr id="15" name="Shape 11"/>
          <p:cNvSpPr/>
          <p:nvPr/>
        </p:nvSpPr>
        <p:spPr>
          <a:xfrm>
            <a:off x="1060704" y="5093208"/>
            <a:ext cx="786384" cy="786384"/>
          </a:xfrm>
          <a:prstGeom prst="ellipse">
            <a:avLst/>
          </a:prstGeom>
          <a:solidFill>
            <a:srgbClr val="E8F1FF"/>
          </a:solidFill>
          <a:ln/>
        </p:spPr>
      </p:sp>
      <p:pic>
        <p:nvPicPr>
          <p:cNvPr id="16" name="Image 2" descr="/home/claude/deck/icons/vr_blue.png"/>
          <p:cNvPicPr>
            <a:picLocks noChangeAspect="1"/>
          </p:cNvPicPr>
          <p:nvPr/>
        </p:nvPicPr>
        <p:blipFill>
          <a:blip r:embed="rId5"/>
          <a:stretch>
            <a:fillRect/>
          </a:stretch>
        </p:blipFill>
        <p:spPr>
          <a:xfrm>
            <a:off x="1273028" y="5305532"/>
            <a:ext cx="361737" cy="361737"/>
          </a:xfrm>
          <a:prstGeom prst="rect">
            <a:avLst/>
          </a:prstGeom>
        </p:spPr>
      </p:pic>
      <p:sp>
        <p:nvSpPr>
          <p:cNvPr id="17" name="Text 12"/>
          <p:cNvSpPr/>
          <p:nvPr/>
        </p:nvSpPr>
        <p:spPr>
          <a:xfrm>
            <a:off x="2057400" y="5001768"/>
            <a:ext cx="4937760" cy="365760"/>
          </a:xfrm>
          <a:prstGeom prst="rect">
            <a:avLst/>
          </a:prstGeom>
          <a:noFill/>
          <a:ln/>
        </p:spPr>
        <p:txBody>
          <a:bodyPr wrap="square" lIns="0" tIns="0" rIns="0" bIns="0" rtlCol="0" anchor="ctr"/>
          <a:lstStyle/>
          <a:p>
            <a:pPr marL="0" indent="0">
              <a:buNone/>
            </a:pPr>
            <a:r>
              <a:rPr lang="en-US" sz="1550" b="1" dirty="0">
                <a:solidFill>
                  <a:srgbClr val="1D1D1F"/>
                </a:solidFill>
                <a:latin typeface="Arial" pitchFamily="34" charset="0"/>
                <a:ea typeface="Arial" pitchFamily="34" charset="-122"/>
                <a:cs typeface="Arial" pitchFamily="34" charset="-120"/>
              </a:rPr>
              <a:t>Used in Gaming, VR &amp; Simulation</a:t>
            </a:r>
            <a:endParaRPr lang="en-US" sz="1550" dirty="0"/>
          </a:p>
        </p:txBody>
      </p:sp>
      <p:sp>
        <p:nvSpPr>
          <p:cNvPr id="18" name="Text 13"/>
          <p:cNvSpPr/>
          <p:nvPr/>
        </p:nvSpPr>
        <p:spPr>
          <a:xfrm>
            <a:off x="2057400" y="5385816"/>
            <a:ext cx="4937760" cy="594360"/>
          </a:xfrm>
          <a:prstGeom prst="rect">
            <a:avLst/>
          </a:prstGeom>
          <a:noFill/>
          <a:ln/>
        </p:spPr>
        <p:txBody>
          <a:bodyPr wrap="square" lIns="0" tIns="0" rIns="0" bIns="0" rtlCol="0" anchor="ctr"/>
          <a:lstStyle/>
          <a:p>
            <a:pPr marL="0" indent="0">
              <a:lnSpc>
                <a:spcPct val="115000"/>
              </a:lnSpc>
              <a:buNone/>
            </a:pPr>
            <a:r>
              <a:rPr lang="en-US" sz="1150" dirty="0">
                <a:solidFill>
                  <a:srgbClr val="6E6E73"/>
                </a:solidFill>
                <a:latin typeface="Arial" pitchFamily="34" charset="0"/>
                <a:ea typeface="Arial" pitchFamily="34" charset="-122"/>
                <a:cs typeface="Arial" pitchFamily="34" charset="-120"/>
              </a:rPr>
              <a:t>From game engines to flight simulators, physics makes virtual worlds feel real.</a:t>
            </a:r>
            <a:endParaRPr lang="en-US" sz="1150" dirty="0"/>
          </a:p>
        </p:txBody>
      </p:sp>
      <p:sp>
        <p:nvSpPr>
          <p:cNvPr id="19" name="Shape 14" hidden="1"/>
          <p:cNvSpPr/>
          <p:nvPr/>
        </p:nvSpPr>
        <p:spPr>
          <a:xfrm>
            <a:off x="7406640" y="1874520"/>
            <a:ext cx="3931920" cy="4434840"/>
          </a:xfrm>
          <a:prstGeom prst="roundRect">
            <a:avLst>
              <a:gd name="adj" fmla="val 3721"/>
            </a:avLst>
          </a:prstGeom>
          <a:solidFill>
            <a:srgbClr val="FFFFFF"/>
          </a:solidFill>
          <a:ln/>
          <a:effectLst>
            <a:outerShdw blurRad="127000" dist="38100" dir="5400000" algn="bl" rotWithShape="0">
              <a:srgbClr val="8E8E93">
                <a:alpha val="22000"/>
              </a:srgbClr>
            </a:outerShdw>
          </a:effectLst>
        </p:spPr>
      </p:sp>
      <p:sp>
        <p:nvSpPr>
          <p:cNvPr id="20" name="Text 15"/>
          <p:cNvSpPr/>
          <p:nvPr/>
        </p:nvSpPr>
        <p:spPr>
          <a:xfrm>
            <a:off x="8021893" y="1696509"/>
            <a:ext cx="3383280" cy="274320"/>
          </a:xfrm>
          <a:prstGeom prst="rect">
            <a:avLst/>
          </a:prstGeom>
          <a:noFill/>
          <a:ln/>
        </p:spPr>
        <p:txBody>
          <a:bodyPr wrap="square" lIns="0" tIns="0" rIns="0" bIns="0" rtlCol="0" anchor="ctr"/>
          <a:lstStyle/>
          <a:p>
            <a:pPr marL="0" indent="0">
              <a:buNone/>
            </a:pPr>
            <a:r>
              <a:rPr lang="en-US" sz="1050" b="1" kern="0" spc="150" dirty="0">
                <a:solidFill>
                  <a:srgbClr val="007AFF"/>
                </a:solidFill>
                <a:latin typeface="Arial" pitchFamily="34" charset="0"/>
                <a:ea typeface="Arial" pitchFamily="34" charset="-122"/>
                <a:cs typeface="Arial" pitchFamily="34" charset="-120"/>
              </a:rPr>
              <a:t>SIMULATED TRAJECTORY</a:t>
            </a:r>
            <a:endParaRPr lang="en-US" sz="1050" dirty="0"/>
          </a:p>
        </p:txBody>
      </p:sp>
      <p:sp>
        <p:nvSpPr>
          <p:cNvPr id="29" name="Text 23"/>
          <p:cNvSpPr/>
          <p:nvPr/>
        </p:nvSpPr>
        <p:spPr>
          <a:xfrm>
            <a:off x="8007882" y="5633384"/>
            <a:ext cx="3383280" cy="548640"/>
          </a:xfrm>
          <a:prstGeom prst="rect">
            <a:avLst/>
          </a:prstGeom>
          <a:noFill/>
          <a:ln/>
        </p:spPr>
        <p:txBody>
          <a:bodyPr wrap="square" lIns="0" tIns="0" rIns="0" bIns="0" rtlCol="0" anchor="ctr"/>
          <a:lstStyle/>
          <a:p>
            <a:pPr marL="0" indent="0" algn="ctr">
              <a:buNone/>
            </a:pPr>
            <a:r>
              <a:rPr lang="en-US" sz="1050" i="1" dirty="0">
                <a:solidFill>
                  <a:srgbClr val="6E6E73"/>
                </a:solidFill>
                <a:latin typeface="Arial" pitchFamily="34" charset="0"/>
                <a:ea typeface="Arial" pitchFamily="34" charset="-122"/>
                <a:cs typeface="Arial" pitchFamily="34" charset="-120"/>
              </a:rPr>
              <a:t>Physics governs every bounce, beam, and shadow rendered on screen.</a:t>
            </a:r>
            <a:endParaRPr lang="en-US" sz="1050" dirty="0"/>
          </a:p>
        </p:txBody>
      </p:sp>
      <p:sp>
        <p:nvSpPr>
          <p:cNvPr id="30" name="Text 24"/>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b="1" dirty="0">
                <a:solidFill>
                  <a:srgbClr val="AEAEB2"/>
                </a:solidFill>
                <a:latin typeface="Arial" pitchFamily="34" charset="0"/>
                <a:ea typeface="Arial" pitchFamily="34" charset="-122"/>
                <a:cs typeface="Arial" pitchFamily="34" charset="-120"/>
              </a:rPr>
              <a:t>05</a:t>
            </a:r>
            <a:endParaRPr lang="en-US" sz="1000" dirty="0"/>
          </a:p>
        </p:txBody>
      </p:sp>
      <p:sp>
        <p:nvSpPr>
          <p:cNvPr id="31" name="Text 25"/>
          <p:cNvSpPr/>
          <p:nvPr/>
        </p:nvSpPr>
        <p:spPr>
          <a:xfrm>
            <a:off x="548640" y="6473952"/>
            <a:ext cx="2743200" cy="274320"/>
          </a:xfrm>
          <a:prstGeom prst="rect">
            <a:avLst/>
          </a:prstGeom>
          <a:noFill/>
          <a:ln/>
        </p:spPr>
        <p:txBody>
          <a:bodyPr wrap="square" lIns="0" tIns="0" rIns="0" bIns="0" rtlCol="0" anchor="ctr"/>
          <a:lstStyle/>
          <a:p>
            <a:pPr marL="0" indent="0" algn="l">
              <a:buNone/>
            </a:pPr>
            <a:r>
              <a:rPr lang="en-US" sz="900" b="1" kern="0" spc="150" dirty="0">
                <a:solidFill>
                  <a:srgbClr val="AEAEB2"/>
                </a:solidFill>
                <a:latin typeface="Arial" pitchFamily="34" charset="0"/>
                <a:ea typeface="Arial" pitchFamily="34" charset="-122"/>
                <a:cs typeface="Arial" pitchFamily="34" charset="-120"/>
              </a:rPr>
              <a:t>PHYSICS IN CSE</a:t>
            </a:r>
            <a:endParaRPr lang="en-US" sz="900" dirty="0"/>
          </a:p>
        </p:txBody>
      </p:sp>
      <p:pic>
        <p:nvPicPr>
          <p:cNvPr id="4098" name="Picture 2">
            <a:extLst>
              <a:ext uri="{FF2B5EF4-FFF2-40B4-BE49-F238E27FC236}">
                <a16:creationId xmlns:a16="http://schemas.microsoft.com/office/drawing/2014/main" id="{8F0AB4E9-937C-42B6-A699-84E610E82D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1347" y="2062017"/>
            <a:ext cx="3524373" cy="3524373"/>
          </a:xfrm>
          <a:prstGeom prst="roundRect">
            <a:avLst>
              <a:gd name="adj" fmla="val 9971"/>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66928"/>
            <a:ext cx="5486400" cy="320040"/>
          </a:xfrm>
          <a:prstGeom prst="rect">
            <a:avLst/>
          </a:prstGeom>
          <a:noFill/>
          <a:ln/>
        </p:spPr>
        <p:txBody>
          <a:bodyPr wrap="square" lIns="0" tIns="0" rIns="0" bIns="0" rtlCol="0" anchor="ctr"/>
          <a:lstStyle/>
          <a:p>
            <a:pPr marL="0" indent="0" algn="l">
              <a:buNone/>
            </a:pPr>
            <a:r>
              <a:rPr lang="en-US" sz="1200" b="1" kern="0" spc="200" dirty="0">
                <a:solidFill>
                  <a:srgbClr val="007AFF"/>
                </a:solidFill>
                <a:latin typeface="Arial" pitchFamily="34" charset="0"/>
                <a:ea typeface="Arial" pitchFamily="34" charset="-122"/>
                <a:cs typeface="Arial" pitchFamily="34" charset="-120"/>
              </a:rPr>
              <a:t>LOOKING AHEAD</a:t>
            </a:r>
            <a:endParaRPr lang="en-US" sz="1200" dirty="0"/>
          </a:p>
        </p:txBody>
      </p:sp>
      <p:sp>
        <p:nvSpPr>
          <p:cNvPr id="3" name="Text 1"/>
          <p:cNvSpPr/>
          <p:nvPr/>
        </p:nvSpPr>
        <p:spPr>
          <a:xfrm>
            <a:off x="777240" y="841248"/>
            <a:ext cx="7315200" cy="822960"/>
          </a:xfrm>
          <a:prstGeom prst="rect">
            <a:avLst/>
          </a:prstGeom>
          <a:noFill/>
          <a:ln/>
        </p:spPr>
        <p:txBody>
          <a:bodyPr wrap="square" lIns="0" tIns="0" rIns="0" bIns="0" rtlCol="0" anchor="ctr"/>
          <a:lstStyle/>
          <a:p>
            <a:pPr marL="0" indent="0" algn="l">
              <a:lnSpc>
                <a:spcPct val="102000"/>
              </a:lnSpc>
              <a:buNone/>
            </a:pPr>
            <a:r>
              <a:rPr lang="en-US" sz="3400" b="1" dirty="0">
                <a:solidFill>
                  <a:srgbClr val="1D1D1F"/>
                </a:solidFill>
                <a:latin typeface="Arial" pitchFamily="34" charset="0"/>
                <a:ea typeface="Arial" pitchFamily="34" charset="-122"/>
                <a:cs typeface="Arial" pitchFamily="34" charset="-120"/>
              </a:rPr>
              <a:t>Emerging Technologies</a:t>
            </a:r>
            <a:endParaRPr lang="en-US" sz="3400" dirty="0"/>
          </a:p>
        </p:txBody>
      </p:sp>
      <p:sp>
        <p:nvSpPr>
          <p:cNvPr id="4" name="Text 2"/>
          <p:cNvSpPr/>
          <p:nvPr/>
        </p:nvSpPr>
        <p:spPr>
          <a:xfrm>
            <a:off x="822960" y="1536192"/>
            <a:ext cx="7315200" cy="457200"/>
          </a:xfrm>
          <a:prstGeom prst="rect">
            <a:avLst/>
          </a:prstGeom>
          <a:noFill/>
          <a:ln/>
        </p:spPr>
        <p:txBody>
          <a:bodyPr wrap="square" lIns="0" tIns="0" rIns="0" bIns="0" rtlCol="0" anchor="ctr"/>
          <a:lstStyle/>
          <a:p>
            <a:pPr marL="0" indent="0">
              <a:buNone/>
            </a:pPr>
            <a:r>
              <a:rPr lang="en-US" sz="1350" dirty="0">
                <a:solidFill>
                  <a:srgbClr val="6E6E73"/>
                </a:solidFill>
                <a:latin typeface="Arial" pitchFamily="34" charset="0"/>
                <a:ea typeface="Arial" pitchFamily="34" charset="-122"/>
                <a:cs typeface="Arial" pitchFamily="34" charset="-120"/>
              </a:rPr>
              <a:t>The next generation of computing leans even more heavily on advanced physics.</a:t>
            </a:r>
            <a:endParaRPr lang="en-US" sz="1350" dirty="0"/>
          </a:p>
        </p:txBody>
      </p:sp>
      <p:sp>
        <p:nvSpPr>
          <p:cNvPr id="5" name="Shape 3"/>
          <p:cNvSpPr/>
          <p:nvPr/>
        </p:nvSpPr>
        <p:spPr>
          <a:xfrm>
            <a:off x="822960" y="2286000"/>
            <a:ext cx="3429000" cy="3977640"/>
          </a:xfrm>
          <a:prstGeom prst="roundRect">
            <a:avLst>
              <a:gd name="adj" fmla="val 4267"/>
            </a:avLst>
          </a:prstGeom>
          <a:solidFill>
            <a:srgbClr val="F5F5F7"/>
          </a:solidFill>
          <a:ln/>
          <a:effectLst>
            <a:outerShdw blurRad="127000" dist="38100" dir="5400000" algn="bl" rotWithShape="0">
              <a:srgbClr val="8E8E93">
                <a:alpha val="22000"/>
              </a:srgbClr>
            </a:outerShdw>
          </a:effectLst>
        </p:spPr>
      </p:sp>
      <p:sp>
        <p:nvSpPr>
          <p:cNvPr id="8" name="Text 5"/>
          <p:cNvSpPr/>
          <p:nvPr/>
        </p:nvSpPr>
        <p:spPr>
          <a:xfrm>
            <a:off x="1078992" y="4298565"/>
            <a:ext cx="2916936" cy="411480"/>
          </a:xfrm>
          <a:prstGeom prst="rect">
            <a:avLst/>
          </a:prstGeom>
          <a:noFill/>
          <a:ln/>
        </p:spPr>
        <p:txBody>
          <a:bodyPr wrap="square" lIns="0" tIns="0" rIns="0" bIns="0" rtlCol="0" anchor="ctr"/>
          <a:lstStyle/>
          <a:p>
            <a:pPr marL="0" indent="0" algn="ctr">
              <a:buNone/>
            </a:pPr>
            <a:r>
              <a:rPr lang="en-US" sz="1700" b="1" dirty="0">
                <a:solidFill>
                  <a:srgbClr val="1D1D1F"/>
                </a:solidFill>
                <a:latin typeface="Arial" pitchFamily="34" charset="0"/>
                <a:ea typeface="Arial" pitchFamily="34" charset="-122"/>
                <a:cs typeface="Arial" pitchFamily="34" charset="-120"/>
              </a:rPr>
              <a:t>Quantum Computing</a:t>
            </a:r>
            <a:endParaRPr lang="en-US" sz="1700" dirty="0"/>
          </a:p>
        </p:txBody>
      </p:sp>
      <p:sp>
        <p:nvSpPr>
          <p:cNvPr id="9" name="Text 6"/>
          <p:cNvSpPr/>
          <p:nvPr/>
        </p:nvSpPr>
        <p:spPr>
          <a:xfrm>
            <a:off x="1133856" y="4279392"/>
            <a:ext cx="2807208" cy="1737360"/>
          </a:xfrm>
          <a:prstGeom prst="rect">
            <a:avLst/>
          </a:prstGeom>
          <a:noFill/>
          <a:ln/>
        </p:spPr>
        <p:txBody>
          <a:bodyPr wrap="square" lIns="0" tIns="0" rIns="0" bIns="0" rtlCol="0" anchor="ctr"/>
          <a:lstStyle/>
          <a:p>
            <a:pPr marL="0" indent="0" algn="ctr">
              <a:lnSpc>
                <a:spcPct val="120000"/>
              </a:lnSpc>
              <a:buNone/>
            </a:pPr>
            <a:r>
              <a:rPr lang="en-US" sz="1150" dirty="0">
                <a:solidFill>
                  <a:srgbClr val="6E6E73"/>
                </a:solidFill>
                <a:latin typeface="Arial" pitchFamily="34" charset="0"/>
                <a:ea typeface="Arial" pitchFamily="34" charset="-122"/>
                <a:cs typeface="Arial" pitchFamily="34" charset="-120"/>
              </a:rPr>
              <a:t>Uses superposition and entanglement from quantum physics to process information in fundamentally new ways.</a:t>
            </a:r>
            <a:endParaRPr lang="en-US" sz="1150" dirty="0"/>
          </a:p>
        </p:txBody>
      </p:sp>
      <p:sp>
        <p:nvSpPr>
          <p:cNvPr id="10" name="Shape 7"/>
          <p:cNvSpPr/>
          <p:nvPr/>
        </p:nvSpPr>
        <p:spPr>
          <a:xfrm>
            <a:off x="4507992" y="2286000"/>
            <a:ext cx="3429000" cy="3977640"/>
          </a:xfrm>
          <a:prstGeom prst="roundRect">
            <a:avLst>
              <a:gd name="adj" fmla="val 4267"/>
            </a:avLst>
          </a:prstGeom>
          <a:solidFill>
            <a:srgbClr val="F5F5F7"/>
          </a:solidFill>
          <a:ln/>
          <a:effectLst>
            <a:outerShdw blurRad="127000" dist="38100" dir="5400000" algn="bl" rotWithShape="0">
              <a:srgbClr val="8E8E93">
                <a:alpha val="22000"/>
              </a:srgbClr>
            </a:outerShdw>
          </a:effectLst>
        </p:spPr>
      </p:sp>
      <p:sp>
        <p:nvSpPr>
          <p:cNvPr id="13" name="Text 9"/>
          <p:cNvSpPr/>
          <p:nvPr/>
        </p:nvSpPr>
        <p:spPr>
          <a:xfrm>
            <a:off x="4709160" y="4298565"/>
            <a:ext cx="2916936" cy="411480"/>
          </a:xfrm>
          <a:prstGeom prst="rect">
            <a:avLst/>
          </a:prstGeom>
          <a:noFill/>
          <a:ln/>
        </p:spPr>
        <p:txBody>
          <a:bodyPr wrap="square" lIns="0" tIns="0" rIns="0" bIns="0" rtlCol="0" anchor="ctr"/>
          <a:lstStyle/>
          <a:p>
            <a:pPr marL="0" indent="0" algn="ctr">
              <a:buNone/>
            </a:pPr>
            <a:r>
              <a:rPr lang="en-US" sz="1700" b="1" dirty="0">
                <a:solidFill>
                  <a:srgbClr val="1D1D1F"/>
                </a:solidFill>
                <a:latin typeface="Arial" pitchFamily="34" charset="0"/>
                <a:ea typeface="Arial" pitchFamily="34" charset="-122"/>
                <a:cs typeface="Arial" pitchFamily="34" charset="-120"/>
              </a:rPr>
              <a:t>Nanotechnology</a:t>
            </a:r>
            <a:endParaRPr lang="en-US" sz="1700" dirty="0"/>
          </a:p>
        </p:txBody>
      </p:sp>
      <p:sp>
        <p:nvSpPr>
          <p:cNvPr id="14" name="Text 10"/>
          <p:cNvSpPr/>
          <p:nvPr/>
        </p:nvSpPr>
        <p:spPr>
          <a:xfrm>
            <a:off x="4818888" y="4279392"/>
            <a:ext cx="2807208" cy="1737360"/>
          </a:xfrm>
          <a:prstGeom prst="rect">
            <a:avLst/>
          </a:prstGeom>
          <a:noFill/>
          <a:ln/>
        </p:spPr>
        <p:txBody>
          <a:bodyPr wrap="square" lIns="0" tIns="0" rIns="0" bIns="0" rtlCol="0" anchor="ctr"/>
          <a:lstStyle/>
          <a:p>
            <a:pPr marL="0" indent="0" algn="ctr">
              <a:lnSpc>
                <a:spcPct val="120000"/>
              </a:lnSpc>
              <a:buNone/>
            </a:pPr>
            <a:r>
              <a:rPr lang="en-US" sz="1150" dirty="0">
                <a:solidFill>
                  <a:srgbClr val="6E6E73"/>
                </a:solidFill>
                <a:latin typeface="Arial" pitchFamily="34" charset="0"/>
                <a:ea typeface="Arial" pitchFamily="34" charset="-122"/>
                <a:cs typeface="Arial" pitchFamily="34" charset="-120"/>
              </a:rPr>
              <a:t>Engineering at the atomic scale improves density, speed, and efficiency of computing devices.</a:t>
            </a:r>
            <a:endParaRPr lang="en-US" sz="1150" dirty="0"/>
          </a:p>
        </p:txBody>
      </p:sp>
      <p:sp>
        <p:nvSpPr>
          <p:cNvPr id="15" name="Shape 11"/>
          <p:cNvSpPr/>
          <p:nvPr/>
        </p:nvSpPr>
        <p:spPr>
          <a:xfrm>
            <a:off x="8193024" y="2286000"/>
            <a:ext cx="3429000" cy="3977640"/>
          </a:xfrm>
          <a:prstGeom prst="roundRect">
            <a:avLst>
              <a:gd name="adj" fmla="val 4267"/>
            </a:avLst>
          </a:prstGeom>
          <a:solidFill>
            <a:srgbClr val="F5F5F7"/>
          </a:solidFill>
          <a:ln/>
          <a:effectLst>
            <a:outerShdw blurRad="127000" dist="38100" dir="5400000" algn="bl" rotWithShape="0">
              <a:srgbClr val="8E8E93">
                <a:alpha val="22000"/>
              </a:srgbClr>
            </a:outerShdw>
          </a:effectLst>
        </p:spPr>
      </p:sp>
      <p:sp>
        <p:nvSpPr>
          <p:cNvPr id="18" name="Text 13"/>
          <p:cNvSpPr/>
          <p:nvPr/>
        </p:nvSpPr>
        <p:spPr>
          <a:xfrm>
            <a:off x="8394192" y="4298958"/>
            <a:ext cx="2916936" cy="411480"/>
          </a:xfrm>
          <a:prstGeom prst="rect">
            <a:avLst/>
          </a:prstGeom>
          <a:noFill/>
          <a:ln/>
        </p:spPr>
        <p:txBody>
          <a:bodyPr wrap="square" lIns="0" tIns="0" rIns="0" bIns="0" rtlCol="0" anchor="ctr"/>
          <a:lstStyle/>
          <a:p>
            <a:pPr marL="0" indent="0" algn="ctr">
              <a:buNone/>
            </a:pPr>
            <a:r>
              <a:rPr lang="en-US" sz="1700" b="1" dirty="0">
                <a:solidFill>
                  <a:srgbClr val="1D1D1F"/>
                </a:solidFill>
                <a:latin typeface="Arial" pitchFamily="34" charset="0"/>
                <a:ea typeface="Arial" pitchFamily="34" charset="-122"/>
                <a:cs typeface="Arial" pitchFamily="34" charset="-120"/>
              </a:rPr>
              <a:t>Photonics</a:t>
            </a:r>
            <a:endParaRPr lang="en-US" sz="1700" dirty="0"/>
          </a:p>
        </p:txBody>
      </p:sp>
      <p:sp>
        <p:nvSpPr>
          <p:cNvPr id="19" name="Text 14"/>
          <p:cNvSpPr/>
          <p:nvPr/>
        </p:nvSpPr>
        <p:spPr>
          <a:xfrm>
            <a:off x="8503920" y="4279392"/>
            <a:ext cx="2807208" cy="1737360"/>
          </a:xfrm>
          <a:prstGeom prst="rect">
            <a:avLst/>
          </a:prstGeom>
          <a:noFill/>
          <a:ln/>
        </p:spPr>
        <p:txBody>
          <a:bodyPr wrap="square" lIns="0" tIns="0" rIns="0" bIns="0" rtlCol="0" anchor="ctr"/>
          <a:lstStyle/>
          <a:p>
            <a:pPr marL="0" indent="0" algn="ctr">
              <a:lnSpc>
                <a:spcPct val="120000"/>
              </a:lnSpc>
              <a:buNone/>
            </a:pPr>
            <a:r>
              <a:rPr lang="en-US" sz="1150" dirty="0">
                <a:solidFill>
                  <a:srgbClr val="6E6E73"/>
                </a:solidFill>
                <a:latin typeface="Arial" pitchFamily="34" charset="0"/>
                <a:ea typeface="Arial" pitchFamily="34" charset="-122"/>
                <a:cs typeface="Arial" pitchFamily="34" charset="-120"/>
              </a:rPr>
              <a:t>Using light instead of electricity promises the next leap in high-speed computing.</a:t>
            </a:r>
            <a:endParaRPr lang="en-US" sz="1150" dirty="0"/>
          </a:p>
        </p:txBody>
      </p:sp>
      <p:sp>
        <p:nvSpPr>
          <p:cNvPr id="22" name="Text 17"/>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b="1" dirty="0">
                <a:solidFill>
                  <a:srgbClr val="AEAEB2"/>
                </a:solidFill>
                <a:latin typeface="Arial" pitchFamily="34" charset="0"/>
                <a:ea typeface="Arial" pitchFamily="34" charset="-122"/>
                <a:cs typeface="Arial" pitchFamily="34" charset="-120"/>
              </a:rPr>
              <a:t>06</a:t>
            </a:r>
            <a:endParaRPr lang="en-US" sz="1000" dirty="0"/>
          </a:p>
        </p:txBody>
      </p:sp>
      <p:sp>
        <p:nvSpPr>
          <p:cNvPr id="23" name="Text 18"/>
          <p:cNvSpPr/>
          <p:nvPr/>
        </p:nvSpPr>
        <p:spPr>
          <a:xfrm>
            <a:off x="548640" y="6473952"/>
            <a:ext cx="2743200" cy="274320"/>
          </a:xfrm>
          <a:prstGeom prst="rect">
            <a:avLst/>
          </a:prstGeom>
          <a:noFill/>
          <a:ln/>
        </p:spPr>
        <p:txBody>
          <a:bodyPr wrap="square" lIns="0" tIns="0" rIns="0" bIns="0" rtlCol="0" anchor="ctr"/>
          <a:lstStyle/>
          <a:p>
            <a:pPr marL="0" indent="0" algn="l">
              <a:buNone/>
            </a:pPr>
            <a:r>
              <a:rPr lang="en-US" sz="900" b="1" kern="0" spc="150" dirty="0">
                <a:solidFill>
                  <a:srgbClr val="AEAEB2"/>
                </a:solidFill>
                <a:latin typeface="Arial" pitchFamily="34" charset="0"/>
                <a:ea typeface="Arial" pitchFamily="34" charset="-122"/>
                <a:cs typeface="Arial" pitchFamily="34" charset="-120"/>
              </a:rPr>
              <a:t>PHYSICS IN CSE</a:t>
            </a:r>
            <a:endParaRPr lang="en-US" sz="900" dirty="0"/>
          </a:p>
        </p:txBody>
      </p:sp>
      <p:pic>
        <p:nvPicPr>
          <p:cNvPr id="5122" name="Picture 2" descr="The Future of Quantum Computing | Bernard Marr">
            <a:extLst>
              <a:ext uri="{FF2B5EF4-FFF2-40B4-BE49-F238E27FC236}">
                <a16:creationId xmlns:a16="http://schemas.microsoft.com/office/drawing/2014/main" id="{423ED8F5-D20A-4C2E-8B60-21B291A06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992" y="2578608"/>
            <a:ext cx="2916936" cy="1647874"/>
          </a:xfrm>
          <a:prstGeom prst="roundRect">
            <a:avLst/>
          </a:prstGeom>
          <a:noFill/>
          <a:extLst>
            <a:ext uri="{909E8E84-426E-40DD-AFC4-6F175D3DCCD1}">
              <a14:hiddenFill xmlns:a14="http://schemas.microsoft.com/office/drawing/2010/main">
                <a:solidFill>
                  <a:srgbClr val="FFFFFF"/>
                </a:solidFill>
              </a14:hiddenFill>
            </a:ext>
          </a:extLst>
        </p:spPr>
      </p:pic>
      <p:pic>
        <p:nvPicPr>
          <p:cNvPr id="5124" name="Picture 4" descr="Types of nanotechnology | Blog UE">
            <a:extLst>
              <a:ext uri="{FF2B5EF4-FFF2-40B4-BE49-F238E27FC236}">
                <a16:creationId xmlns:a16="http://schemas.microsoft.com/office/drawing/2014/main" id="{ED3C7C66-3A9E-4DC3-9448-692897071E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9327" y="2566353"/>
            <a:ext cx="2916937" cy="1708467"/>
          </a:xfrm>
          <a:prstGeom prst="roundRect">
            <a:avLst/>
          </a:prstGeom>
          <a:noFill/>
          <a:extLst>
            <a:ext uri="{909E8E84-426E-40DD-AFC4-6F175D3DCCD1}">
              <a14:hiddenFill xmlns:a14="http://schemas.microsoft.com/office/drawing/2010/main">
                <a:solidFill>
                  <a:srgbClr val="FFFFFF"/>
                </a:solidFill>
              </a14:hiddenFill>
            </a:ext>
          </a:extLst>
        </p:spPr>
      </p:pic>
      <p:pic>
        <p:nvPicPr>
          <p:cNvPr id="5126" name="Picture 6" descr="Photonic Integrated Circuits facilitate photonics on a chip | Helbling">
            <a:extLst>
              <a:ext uri="{FF2B5EF4-FFF2-40B4-BE49-F238E27FC236}">
                <a16:creationId xmlns:a16="http://schemas.microsoft.com/office/drawing/2014/main" id="{C6A5788B-9BE5-4D8B-97B1-0A83EAE9BB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3920" y="2590491"/>
            <a:ext cx="2807208" cy="1708467"/>
          </a:xfrm>
          <a:prstGeom prst="round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D1F"/>
        </a:solidFill>
        <a:effectLst/>
      </p:bgPr>
    </p:bg>
    <p:spTree>
      <p:nvGrpSpPr>
        <p:cNvPr id="1" name=""/>
        <p:cNvGrpSpPr/>
        <p:nvPr/>
      </p:nvGrpSpPr>
      <p:grpSpPr>
        <a:xfrm>
          <a:off x="0" y="0"/>
          <a:ext cx="0" cy="0"/>
          <a:chOff x="0" y="0"/>
          <a:chExt cx="0" cy="0"/>
        </a:xfrm>
      </p:grpSpPr>
      <p:sp>
        <p:nvSpPr>
          <p:cNvPr id="5" name="Text 3"/>
          <p:cNvSpPr/>
          <p:nvPr/>
        </p:nvSpPr>
        <p:spPr>
          <a:xfrm>
            <a:off x="822960" y="685800"/>
            <a:ext cx="5486400" cy="320040"/>
          </a:xfrm>
          <a:prstGeom prst="rect">
            <a:avLst/>
          </a:prstGeom>
          <a:noFill/>
          <a:ln/>
        </p:spPr>
        <p:txBody>
          <a:bodyPr wrap="square" lIns="0" tIns="0" rIns="0" bIns="0" rtlCol="0" anchor="ctr"/>
          <a:lstStyle/>
          <a:p>
            <a:pPr marL="0" indent="0" algn="l">
              <a:buNone/>
            </a:pPr>
            <a:r>
              <a:rPr lang="en-US" sz="1200" b="1" kern="0" spc="200" dirty="0">
                <a:solidFill>
                  <a:srgbClr val="007AFF"/>
                </a:solidFill>
                <a:latin typeface="Arial" pitchFamily="34" charset="0"/>
                <a:ea typeface="Arial" pitchFamily="34" charset="-122"/>
                <a:cs typeface="Arial" pitchFamily="34" charset="-120"/>
              </a:rPr>
              <a:t>CONCLUSION</a:t>
            </a:r>
            <a:endParaRPr lang="en-US" sz="1200" dirty="0"/>
          </a:p>
        </p:txBody>
      </p:sp>
      <p:sp>
        <p:nvSpPr>
          <p:cNvPr id="6" name="Text 4"/>
          <p:cNvSpPr/>
          <p:nvPr/>
        </p:nvSpPr>
        <p:spPr>
          <a:xfrm>
            <a:off x="777240" y="1051560"/>
            <a:ext cx="8686800" cy="137160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Arial" pitchFamily="34" charset="0"/>
                <a:ea typeface="Arial" pitchFamily="34" charset="-122"/>
                <a:cs typeface="Arial" pitchFamily="34" charset="-120"/>
              </a:rPr>
              <a:t>Physics Is the Foundation</a:t>
            </a:r>
            <a:endParaRPr lang="en-US" sz="3600" dirty="0"/>
          </a:p>
          <a:p>
            <a:pPr marL="0" indent="0">
              <a:lnSpc>
                <a:spcPct val="105000"/>
              </a:lnSpc>
              <a:buNone/>
            </a:pPr>
            <a:r>
              <a:rPr lang="en-US" sz="3600" b="1" dirty="0">
                <a:solidFill>
                  <a:srgbClr val="FFFFFF"/>
                </a:solidFill>
                <a:latin typeface="Arial" pitchFamily="34" charset="0"/>
                <a:ea typeface="Arial" pitchFamily="34" charset="-122"/>
                <a:cs typeface="Arial" pitchFamily="34" charset="-120"/>
              </a:rPr>
              <a:t>of Computer Science</a:t>
            </a:r>
            <a:endParaRPr lang="en-US" sz="3600" dirty="0"/>
          </a:p>
        </p:txBody>
      </p:sp>
      <p:sp>
        <p:nvSpPr>
          <p:cNvPr id="7" name="Text 5"/>
          <p:cNvSpPr/>
          <p:nvPr/>
        </p:nvSpPr>
        <p:spPr>
          <a:xfrm>
            <a:off x="822960" y="2331720"/>
            <a:ext cx="7863840" cy="640080"/>
          </a:xfrm>
          <a:prstGeom prst="rect">
            <a:avLst/>
          </a:prstGeom>
          <a:noFill/>
          <a:ln/>
        </p:spPr>
        <p:txBody>
          <a:bodyPr wrap="square" lIns="0" tIns="0" rIns="0" bIns="0" rtlCol="0" anchor="ctr"/>
          <a:lstStyle/>
          <a:p>
            <a:pPr marL="0" indent="0">
              <a:lnSpc>
                <a:spcPct val="120000"/>
              </a:lnSpc>
              <a:buNone/>
            </a:pPr>
            <a:r>
              <a:rPr lang="en-US" sz="1350" i="1" dirty="0">
                <a:solidFill>
                  <a:srgbClr val="AEAEB2"/>
                </a:solidFill>
                <a:latin typeface="Arial" pitchFamily="34" charset="0"/>
                <a:ea typeface="Arial" pitchFamily="34" charset="-122"/>
                <a:cs typeface="Arial" pitchFamily="34" charset="-120"/>
              </a:rPr>
              <a:t>From the transistors in a chip to the light in a fiber-optic cable, physics is not background theory — it is the working foundation CSE is built on.</a:t>
            </a:r>
            <a:endParaRPr lang="en-US" sz="1350" dirty="0"/>
          </a:p>
        </p:txBody>
      </p:sp>
      <p:sp>
        <p:nvSpPr>
          <p:cNvPr id="8" name="Shape 6"/>
          <p:cNvSpPr/>
          <p:nvPr/>
        </p:nvSpPr>
        <p:spPr>
          <a:xfrm>
            <a:off x="822960" y="3246120"/>
            <a:ext cx="3429000" cy="2514600"/>
          </a:xfrm>
          <a:prstGeom prst="roundRect">
            <a:avLst>
              <a:gd name="adj" fmla="val 5818"/>
            </a:avLst>
          </a:prstGeom>
          <a:solidFill>
            <a:srgbClr val="2C2C2E"/>
          </a:solidFill>
          <a:ln/>
        </p:spPr>
      </p:sp>
      <p:sp>
        <p:nvSpPr>
          <p:cNvPr id="9" name="Shape 7"/>
          <p:cNvSpPr/>
          <p:nvPr/>
        </p:nvSpPr>
        <p:spPr>
          <a:xfrm>
            <a:off x="1097280" y="3538728"/>
            <a:ext cx="731520" cy="731520"/>
          </a:xfrm>
          <a:prstGeom prst="ellipse">
            <a:avLst/>
          </a:prstGeom>
          <a:solidFill>
            <a:srgbClr val="3A3A3C"/>
          </a:solidFill>
          <a:ln/>
        </p:spPr>
      </p:sp>
      <p:pic>
        <p:nvPicPr>
          <p:cNvPr id="10" name="Image 0" descr="/home/claude/deck/icons/check_blue.png"/>
          <p:cNvPicPr>
            <a:picLocks noChangeAspect="1"/>
          </p:cNvPicPr>
          <p:nvPr/>
        </p:nvPicPr>
        <p:blipFill>
          <a:blip r:embed="rId3"/>
          <a:stretch>
            <a:fillRect/>
          </a:stretch>
        </p:blipFill>
        <p:spPr>
          <a:xfrm>
            <a:off x="1294790" y="3736238"/>
            <a:ext cx="336499" cy="336499"/>
          </a:xfrm>
          <a:prstGeom prst="rect">
            <a:avLst/>
          </a:prstGeom>
        </p:spPr>
      </p:pic>
      <p:sp>
        <p:nvSpPr>
          <p:cNvPr id="11" name="Text 8"/>
          <p:cNvSpPr/>
          <p:nvPr/>
        </p:nvSpPr>
        <p:spPr>
          <a:xfrm>
            <a:off x="1097280" y="4416552"/>
            <a:ext cx="2880360" cy="502920"/>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Arial" pitchFamily="34" charset="0"/>
                <a:ea typeface="Arial" pitchFamily="34" charset="-122"/>
                <a:cs typeface="Arial" pitchFamily="34" charset="-120"/>
              </a:rPr>
              <a:t>A Fundamental Part of CSE</a:t>
            </a:r>
            <a:endParaRPr lang="en-US" sz="1450" dirty="0"/>
          </a:p>
        </p:txBody>
      </p:sp>
      <p:sp>
        <p:nvSpPr>
          <p:cNvPr id="12" name="Text 9"/>
          <p:cNvSpPr/>
          <p:nvPr/>
        </p:nvSpPr>
        <p:spPr>
          <a:xfrm>
            <a:off x="1097280" y="4910328"/>
            <a:ext cx="2880360" cy="777240"/>
          </a:xfrm>
          <a:prstGeom prst="rect">
            <a:avLst/>
          </a:prstGeom>
          <a:noFill/>
          <a:ln/>
        </p:spPr>
        <p:txBody>
          <a:bodyPr wrap="square" lIns="0" tIns="0" rIns="0" bIns="0" rtlCol="0" anchor="ctr"/>
          <a:lstStyle/>
          <a:p>
            <a:pPr marL="0" indent="0">
              <a:lnSpc>
                <a:spcPct val="115000"/>
              </a:lnSpc>
              <a:buNone/>
            </a:pPr>
            <a:r>
              <a:rPr lang="en-US" sz="1100" dirty="0">
                <a:solidFill>
                  <a:srgbClr val="AEAEB2"/>
                </a:solidFill>
                <a:latin typeface="Arial" pitchFamily="34" charset="0"/>
                <a:ea typeface="Arial" pitchFamily="34" charset="-122"/>
                <a:cs typeface="Arial" pitchFamily="34" charset="-120"/>
              </a:rPr>
              <a:t>Physics is not optional background — it is core to how computing works.</a:t>
            </a:r>
            <a:endParaRPr lang="en-US" sz="1100" dirty="0"/>
          </a:p>
        </p:txBody>
      </p:sp>
      <p:sp>
        <p:nvSpPr>
          <p:cNvPr id="13" name="Shape 10"/>
          <p:cNvSpPr/>
          <p:nvPr/>
        </p:nvSpPr>
        <p:spPr>
          <a:xfrm>
            <a:off x="4507992" y="3246120"/>
            <a:ext cx="3429000" cy="2514600"/>
          </a:xfrm>
          <a:prstGeom prst="roundRect">
            <a:avLst>
              <a:gd name="adj" fmla="val 5818"/>
            </a:avLst>
          </a:prstGeom>
          <a:solidFill>
            <a:srgbClr val="2C2C2E"/>
          </a:solidFill>
          <a:ln/>
        </p:spPr>
      </p:sp>
      <p:sp>
        <p:nvSpPr>
          <p:cNvPr id="14" name="Shape 11"/>
          <p:cNvSpPr/>
          <p:nvPr/>
        </p:nvSpPr>
        <p:spPr>
          <a:xfrm>
            <a:off x="4782312" y="3538728"/>
            <a:ext cx="731520" cy="731520"/>
          </a:xfrm>
          <a:prstGeom prst="ellipse">
            <a:avLst/>
          </a:prstGeom>
          <a:solidFill>
            <a:srgbClr val="3A3A3C"/>
          </a:solidFill>
          <a:ln/>
        </p:spPr>
      </p:sp>
      <p:pic>
        <p:nvPicPr>
          <p:cNvPr id="15" name="Image 1" descr="/home/claude/deck/icons/link_blue.png"/>
          <p:cNvPicPr>
            <a:picLocks noChangeAspect="1"/>
          </p:cNvPicPr>
          <p:nvPr/>
        </p:nvPicPr>
        <p:blipFill>
          <a:blip r:embed="rId4"/>
          <a:stretch>
            <a:fillRect/>
          </a:stretch>
        </p:blipFill>
        <p:spPr>
          <a:xfrm>
            <a:off x="4979822" y="3736238"/>
            <a:ext cx="336499" cy="336499"/>
          </a:xfrm>
          <a:prstGeom prst="rect">
            <a:avLst/>
          </a:prstGeom>
        </p:spPr>
      </p:pic>
      <p:sp>
        <p:nvSpPr>
          <p:cNvPr id="16" name="Text 12"/>
          <p:cNvSpPr/>
          <p:nvPr/>
        </p:nvSpPr>
        <p:spPr>
          <a:xfrm>
            <a:off x="4782312" y="4416552"/>
            <a:ext cx="2880360" cy="502920"/>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Arial" pitchFamily="34" charset="0"/>
                <a:ea typeface="Arial" pitchFamily="34" charset="-122"/>
                <a:cs typeface="Arial" pitchFamily="34" charset="-120"/>
              </a:rPr>
              <a:t>Connects Hardware, Software &amp; the Future</a:t>
            </a:r>
            <a:endParaRPr lang="en-US" sz="1450" dirty="0"/>
          </a:p>
        </p:txBody>
      </p:sp>
      <p:sp>
        <p:nvSpPr>
          <p:cNvPr id="17" name="Text 13"/>
          <p:cNvSpPr/>
          <p:nvPr/>
        </p:nvSpPr>
        <p:spPr>
          <a:xfrm>
            <a:off x="4782312" y="4910328"/>
            <a:ext cx="2880360" cy="777240"/>
          </a:xfrm>
          <a:prstGeom prst="rect">
            <a:avLst/>
          </a:prstGeom>
          <a:noFill/>
          <a:ln/>
        </p:spPr>
        <p:txBody>
          <a:bodyPr wrap="square" lIns="0" tIns="0" rIns="0" bIns="0" rtlCol="0" anchor="ctr"/>
          <a:lstStyle/>
          <a:p>
            <a:pPr marL="0" indent="0">
              <a:lnSpc>
                <a:spcPct val="115000"/>
              </a:lnSpc>
              <a:buNone/>
            </a:pPr>
            <a:r>
              <a:rPr lang="en-US" sz="1100" dirty="0">
                <a:solidFill>
                  <a:srgbClr val="AEAEB2"/>
                </a:solidFill>
                <a:latin typeface="Arial" pitchFamily="34" charset="0"/>
                <a:ea typeface="Arial" pitchFamily="34" charset="-122"/>
                <a:cs typeface="Arial" pitchFamily="34" charset="-120"/>
              </a:rPr>
              <a:t>It links circuits, networks, graphics, and next-generation technologies.</a:t>
            </a:r>
            <a:endParaRPr lang="en-US" sz="1100" dirty="0"/>
          </a:p>
        </p:txBody>
      </p:sp>
      <p:sp>
        <p:nvSpPr>
          <p:cNvPr id="18" name="Shape 14"/>
          <p:cNvSpPr/>
          <p:nvPr/>
        </p:nvSpPr>
        <p:spPr>
          <a:xfrm>
            <a:off x="8193024" y="3246120"/>
            <a:ext cx="3429000" cy="2514600"/>
          </a:xfrm>
          <a:prstGeom prst="roundRect">
            <a:avLst>
              <a:gd name="adj" fmla="val 5818"/>
            </a:avLst>
          </a:prstGeom>
          <a:solidFill>
            <a:srgbClr val="2C2C2E"/>
          </a:solidFill>
          <a:ln/>
        </p:spPr>
      </p:sp>
      <p:sp>
        <p:nvSpPr>
          <p:cNvPr id="19" name="Shape 15"/>
          <p:cNvSpPr/>
          <p:nvPr/>
        </p:nvSpPr>
        <p:spPr>
          <a:xfrm>
            <a:off x="8467344" y="3538728"/>
            <a:ext cx="731520" cy="731520"/>
          </a:xfrm>
          <a:prstGeom prst="ellipse">
            <a:avLst/>
          </a:prstGeom>
          <a:solidFill>
            <a:srgbClr val="3A3A3C"/>
          </a:solidFill>
          <a:ln/>
        </p:spPr>
      </p:sp>
      <p:pic>
        <p:nvPicPr>
          <p:cNvPr id="20" name="Image 2" descr="/home/claude/deck/icons/trend_blue.png"/>
          <p:cNvPicPr>
            <a:picLocks noChangeAspect="1"/>
          </p:cNvPicPr>
          <p:nvPr/>
        </p:nvPicPr>
        <p:blipFill>
          <a:blip r:embed="rId5"/>
          <a:stretch>
            <a:fillRect/>
          </a:stretch>
        </p:blipFill>
        <p:spPr>
          <a:xfrm>
            <a:off x="8664854" y="3736238"/>
            <a:ext cx="336499" cy="336499"/>
          </a:xfrm>
          <a:prstGeom prst="rect">
            <a:avLst/>
          </a:prstGeom>
        </p:spPr>
      </p:pic>
      <p:sp>
        <p:nvSpPr>
          <p:cNvPr id="21" name="Text 16"/>
          <p:cNvSpPr/>
          <p:nvPr/>
        </p:nvSpPr>
        <p:spPr>
          <a:xfrm>
            <a:off x="8467344" y="4416552"/>
            <a:ext cx="2880360" cy="502920"/>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Arial" pitchFamily="34" charset="0"/>
                <a:ea typeface="Arial" pitchFamily="34" charset="-122"/>
                <a:cs typeface="Arial" pitchFamily="34" charset="-120"/>
              </a:rPr>
              <a:t>Enables Better Engineering</a:t>
            </a:r>
            <a:endParaRPr lang="en-US" sz="1450" dirty="0"/>
          </a:p>
        </p:txBody>
      </p:sp>
      <p:sp>
        <p:nvSpPr>
          <p:cNvPr id="22" name="Text 17"/>
          <p:cNvSpPr/>
          <p:nvPr/>
        </p:nvSpPr>
        <p:spPr>
          <a:xfrm>
            <a:off x="8467344" y="4910328"/>
            <a:ext cx="2880360" cy="777240"/>
          </a:xfrm>
          <a:prstGeom prst="rect">
            <a:avLst/>
          </a:prstGeom>
          <a:noFill/>
          <a:ln/>
        </p:spPr>
        <p:txBody>
          <a:bodyPr wrap="square" lIns="0" tIns="0" rIns="0" bIns="0" rtlCol="0" anchor="ctr"/>
          <a:lstStyle/>
          <a:p>
            <a:pPr marL="0" indent="0">
              <a:lnSpc>
                <a:spcPct val="115000"/>
              </a:lnSpc>
              <a:buNone/>
            </a:pPr>
            <a:r>
              <a:rPr lang="en-US" sz="1100" dirty="0">
                <a:solidFill>
                  <a:srgbClr val="AEAEB2"/>
                </a:solidFill>
                <a:latin typeface="Arial" pitchFamily="34" charset="0"/>
                <a:ea typeface="Arial" pitchFamily="34" charset="-122"/>
                <a:cs typeface="Arial" pitchFamily="34" charset="-120"/>
              </a:rPr>
              <a:t>Understanding physics helps engineers design faster, smarter systems.</a:t>
            </a:r>
            <a:endParaRPr lang="en-US" sz="1100" dirty="0"/>
          </a:p>
        </p:txBody>
      </p:sp>
      <p:sp>
        <p:nvSpPr>
          <p:cNvPr id="23" name="Text 18"/>
          <p:cNvSpPr/>
          <p:nvPr/>
        </p:nvSpPr>
        <p:spPr>
          <a:xfrm>
            <a:off x="822960" y="5989320"/>
            <a:ext cx="5486400" cy="457200"/>
          </a:xfrm>
          <a:prstGeom prst="rect">
            <a:avLst/>
          </a:prstGeom>
          <a:noFill/>
          <a:ln/>
        </p:spPr>
        <p:txBody>
          <a:bodyPr wrap="square" lIns="0" tIns="0" rIns="0" bIns="0" rtlCol="0" anchor="ctr"/>
          <a:lstStyle/>
          <a:p>
            <a:pPr marL="0" indent="0">
              <a:buNone/>
            </a:pPr>
            <a:endParaRPr lang="en-US" sz="1600" dirty="0"/>
          </a:p>
        </p:txBody>
      </p:sp>
      <p:sp>
        <p:nvSpPr>
          <p:cNvPr id="24" name="Text 19"/>
          <p:cNvSpPr/>
          <p:nvPr/>
        </p:nvSpPr>
        <p:spPr>
          <a:xfrm>
            <a:off x="11475720" y="6473952"/>
            <a:ext cx="548640" cy="274320"/>
          </a:xfrm>
          <a:prstGeom prst="rect">
            <a:avLst/>
          </a:prstGeom>
          <a:noFill/>
          <a:ln/>
        </p:spPr>
        <p:txBody>
          <a:bodyPr wrap="square" lIns="0" tIns="0" rIns="0" bIns="0" rtlCol="0" anchor="ctr"/>
          <a:lstStyle/>
          <a:p>
            <a:pPr marL="0" indent="0" algn="r">
              <a:buNone/>
            </a:pPr>
            <a:r>
              <a:rPr lang="en-US" sz="1000" b="1" dirty="0">
                <a:solidFill>
                  <a:srgbClr val="8E8E93"/>
                </a:solidFill>
                <a:latin typeface="Arial" pitchFamily="34" charset="0"/>
                <a:ea typeface="Arial" pitchFamily="34" charset="-122"/>
                <a:cs typeface="Arial" pitchFamily="34" charset="-120"/>
              </a:rPr>
              <a:t>07</a:t>
            </a:r>
            <a:endParaRPr lang="en-US" sz="1000" dirty="0"/>
          </a:p>
        </p:txBody>
      </p:sp>
      <p:sp>
        <p:nvSpPr>
          <p:cNvPr id="25" name="Text 20"/>
          <p:cNvSpPr/>
          <p:nvPr/>
        </p:nvSpPr>
        <p:spPr>
          <a:xfrm>
            <a:off x="548640" y="6473952"/>
            <a:ext cx="2743200" cy="274320"/>
          </a:xfrm>
          <a:prstGeom prst="rect">
            <a:avLst/>
          </a:prstGeom>
          <a:noFill/>
          <a:ln/>
        </p:spPr>
        <p:txBody>
          <a:bodyPr wrap="square" lIns="0" tIns="0" rIns="0" bIns="0" rtlCol="0" anchor="ctr"/>
          <a:lstStyle/>
          <a:p>
            <a:pPr marL="0" indent="0" algn="l">
              <a:buNone/>
            </a:pPr>
            <a:r>
              <a:rPr lang="en-US" sz="900" b="1" kern="0" spc="150" dirty="0">
                <a:solidFill>
                  <a:srgbClr val="8E8E93"/>
                </a:solidFill>
                <a:latin typeface="Arial" pitchFamily="34" charset="0"/>
                <a:ea typeface="Arial" pitchFamily="34" charset="-122"/>
                <a:cs typeface="Arial" pitchFamily="34" charset="-120"/>
              </a:rPr>
              <a:t>PHYSICS IN CSE</a:t>
            </a:r>
            <a:endParaRPr lang="en-US" sz="900" dirty="0"/>
          </a:p>
        </p:txBody>
      </p:sp>
      <p:sp>
        <p:nvSpPr>
          <p:cNvPr id="37" name="AutoShape 4" descr="AI just discovered new physics in the fourth state of matter | ScienceDaily">
            <a:extLst>
              <a:ext uri="{FF2B5EF4-FFF2-40B4-BE49-F238E27FC236}">
                <a16:creationId xmlns:a16="http://schemas.microsoft.com/office/drawing/2014/main" id="{4010C5DC-EFB8-4438-8039-85528BD4B2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50" name="Picture 6">
            <a:extLst>
              <a:ext uri="{FF2B5EF4-FFF2-40B4-BE49-F238E27FC236}">
                <a16:creationId xmlns:a16="http://schemas.microsoft.com/office/drawing/2014/main" id="{110B9C5F-9EC7-4D32-B2A1-A67B20F9C6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559926">
            <a:off x="8523277" y="-67403"/>
            <a:ext cx="4325494" cy="24324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18"/>
          <p:cNvSpPr/>
          <p:nvPr/>
        </p:nvSpPr>
        <p:spPr>
          <a:xfrm>
            <a:off x="3349318" y="1606781"/>
            <a:ext cx="5493364" cy="1871381"/>
          </a:xfrm>
          <a:prstGeom prst="rect">
            <a:avLst/>
          </a:prstGeom>
          <a:noFill/>
          <a:ln/>
        </p:spPr>
        <p:txBody>
          <a:bodyPr wrap="square" lIns="0" tIns="0" rIns="0" bIns="0" rtlCol="0" anchor="ctr"/>
          <a:lstStyle/>
          <a:p>
            <a:pPr marL="0" indent="0" algn="ctr">
              <a:buNone/>
            </a:pPr>
            <a:r>
              <a:rPr lang="en-US" sz="6600" b="1" dirty="0">
                <a:solidFill>
                  <a:srgbClr val="007AFF"/>
                </a:solidFill>
                <a:latin typeface="Arial" pitchFamily="34" charset="0"/>
                <a:ea typeface="Arial" pitchFamily="34" charset="-122"/>
                <a:cs typeface="Arial" pitchFamily="34" charset="-120"/>
              </a:rPr>
              <a:t>Thank You</a:t>
            </a:r>
            <a:endParaRPr lang="en-US" sz="6600" dirty="0"/>
          </a:p>
        </p:txBody>
      </p:sp>
      <p:sp>
        <p:nvSpPr>
          <p:cNvPr id="26" name="TextBox 25">
            <a:extLst>
              <a:ext uri="{FF2B5EF4-FFF2-40B4-BE49-F238E27FC236}">
                <a16:creationId xmlns:a16="http://schemas.microsoft.com/office/drawing/2014/main" id="{75F0A620-5B1F-42BE-84E2-9F511453322E}"/>
              </a:ext>
            </a:extLst>
          </p:cNvPr>
          <p:cNvSpPr txBox="1"/>
          <p:nvPr/>
        </p:nvSpPr>
        <p:spPr>
          <a:xfrm>
            <a:off x="4298950" y="4452610"/>
            <a:ext cx="3594100" cy="523220"/>
          </a:xfrm>
          <a:prstGeom prst="rect">
            <a:avLst/>
          </a:prstGeom>
          <a:noFill/>
        </p:spPr>
        <p:txBody>
          <a:bodyPr wrap="square" rtlCol="0">
            <a:spAutoFit/>
          </a:bodyPr>
          <a:lstStyle/>
          <a:p>
            <a:pPr algn="ctr"/>
            <a:r>
              <a:rPr lang="en-US" sz="2800" dirty="0">
                <a:latin typeface="Bahnschrift SemiLight Condensed" panose="020B0502040204020203" pitchFamily="34" charset="0"/>
              </a:rPr>
              <a:t>Any Question ?</a:t>
            </a:r>
          </a:p>
        </p:txBody>
      </p:sp>
      <p:pic>
        <p:nvPicPr>
          <p:cNvPr id="7170" name="Picture 2" descr="235,200+ Physics Stock Photos, Pictures &amp; Royalty-Free Images - iStock">
            <a:extLst>
              <a:ext uri="{FF2B5EF4-FFF2-40B4-BE49-F238E27FC236}">
                <a16:creationId xmlns:a16="http://schemas.microsoft.com/office/drawing/2014/main" id="{B3CD4234-1862-4784-AE03-3E52E84F71BB}"/>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5219273" y="2963567"/>
            <a:ext cx="1753453" cy="1315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4862560"/>
      </p:ext>
    </p:extLst>
  </p:cSld>
  <p:clrMapOvr>
    <a:masterClrMapping/>
  </p:clrMapOvr>
  <p:transition spd="slow">
    <p:fade/>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209</TotalTime>
  <Words>948</Words>
  <Application>Microsoft Office PowerPoint</Application>
  <PresentationFormat>Widescreen</PresentationFormat>
  <Paragraphs>112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Bahnschrift SemiLight Condensed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 Max</cp:lastModifiedBy>
  <cp:revision>23</cp:revision>
  <dcterms:created xsi:type="dcterms:W3CDTF">2026-07-14T11:32:29Z</dcterms:created>
  <dcterms:modified xsi:type="dcterms:W3CDTF">2026-07-14T15:18:19Z</dcterms:modified>
</cp:coreProperties>
</file>