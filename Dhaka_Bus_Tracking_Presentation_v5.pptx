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1"/>
  </p:notesMasterIdLst>
  <p:sldIdLst>
    <p:sldId id="256" r:id="rId2"/>
    <p:sldId id="257" r:id="rId3"/>
    <p:sldId id="258" r:id="rId4"/>
    <p:sldId id="259" r:id="rId5"/>
    <p:sldId id="260" r:id="rId6"/>
    <p:sldId id="264" r:id="rId7"/>
    <p:sldId id="261" r:id="rId8"/>
    <p:sldId id="262" r:id="rId9"/>
    <p:sldId id="263" r:id="rId10"/>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p:scale>
          <a:sx n="400" d="100"/>
          <a:sy n="400" d="100"/>
        </p:scale>
        <p:origin x="-16392" y="-215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09968548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everyone. My topic is a live bus tracking system for Dhaka using GPS. It is a technology-based idea to make public bus travel easier for passengers.</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day, a large number of people in Dhaka depend on public buses. The main problem is that passengers do not know where the bus is or when it will come. This means long waiting and uncertainty, which can make people late for work or class.</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My solution has four parts. First, we install GPS devices in buses. Second, the location is sent through mobile internet. Third, a cloud server processes the data. Finally, a mobile app shows the live bus location and the estimated arrival time to passengers.</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technologies used. GPS finds the location. IoT connects the device to the network. The mobile app shows information to passengers. Cloud computing stores and processes the data, and mobile internet sends it. AI is optional and can help predict the arrival time.</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full flow. The bus moves on its route. The GPS device finds its location. The data goes through mobile internet to a cloud server. The server processes it and calculates the arrival time. The mobile app shows this to the passenger, who can then plan the journey.</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main benefit is that passengers can see the live bus location, so waiting time is reduced and they can plan their journey better. Bus operators can monitor buses more easily. The collected data can also be useful for transportation planning, and the whole system becomes more organized.</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idea has limits. There is a cost for devices, maintenance and internet. Bus operators need to cooperate. Traffic can affect arrival time accuracy, and GPS is not always perfectly accurate. We must also protect privacy and data, and remember that not everyone has a smartphone or internet access.</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conclude: GPS and IoT collect live location data, cloud computing processes it, and a mobile app shows it to passengers. Together they can make bus travel in Dhaka more organized and less stressful. Thank you. I am happy to answer questions.</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https://en.wikipedia.org/wiki/Computer_science_and_engineering" TargetMode="External"/><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1.jpeg"/></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xml"/><Relationship Id="rId5" Type="http://schemas.openxmlformats.org/officeDocument/2006/relationships/image" Target="../media/image4.png"/><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8" Type="http://schemas.openxmlformats.org/officeDocument/2006/relationships/image" Target="../media/image10.png"/><Relationship Id="rId3" Type="http://schemas.openxmlformats.org/officeDocument/2006/relationships/image" Target="../media/image5.png"/><Relationship Id="rId7" Type="http://schemas.openxmlformats.org/officeDocument/2006/relationships/image" Target="../media/image9.png"/><Relationship Id="rId2" Type="http://schemas.openxmlformats.org/officeDocument/2006/relationships/notesSlide" Target="../notesSlides/notesSlide3.xml"/><Relationship Id="rId1" Type="http://schemas.openxmlformats.org/officeDocument/2006/relationships/slideLayout" Target="../slideLayouts/slideLayout1.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6.png"/></Relationships>
</file>

<file path=ppt/slides/_rels/slide4.xml.rels><?xml version="1.0" encoding="UTF-8" standalone="yes"?>
<Relationships xmlns="http://schemas.openxmlformats.org/package/2006/relationships"><Relationship Id="rId8" Type="http://schemas.openxmlformats.org/officeDocument/2006/relationships/image" Target="../media/image12.png"/><Relationship Id="rId3" Type="http://schemas.openxmlformats.org/officeDocument/2006/relationships/image" Target="../media/image5.png"/><Relationship Id="rId7" Type="http://schemas.openxmlformats.org/officeDocument/2006/relationships/image" Target="../media/image6.png"/><Relationship Id="rId2" Type="http://schemas.openxmlformats.org/officeDocument/2006/relationships/notesSlide" Target="../notesSlides/notesSlide4.xml"/><Relationship Id="rId1" Type="http://schemas.openxmlformats.org/officeDocument/2006/relationships/slideLayout" Target="../slideLayouts/slideLayout1.xml"/><Relationship Id="rId6" Type="http://schemas.openxmlformats.org/officeDocument/2006/relationships/image" Target="../media/image7.png"/><Relationship Id="rId5" Type="http://schemas.openxmlformats.org/officeDocument/2006/relationships/image" Target="../media/image8.png"/><Relationship Id="rId4" Type="http://schemas.openxmlformats.org/officeDocument/2006/relationships/image" Target="../media/image11.png"/></Relationships>
</file>

<file path=ppt/slides/_rels/slide5.xml.rels><?xml version="1.0" encoding="UTF-8" standalone="yes"?>
<Relationships xmlns="http://schemas.openxmlformats.org/package/2006/relationships"><Relationship Id="rId8" Type="http://schemas.openxmlformats.org/officeDocument/2006/relationships/image" Target="../media/image15.png"/><Relationship Id="rId3" Type="http://schemas.openxmlformats.org/officeDocument/2006/relationships/image" Target="../media/image13.png"/><Relationship Id="rId7" Type="http://schemas.openxmlformats.org/officeDocument/2006/relationships/image" Target="../media/image8.png"/><Relationship Id="rId2" Type="http://schemas.openxmlformats.org/officeDocument/2006/relationships/notesSlide" Target="../notesSlides/notesSlide5.xml"/><Relationship Id="rId1" Type="http://schemas.openxmlformats.org/officeDocument/2006/relationships/slideLayout" Target="../slideLayouts/slideLayout1.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14.png"/><Relationship Id="rId9" Type="http://schemas.openxmlformats.org/officeDocument/2006/relationships/image" Target="../media/image10.png"/></Relationships>
</file>

<file path=ppt/slides/_rels/slide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8" Type="http://schemas.openxmlformats.org/officeDocument/2006/relationships/image" Target="../media/image21.png"/><Relationship Id="rId3" Type="http://schemas.openxmlformats.org/officeDocument/2006/relationships/image" Target="../media/image16.png"/><Relationship Id="rId7" Type="http://schemas.openxmlformats.org/officeDocument/2006/relationships/image" Target="../media/image20.png"/><Relationship Id="rId2" Type="http://schemas.openxmlformats.org/officeDocument/2006/relationships/notesSlide" Target="../notesSlides/notesSlide6.xml"/><Relationship Id="rId1" Type="http://schemas.openxmlformats.org/officeDocument/2006/relationships/slideLayout" Target="../slideLayouts/slideLayout1.xml"/><Relationship Id="rId6" Type="http://schemas.openxmlformats.org/officeDocument/2006/relationships/image" Target="../media/image19.png"/><Relationship Id="rId5" Type="http://schemas.openxmlformats.org/officeDocument/2006/relationships/image" Target="../media/image18.png"/><Relationship Id="rId4" Type="http://schemas.openxmlformats.org/officeDocument/2006/relationships/image" Target="../media/image17.png"/></Relationships>
</file>

<file path=ppt/slides/_rels/slide8.xml.rels><?xml version="1.0" encoding="UTF-8" standalone="yes"?>
<Relationships xmlns="http://schemas.openxmlformats.org/package/2006/relationships"><Relationship Id="rId8" Type="http://schemas.openxmlformats.org/officeDocument/2006/relationships/image" Target="../media/image26.png"/><Relationship Id="rId3" Type="http://schemas.openxmlformats.org/officeDocument/2006/relationships/image" Target="../media/image22.png"/><Relationship Id="rId7" Type="http://schemas.openxmlformats.org/officeDocument/2006/relationships/image" Target="../media/image25.png"/><Relationship Id="rId2" Type="http://schemas.openxmlformats.org/officeDocument/2006/relationships/notesSlide" Target="../notesSlides/notesSlide7.xml"/><Relationship Id="rId1" Type="http://schemas.openxmlformats.org/officeDocument/2006/relationships/slideLayout" Target="../slideLayouts/slideLayout1.xml"/><Relationship Id="rId6" Type="http://schemas.openxmlformats.org/officeDocument/2006/relationships/image" Target="../media/image24.png"/><Relationship Id="rId5" Type="http://schemas.openxmlformats.org/officeDocument/2006/relationships/image" Target="../media/image23.png"/><Relationship Id="rId4" Type="http://schemas.openxmlformats.org/officeDocument/2006/relationships/image" Target="../media/image6.png"/><Relationship Id="rId9" Type="http://schemas.openxmlformats.org/officeDocument/2006/relationships/image" Target="../media/image8.png"/></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EA5F0C"/>
        </a:solidFill>
        <a:effectLst/>
      </p:bgPr>
    </p:bg>
    <p:spTree>
      <p:nvGrpSpPr>
        <p:cNvPr id="1" name=""/>
        <p:cNvGrpSpPr/>
        <p:nvPr/>
      </p:nvGrpSpPr>
      <p:grpSpPr>
        <a:xfrm>
          <a:off x="0" y="0"/>
          <a:ext cx="0" cy="0"/>
          <a:chOff x="0" y="0"/>
          <a:chExt cx="0" cy="0"/>
        </a:xfrm>
      </p:grpSpPr>
      <p:sp>
        <p:nvSpPr>
          <p:cNvPr id="3" name="Text 0"/>
          <p:cNvSpPr txBox="1"/>
          <p:nvPr/>
        </p:nvSpPr>
        <p:spPr>
          <a:xfrm>
            <a:off x="640080" y="1828800"/>
            <a:ext cx="7863840" cy="1188720"/>
          </a:xfrm>
          <a:prstGeom prst="rect">
            <a:avLst/>
          </a:prstGeom>
          <a:noFill/>
          <a:ln/>
        </p:spPr>
        <p:txBody>
          <a:bodyPr wrap="square" lIns="0" tIns="0" rIns="0" bIns="0" rtlCol="0" anchor="t"/>
          <a:lstStyle/>
          <a:p>
            <a:pPr marL="0" indent="0">
              <a:buNone/>
            </a:pPr>
            <a:r>
              <a:rPr lang="en-US" sz="3600" b="1" dirty="0">
                <a:solidFill>
                  <a:srgbClr val="FFFFFF"/>
                </a:solidFill>
                <a:latin typeface="Calibri" pitchFamily="34" charset="0"/>
                <a:ea typeface="Calibri" pitchFamily="34" charset="-122"/>
                <a:cs typeface="Calibri" pitchFamily="34" charset="-120"/>
              </a:rPr>
              <a:t>Dhaka Public Bus Live </a:t>
            </a:r>
          </a:p>
          <a:p>
            <a:pPr marL="0" indent="0">
              <a:buNone/>
            </a:pPr>
            <a:r>
              <a:rPr lang="en-US" sz="3600" b="1" dirty="0">
                <a:solidFill>
                  <a:srgbClr val="FFFFFF"/>
                </a:solidFill>
                <a:latin typeface="Calibri" pitchFamily="34" charset="0"/>
                <a:ea typeface="Calibri" pitchFamily="34" charset="-122"/>
                <a:cs typeface="Calibri" pitchFamily="34" charset="-120"/>
              </a:rPr>
              <a:t>Tracking System Using GPS</a:t>
            </a:r>
            <a:endParaRPr lang="en-US" sz="3600" dirty="0"/>
          </a:p>
        </p:txBody>
      </p:sp>
      <p:sp>
        <p:nvSpPr>
          <p:cNvPr id="4" name="Text 1"/>
          <p:cNvSpPr txBox="1"/>
          <p:nvPr/>
        </p:nvSpPr>
        <p:spPr>
          <a:xfrm>
            <a:off x="640080" y="3200400"/>
            <a:ext cx="7863840" cy="457200"/>
          </a:xfrm>
          <a:prstGeom prst="rect">
            <a:avLst/>
          </a:prstGeom>
          <a:noFill/>
          <a:ln/>
        </p:spPr>
        <p:txBody>
          <a:bodyPr wrap="square" lIns="0" tIns="0" rIns="0" bIns="0" rtlCol="0" anchor="t"/>
          <a:lstStyle/>
          <a:p>
            <a:pPr marL="0" indent="0">
              <a:buNone/>
            </a:pPr>
            <a:r>
              <a:rPr lang="en-US" sz="2000" dirty="0">
                <a:solidFill>
                  <a:srgbClr val="FFF1E6"/>
                </a:solidFill>
                <a:latin typeface="Calibri" pitchFamily="34" charset="0"/>
                <a:ea typeface="Calibri" pitchFamily="34" charset="-122"/>
                <a:cs typeface="Calibri" pitchFamily="34" charset="-120"/>
              </a:rPr>
              <a:t>A Technology-Based Solution for Public Transportation</a:t>
            </a:r>
            <a:endParaRPr lang="en-US" sz="2000" dirty="0"/>
          </a:p>
        </p:txBody>
      </p:sp>
      <p:sp>
        <p:nvSpPr>
          <p:cNvPr id="6" name="TextBox 5">
            <a:extLst>
              <a:ext uri="{FF2B5EF4-FFF2-40B4-BE49-F238E27FC236}">
                <a16:creationId xmlns:a16="http://schemas.microsoft.com/office/drawing/2014/main" id="{B15D57DA-8F90-42B0-8825-17C3C3BD56DF}"/>
              </a:ext>
            </a:extLst>
          </p:cNvPr>
          <p:cNvSpPr txBox="1"/>
          <p:nvPr/>
        </p:nvSpPr>
        <p:spPr>
          <a:xfrm>
            <a:off x="420914" y="4064000"/>
            <a:ext cx="3164115" cy="830997"/>
          </a:xfrm>
          <a:prstGeom prst="rect">
            <a:avLst/>
          </a:prstGeom>
          <a:noFill/>
        </p:spPr>
        <p:txBody>
          <a:bodyPr wrap="square" rtlCol="0">
            <a:spAutoFit/>
          </a:bodyPr>
          <a:lstStyle/>
          <a:p>
            <a:r>
              <a:rPr lang="en-US" sz="1600" b="1" dirty="0" err="1">
                <a:solidFill>
                  <a:schemeClr val="bg1"/>
                </a:solidFill>
                <a:cs typeface="Anek Bangla" pitchFamily="2" charset="0"/>
              </a:rPr>
              <a:t>Sakhawat</a:t>
            </a:r>
            <a:r>
              <a:rPr lang="en-US" sz="1600" b="1" dirty="0">
                <a:solidFill>
                  <a:schemeClr val="bg1"/>
                </a:solidFill>
                <a:cs typeface="Anek Bangla" pitchFamily="2" charset="0"/>
              </a:rPr>
              <a:t> Hossain </a:t>
            </a:r>
          </a:p>
          <a:p>
            <a:r>
              <a:rPr lang="en-US" sz="1600" b="1" dirty="0">
                <a:solidFill>
                  <a:schemeClr val="bg1"/>
                </a:solidFill>
                <a:cs typeface="Anek Bangla" pitchFamily="2" charset="0"/>
              </a:rPr>
              <a:t>73A/5226 </a:t>
            </a:r>
          </a:p>
          <a:p>
            <a:r>
              <a:rPr lang="en-US" sz="1600" b="1" u="sng" strike="noStrike" dirty="0">
                <a:solidFill>
                  <a:schemeClr val="bg1"/>
                </a:solidFill>
                <a:effectLst/>
                <a:cs typeface="Anek Bangla" pitchFamily="2" charset="0"/>
                <a:hlinkClick r:id="rId3">
                  <a:extLst>
                    <a:ext uri="{A12FA001-AC4F-418D-AE19-62706E023703}">
                      <ahyp:hlinkClr xmlns:ahyp="http://schemas.microsoft.com/office/drawing/2018/hyperlinkcolor" val="tx"/>
                    </a:ext>
                  </a:extLst>
                </a:hlinkClick>
              </a:rPr>
              <a:t>Computer Science and Engineering</a:t>
            </a:r>
            <a:endParaRPr lang="en-US" sz="1600" b="1" dirty="0">
              <a:solidFill>
                <a:schemeClr val="bg1"/>
              </a:solidFill>
              <a:cs typeface="Anek Bangla" pitchFamily="2" charset="0"/>
            </a:endParaRPr>
          </a:p>
        </p:txBody>
      </p:sp>
      <p:sp>
        <p:nvSpPr>
          <p:cNvPr id="7" name="TextBox 6">
            <a:extLst>
              <a:ext uri="{FF2B5EF4-FFF2-40B4-BE49-F238E27FC236}">
                <a16:creationId xmlns:a16="http://schemas.microsoft.com/office/drawing/2014/main" id="{12817C77-B3D1-456D-8B4F-8E298BDE0336}"/>
              </a:ext>
            </a:extLst>
          </p:cNvPr>
          <p:cNvSpPr txBox="1"/>
          <p:nvPr/>
        </p:nvSpPr>
        <p:spPr>
          <a:xfrm>
            <a:off x="6190343" y="3940890"/>
            <a:ext cx="2953657" cy="954107"/>
          </a:xfrm>
          <a:prstGeom prst="rect">
            <a:avLst/>
          </a:prstGeom>
          <a:noFill/>
        </p:spPr>
        <p:txBody>
          <a:bodyPr wrap="square" rtlCol="0">
            <a:spAutoFit/>
          </a:bodyPr>
          <a:lstStyle/>
          <a:p>
            <a:pPr algn="l"/>
            <a:r>
              <a:rPr lang="en-US" sz="1400" b="1" i="0" dirty="0" err="1">
                <a:solidFill>
                  <a:schemeClr val="bg1"/>
                </a:solidFill>
                <a:effectLst/>
              </a:rPr>
              <a:t>Kazi</a:t>
            </a:r>
            <a:r>
              <a:rPr lang="en-US" sz="1400" b="1" i="0" dirty="0">
                <a:solidFill>
                  <a:schemeClr val="bg1"/>
                </a:solidFill>
                <a:effectLst/>
              </a:rPr>
              <a:t> H. Robin</a:t>
            </a:r>
          </a:p>
          <a:p>
            <a:pPr algn="l"/>
            <a:r>
              <a:rPr lang="en-US" sz="1400" b="1" i="0" dirty="0">
                <a:solidFill>
                  <a:schemeClr val="bg1"/>
                </a:solidFill>
                <a:effectLst/>
              </a:rPr>
              <a:t>Associate Professor, MSc UEL</a:t>
            </a:r>
          </a:p>
          <a:p>
            <a:pPr algn="l"/>
            <a:r>
              <a:rPr lang="en-US" sz="1400" b="1" i="0" dirty="0">
                <a:solidFill>
                  <a:schemeClr val="bg1"/>
                </a:solidFill>
                <a:effectLst/>
              </a:rPr>
              <a:t>Associate Professor, Department of Computer Science &amp; Engineering</a:t>
            </a:r>
          </a:p>
        </p:txBody>
      </p:sp>
      <p:pic>
        <p:nvPicPr>
          <p:cNvPr id="1026" name="Picture 2" descr="Best GPS Tracker in Bangladesh">
            <a:extLst>
              <a:ext uri="{FF2B5EF4-FFF2-40B4-BE49-F238E27FC236}">
                <a16:creationId xmlns:a16="http://schemas.microsoft.com/office/drawing/2014/main" id="{3B127F5C-95F6-434E-B27A-664126C120A7}"/>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968937" y="-91440"/>
            <a:ext cx="4356488" cy="2034540"/>
          </a:xfrm>
          <a:prstGeom prst="roundRect">
            <a:avLst/>
          </a:prstGeom>
          <a:noFill/>
          <a:effectLst>
            <a:outerShdw blurRad="342900" dir="1800000" sx="102000" sy="102000" algn="ctr" rotWithShape="0">
              <a:schemeClr val="accent2">
                <a:lumMod val="40000"/>
                <a:lumOff val="60000"/>
                <a:alpha val="29000"/>
              </a:schemeClr>
            </a:outerShdw>
          </a:effectLst>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65760"/>
            <a:ext cx="8046720" cy="640080"/>
          </a:xfrm>
          <a:prstGeom prst="rect">
            <a:avLst/>
          </a:prstGeom>
          <a:noFill/>
          <a:ln/>
        </p:spPr>
        <p:txBody>
          <a:bodyPr wrap="square" lIns="0" tIns="0" rIns="0" bIns="0" rtlCol="0" anchor="ctr"/>
          <a:lstStyle/>
          <a:p>
            <a:pPr marL="0" indent="0">
              <a:buNone/>
            </a:pPr>
            <a:r>
              <a:rPr lang="en-US" sz="2800" b="1" dirty="0">
                <a:solidFill>
                  <a:srgbClr val="1F2933"/>
                </a:solidFill>
                <a:latin typeface="Calibri" pitchFamily="34" charset="0"/>
                <a:ea typeface="Calibri" pitchFamily="34" charset="-122"/>
                <a:cs typeface="Calibri" pitchFamily="34" charset="-120"/>
              </a:rPr>
              <a:t>Introduction and Problem</a:t>
            </a:r>
            <a:endParaRPr lang="en-US" sz="2800" dirty="0"/>
          </a:p>
        </p:txBody>
      </p:sp>
      <p:sp>
        <p:nvSpPr>
          <p:cNvPr id="3" name="Shape 1"/>
          <p:cNvSpPr/>
          <p:nvPr/>
        </p:nvSpPr>
        <p:spPr>
          <a:xfrm>
            <a:off x="548640" y="1371600"/>
            <a:ext cx="2560320" cy="3108960"/>
          </a:xfrm>
          <a:prstGeom prst="roundRect">
            <a:avLst>
              <a:gd name="adj" fmla="val 4286"/>
            </a:avLst>
          </a:prstGeom>
          <a:solidFill>
            <a:srgbClr val="FFF1E6"/>
          </a:solidFill>
          <a:ln w="12700">
            <a:solidFill>
              <a:srgbClr val="FFF1E6"/>
            </a:solidFill>
            <a:prstDash val="solid"/>
          </a:ln>
          <a:effectLst>
            <a:outerShdw blurRad="76200" dist="25400" dir="5400000" algn="bl" rotWithShape="0">
              <a:srgbClr val="000000">
                <a:alpha val="12000"/>
              </a:srgbClr>
            </a:outerShdw>
          </a:effectLst>
        </p:spPr>
      </p:sp>
      <p:pic>
        <p:nvPicPr>
          <p:cNvPr id="4" name="Image 0" descr="preencoded.png"/>
          <p:cNvPicPr>
            <a:picLocks noChangeAspect="1"/>
          </p:cNvPicPr>
          <p:nvPr/>
        </p:nvPicPr>
        <p:blipFill>
          <a:blip r:embed="rId3"/>
          <a:stretch>
            <a:fillRect/>
          </a:stretch>
        </p:blipFill>
        <p:spPr>
          <a:xfrm>
            <a:off x="777240" y="1600200"/>
            <a:ext cx="640080" cy="640080"/>
          </a:xfrm>
          <a:prstGeom prst="rect">
            <a:avLst/>
          </a:prstGeom>
        </p:spPr>
      </p:pic>
      <p:sp>
        <p:nvSpPr>
          <p:cNvPr id="5" name="Text 2"/>
          <p:cNvSpPr txBox="1"/>
          <p:nvPr/>
        </p:nvSpPr>
        <p:spPr>
          <a:xfrm>
            <a:off x="777240" y="2468880"/>
            <a:ext cx="2103120" cy="365760"/>
          </a:xfrm>
          <a:prstGeom prst="rect">
            <a:avLst/>
          </a:prstGeom>
          <a:noFill/>
          <a:ln/>
        </p:spPr>
        <p:txBody>
          <a:bodyPr wrap="square" lIns="0" tIns="0" rIns="0" bIns="0" rtlCol="0" anchor="t"/>
          <a:lstStyle/>
          <a:p>
            <a:pPr marL="0" indent="0">
              <a:buNone/>
            </a:pPr>
            <a:r>
              <a:rPr lang="en-US" sz="1800" b="1" dirty="0">
                <a:solidFill>
                  <a:srgbClr val="1F2933"/>
                </a:solidFill>
                <a:latin typeface="Calibri" pitchFamily="34" charset="0"/>
                <a:ea typeface="Calibri" pitchFamily="34" charset="-122"/>
                <a:cs typeface="Calibri" pitchFamily="34" charset="-120"/>
              </a:rPr>
              <a:t>Many passengers</a:t>
            </a:r>
            <a:endParaRPr lang="en-US" sz="1800" dirty="0"/>
          </a:p>
        </p:txBody>
      </p:sp>
      <p:sp>
        <p:nvSpPr>
          <p:cNvPr id="6" name="Text 3"/>
          <p:cNvSpPr txBox="1"/>
          <p:nvPr/>
        </p:nvSpPr>
        <p:spPr>
          <a:xfrm>
            <a:off x="777240" y="2926080"/>
            <a:ext cx="2103120" cy="1371600"/>
          </a:xfrm>
          <a:prstGeom prst="rect">
            <a:avLst/>
          </a:prstGeom>
          <a:noFill/>
          <a:ln/>
        </p:spPr>
        <p:txBody>
          <a:bodyPr wrap="square" lIns="0" tIns="0" rIns="0" bIns="0" rtlCol="0" anchor="t"/>
          <a:lstStyle/>
          <a:p>
            <a:pPr marL="0" indent="0">
              <a:buNone/>
            </a:pPr>
            <a:r>
              <a:rPr lang="en-US" sz="1500" dirty="0">
                <a:solidFill>
                  <a:srgbClr val="3D4852"/>
                </a:solidFill>
                <a:latin typeface="Calibri" pitchFamily="34" charset="0"/>
                <a:ea typeface="Calibri" pitchFamily="34" charset="-122"/>
                <a:cs typeface="Calibri" pitchFamily="34" charset="-120"/>
              </a:rPr>
              <a:t>Dhaka has a large number of daily public bus passengers.</a:t>
            </a:r>
            <a:endParaRPr lang="en-US" sz="1500" dirty="0"/>
          </a:p>
        </p:txBody>
      </p:sp>
      <p:sp>
        <p:nvSpPr>
          <p:cNvPr id="7" name="Shape 4"/>
          <p:cNvSpPr/>
          <p:nvPr/>
        </p:nvSpPr>
        <p:spPr>
          <a:xfrm>
            <a:off x="3291840" y="1371600"/>
            <a:ext cx="2560320" cy="3108960"/>
          </a:xfrm>
          <a:prstGeom prst="roundRect">
            <a:avLst>
              <a:gd name="adj" fmla="val 4286"/>
            </a:avLst>
          </a:prstGeom>
          <a:solidFill>
            <a:srgbClr val="FFF1E6"/>
          </a:solidFill>
          <a:ln w="12700">
            <a:solidFill>
              <a:srgbClr val="FFF1E6"/>
            </a:solidFill>
            <a:prstDash val="solid"/>
          </a:ln>
          <a:effectLst>
            <a:outerShdw blurRad="76200" dist="25400" dir="5400000" algn="bl" rotWithShape="0">
              <a:srgbClr val="000000">
                <a:alpha val="12000"/>
              </a:srgbClr>
            </a:outerShdw>
          </a:effectLst>
        </p:spPr>
      </p:sp>
      <p:pic>
        <p:nvPicPr>
          <p:cNvPr id="8" name="Image 1" descr="preencoded.png"/>
          <p:cNvPicPr>
            <a:picLocks noChangeAspect="1"/>
          </p:cNvPicPr>
          <p:nvPr/>
        </p:nvPicPr>
        <p:blipFill>
          <a:blip r:embed="rId4"/>
          <a:stretch>
            <a:fillRect/>
          </a:stretch>
        </p:blipFill>
        <p:spPr>
          <a:xfrm>
            <a:off x="3520440" y="1600200"/>
            <a:ext cx="640080" cy="640080"/>
          </a:xfrm>
          <a:prstGeom prst="rect">
            <a:avLst/>
          </a:prstGeom>
        </p:spPr>
      </p:pic>
      <p:sp>
        <p:nvSpPr>
          <p:cNvPr id="9" name="Text 5"/>
          <p:cNvSpPr txBox="1"/>
          <p:nvPr/>
        </p:nvSpPr>
        <p:spPr>
          <a:xfrm>
            <a:off x="3520440" y="2468880"/>
            <a:ext cx="2103120" cy="365760"/>
          </a:xfrm>
          <a:prstGeom prst="rect">
            <a:avLst/>
          </a:prstGeom>
          <a:noFill/>
          <a:ln/>
        </p:spPr>
        <p:txBody>
          <a:bodyPr wrap="square" lIns="0" tIns="0" rIns="0" bIns="0" rtlCol="0" anchor="t"/>
          <a:lstStyle/>
          <a:p>
            <a:pPr marL="0" indent="0">
              <a:buNone/>
            </a:pPr>
            <a:r>
              <a:rPr lang="en-US" sz="1800" b="1" dirty="0">
                <a:solidFill>
                  <a:srgbClr val="1F2933"/>
                </a:solidFill>
                <a:latin typeface="Calibri" pitchFamily="34" charset="0"/>
                <a:ea typeface="Calibri" pitchFamily="34" charset="-122"/>
                <a:cs typeface="Calibri" pitchFamily="34" charset="-120"/>
              </a:rPr>
              <a:t>Uncertainty</a:t>
            </a:r>
            <a:endParaRPr lang="en-US" sz="1800" dirty="0"/>
          </a:p>
        </p:txBody>
      </p:sp>
      <p:sp>
        <p:nvSpPr>
          <p:cNvPr id="10" name="Text 6"/>
          <p:cNvSpPr txBox="1"/>
          <p:nvPr/>
        </p:nvSpPr>
        <p:spPr>
          <a:xfrm>
            <a:off x="3520440" y="2926080"/>
            <a:ext cx="2103120" cy="1371600"/>
          </a:xfrm>
          <a:prstGeom prst="rect">
            <a:avLst/>
          </a:prstGeom>
          <a:noFill/>
          <a:ln/>
        </p:spPr>
        <p:txBody>
          <a:bodyPr wrap="square" lIns="0" tIns="0" rIns="0" bIns="0" rtlCol="0" anchor="t"/>
          <a:lstStyle/>
          <a:p>
            <a:pPr marL="0" indent="0">
              <a:buNone/>
            </a:pPr>
            <a:r>
              <a:rPr lang="en-US" sz="1500" dirty="0">
                <a:solidFill>
                  <a:srgbClr val="3D4852"/>
                </a:solidFill>
                <a:latin typeface="Calibri" pitchFamily="34" charset="0"/>
                <a:ea typeface="Calibri" pitchFamily="34" charset="-122"/>
                <a:cs typeface="Calibri" pitchFamily="34" charset="-120"/>
              </a:rPr>
              <a:t>Passengers often do not know where a bus is or when it will arrive.</a:t>
            </a:r>
            <a:endParaRPr lang="en-US" sz="1500" dirty="0"/>
          </a:p>
        </p:txBody>
      </p:sp>
      <p:sp>
        <p:nvSpPr>
          <p:cNvPr id="11" name="Shape 7"/>
          <p:cNvSpPr/>
          <p:nvPr/>
        </p:nvSpPr>
        <p:spPr>
          <a:xfrm>
            <a:off x="6035040" y="1371600"/>
            <a:ext cx="2560320" cy="3108960"/>
          </a:xfrm>
          <a:prstGeom prst="roundRect">
            <a:avLst>
              <a:gd name="adj" fmla="val 4286"/>
            </a:avLst>
          </a:prstGeom>
          <a:solidFill>
            <a:srgbClr val="FFF1E6"/>
          </a:solidFill>
          <a:ln w="12700">
            <a:solidFill>
              <a:srgbClr val="FFF1E6"/>
            </a:solidFill>
            <a:prstDash val="solid"/>
          </a:ln>
          <a:effectLst>
            <a:outerShdw blurRad="76200" dist="25400" dir="5400000" algn="bl" rotWithShape="0">
              <a:srgbClr val="000000">
                <a:alpha val="12000"/>
              </a:srgbClr>
            </a:outerShdw>
          </a:effectLst>
        </p:spPr>
      </p:sp>
      <p:pic>
        <p:nvPicPr>
          <p:cNvPr id="12" name="Image 2" descr="preencoded.png"/>
          <p:cNvPicPr>
            <a:picLocks noChangeAspect="1"/>
          </p:cNvPicPr>
          <p:nvPr/>
        </p:nvPicPr>
        <p:blipFill>
          <a:blip r:embed="rId5"/>
          <a:stretch>
            <a:fillRect/>
          </a:stretch>
        </p:blipFill>
        <p:spPr>
          <a:xfrm>
            <a:off x="6263640" y="1600200"/>
            <a:ext cx="640080" cy="640080"/>
          </a:xfrm>
          <a:prstGeom prst="rect">
            <a:avLst/>
          </a:prstGeom>
        </p:spPr>
      </p:pic>
      <p:sp>
        <p:nvSpPr>
          <p:cNvPr id="13" name="Text 8"/>
          <p:cNvSpPr txBox="1"/>
          <p:nvPr/>
        </p:nvSpPr>
        <p:spPr>
          <a:xfrm>
            <a:off x="6263640" y="2468880"/>
            <a:ext cx="2103120" cy="365760"/>
          </a:xfrm>
          <a:prstGeom prst="rect">
            <a:avLst/>
          </a:prstGeom>
          <a:noFill/>
          <a:ln/>
        </p:spPr>
        <p:txBody>
          <a:bodyPr wrap="square" lIns="0" tIns="0" rIns="0" bIns="0" rtlCol="0" anchor="t"/>
          <a:lstStyle/>
          <a:p>
            <a:pPr marL="0" indent="0">
              <a:buNone/>
            </a:pPr>
            <a:r>
              <a:rPr lang="en-US" sz="1800" b="1" dirty="0">
                <a:solidFill>
                  <a:srgbClr val="1F2933"/>
                </a:solidFill>
                <a:latin typeface="Calibri" pitchFamily="34" charset="0"/>
                <a:ea typeface="Calibri" pitchFamily="34" charset="-122"/>
                <a:cs typeface="Calibri" pitchFamily="34" charset="-120"/>
              </a:rPr>
              <a:t>Delays</a:t>
            </a:r>
            <a:endParaRPr lang="en-US" sz="1800" dirty="0"/>
          </a:p>
        </p:txBody>
      </p:sp>
      <p:sp>
        <p:nvSpPr>
          <p:cNvPr id="14" name="Text 9"/>
          <p:cNvSpPr txBox="1"/>
          <p:nvPr/>
        </p:nvSpPr>
        <p:spPr>
          <a:xfrm>
            <a:off x="6263640" y="2926080"/>
            <a:ext cx="2103120" cy="1371600"/>
          </a:xfrm>
          <a:prstGeom prst="rect">
            <a:avLst/>
          </a:prstGeom>
          <a:noFill/>
          <a:ln/>
        </p:spPr>
        <p:txBody>
          <a:bodyPr wrap="square" lIns="0" tIns="0" rIns="0" bIns="0" rtlCol="0" anchor="t"/>
          <a:lstStyle/>
          <a:p>
            <a:pPr marL="0" indent="0">
              <a:buNone/>
            </a:pPr>
            <a:r>
              <a:rPr lang="en-US" sz="1500" dirty="0">
                <a:solidFill>
                  <a:srgbClr val="3D4852"/>
                </a:solidFill>
                <a:latin typeface="Calibri" pitchFamily="34" charset="0"/>
                <a:ea typeface="Calibri" pitchFamily="34" charset="-122"/>
                <a:cs typeface="Calibri" pitchFamily="34" charset="-120"/>
              </a:rPr>
              <a:t>Long waiting times and uncertain arrival times cause inconvenience and delays.</a:t>
            </a:r>
            <a:endParaRPr lang="en-US" sz="1500" dirty="0"/>
          </a:p>
        </p:txBody>
      </p:sp>
      <p:sp>
        <p:nvSpPr>
          <p:cNvPr id="15" name="TextBox 14">
            <a:extLst>
              <a:ext uri="{FF2B5EF4-FFF2-40B4-BE49-F238E27FC236}">
                <a16:creationId xmlns:a16="http://schemas.microsoft.com/office/drawing/2014/main" id="{400AE3DF-3A9A-42B9-B7E8-C3957ADEADBF}"/>
              </a:ext>
            </a:extLst>
          </p:cNvPr>
          <p:cNvSpPr txBox="1"/>
          <p:nvPr/>
        </p:nvSpPr>
        <p:spPr>
          <a:xfrm>
            <a:off x="8775700" y="4786868"/>
            <a:ext cx="457200" cy="369332"/>
          </a:xfrm>
          <a:prstGeom prst="rect">
            <a:avLst/>
          </a:prstGeom>
          <a:noFill/>
        </p:spPr>
        <p:txBody>
          <a:bodyPr wrap="square" rtlCol="0">
            <a:spAutoFit/>
          </a:bodyPr>
          <a:lstStyle/>
          <a:p>
            <a:r>
              <a:rPr lang="en-US" dirty="0"/>
              <a:t>2</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65760"/>
            <a:ext cx="8046720" cy="640080"/>
          </a:xfrm>
          <a:prstGeom prst="rect">
            <a:avLst/>
          </a:prstGeom>
          <a:noFill/>
          <a:ln/>
        </p:spPr>
        <p:txBody>
          <a:bodyPr wrap="square" lIns="0" tIns="0" rIns="0" bIns="0" rtlCol="0" anchor="ctr"/>
          <a:lstStyle/>
          <a:p>
            <a:pPr marL="0" indent="0">
              <a:buNone/>
            </a:pPr>
            <a:r>
              <a:rPr lang="en-US" sz="2800" b="1" dirty="0">
                <a:solidFill>
                  <a:srgbClr val="1F2933"/>
                </a:solidFill>
                <a:latin typeface="Calibri" pitchFamily="34" charset="0"/>
                <a:ea typeface="Calibri" pitchFamily="34" charset="-122"/>
                <a:cs typeface="Calibri" pitchFamily="34" charset="-120"/>
              </a:rPr>
              <a:t>Proposed Solution</a:t>
            </a:r>
            <a:endParaRPr lang="en-US" sz="2800" dirty="0"/>
          </a:p>
        </p:txBody>
      </p:sp>
      <p:sp>
        <p:nvSpPr>
          <p:cNvPr id="3" name="Shape 1"/>
          <p:cNvSpPr/>
          <p:nvPr/>
        </p:nvSpPr>
        <p:spPr>
          <a:xfrm>
            <a:off x="640080" y="1371600"/>
            <a:ext cx="1828800" cy="2450000"/>
          </a:xfrm>
          <a:prstGeom prst="roundRect">
            <a:avLst>
              <a:gd name="adj" fmla="val 6000"/>
            </a:avLst>
          </a:prstGeom>
          <a:solidFill>
            <a:srgbClr val="FFF1E6"/>
          </a:solidFill>
          <a:ln w="12700">
            <a:solidFill>
              <a:srgbClr val="FFF1E6"/>
            </a:solidFill>
            <a:prstDash val="solid"/>
          </a:ln>
          <a:effectLst>
            <a:outerShdw blurRad="76200" dist="25400" dir="5400000" algn="bl" rotWithShape="0">
              <a:srgbClr val="000000">
                <a:alpha val="12000"/>
              </a:srgbClr>
            </a:outerShdw>
          </a:effectLst>
        </p:spPr>
      </p:sp>
      <p:pic>
        <p:nvPicPr>
          <p:cNvPr id="4" name="Image 0" descr="preencoded.png"/>
          <p:cNvPicPr>
            <a:picLocks noChangeAspect="1"/>
          </p:cNvPicPr>
          <p:nvPr/>
        </p:nvPicPr>
        <p:blipFill>
          <a:blip r:embed="rId3"/>
          <a:stretch>
            <a:fillRect/>
          </a:stretch>
        </p:blipFill>
        <p:spPr>
          <a:xfrm>
            <a:off x="822960" y="1600200"/>
            <a:ext cx="548640" cy="548640"/>
          </a:xfrm>
          <a:prstGeom prst="rect">
            <a:avLst/>
          </a:prstGeom>
        </p:spPr>
      </p:pic>
      <p:sp>
        <p:nvSpPr>
          <p:cNvPr id="5" name="Text 2"/>
          <p:cNvSpPr txBox="1"/>
          <p:nvPr/>
        </p:nvSpPr>
        <p:spPr>
          <a:xfrm>
            <a:off x="822960" y="2377440"/>
            <a:ext cx="1463040" cy="365760"/>
          </a:xfrm>
          <a:prstGeom prst="rect">
            <a:avLst/>
          </a:prstGeom>
          <a:noFill/>
          <a:ln/>
        </p:spPr>
        <p:txBody>
          <a:bodyPr wrap="square" lIns="0" tIns="0" rIns="0" bIns="0" rtlCol="0" anchor="t"/>
          <a:lstStyle/>
          <a:p>
            <a:pPr marL="0" indent="0">
              <a:buNone/>
            </a:pPr>
            <a:r>
              <a:rPr lang="en-US" sz="1600" b="1" dirty="0">
                <a:solidFill>
                  <a:srgbClr val="1F2933"/>
                </a:solidFill>
                <a:latin typeface="Calibri" pitchFamily="34" charset="0"/>
                <a:ea typeface="Calibri" pitchFamily="34" charset="-122"/>
                <a:cs typeface="Calibri" pitchFamily="34" charset="-120"/>
              </a:rPr>
              <a:t>Install GPS</a:t>
            </a:r>
            <a:endParaRPr lang="en-US" sz="1600" dirty="0"/>
          </a:p>
        </p:txBody>
      </p:sp>
      <p:sp>
        <p:nvSpPr>
          <p:cNvPr id="6" name="Text 3"/>
          <p:cNvSpPr txBox="1"/>
          <p:nvPr/>
        </p:nvSpPr>
        <p:spPr>
          <a:xfrm>
            <a:off x="822960" y="2834640"/>
            <a:ext cx="1463040" cy="900000"/>
          </a:xfrm>
          <a:prstGeom prst="rect">
            <a:avLst/>
          </a:prstGeom>
          <a:noFill/>
          <a:ln/>
        </p:spPr>
        <p:txBody>
          <a:bodyPr wrap="square" lIns="0" tIns="0" rIns="0" bIns="0" rtlCol="0" anchor="t"/>
          <a:lstStyle/>
          <a:p>
            <a:pPr marL="0" indent="0">
              <a:buNone/>
            </a:pPr>
            <a:r>
              <a:rPr lang="en-US" sz="1400" dirty="0">
                <a:solidFill>
                  <a:srgbClr val="3D4852"/>
                </a:solidFill>
                <a:latin typeface="Calibri" pitchFamily="34" charset="0"/>
                <a:ea typeface="Calibri" pitchFamily="34" charset="-122"/>
                <a:cs typeface="Calibri" pitchFamily="34" charset="-120"/>
              </a:rPr>
              <a:t>GPS tracking devices are installed in buses.</a:t>
            </a:r>
            <a:endParaRPr lang="en-US" sz="1400" dirty="0"/>
          </a:p>
        </p:txBody>
      </p:sp>
      <p:sp>
        <p:nvSpPr>
          <p:cNvPr id="7" name="Shape 4"/>
          <p:cNvSpPr/>
          <p:nvPr/>
        </p:nvSpPr>
        <p:spPr>
          <a:xfrm>
            <a:off x="2651760" y="1371600"/>
            <a:ext cx="1828800" cy="2450000"/>
          </a:xfrm>
          <a:prstGeom prst="roundRect">
            <a:avLst>
              <a:gd name="adj" fmla="val 6000"/>
            </a:avLst>
          </a:prstGeom>
          <a:solidFill>
            <a:srgbClr val="FFF1E6"/>
          </a:solidFill>
          <a:ln w="12700">
            <a:solidFill>
              <a:srgbClr val="FFF1E6"/>
            </a:solidFill>
            <a:prstDash val="solid"/>
          </a:ln>
          <a:effectLst>
            <a:outerShdw blurRad="76200" dist="25400" dir="5400000" algn="bl" rotWithShape="0">
              <a:srgbClr val="000000">
                <a:alpha val="12000"/>
              </a:srgbClr>
            </a:outerShdw>
          </a:effectLst>
        </p:spPr>
      </p:sp>
      <p:pic>
        <p:nvPicPr>
          <p:cNvPr id="8" name="Image 1" descr="preencoded.png"/>
          <p:cNvPicPr>
            <a:picLocks noChangeAspect="1"/>
          </p:cNvPicPr>
          <p:nvPr/>
        </p:nvPicPr>
        <p:blipFill>
          <a:blip r:embed="rId4"/>
          <a:stretch>
            <a:fillRect/>
          </a:stretch>
        </p:blipFill>
        <p:spPr>
          <a:xfrm>
            <a:off x="2834640" y="1600200"/>
            <a:ext cx="548640" cy="548640"/>
          </a:xfrm>
          <a:prstGeom prst="rect">
            <a:avLst/>
          </a:prstGeom>
        </p:spPr>
      </p:pic>
      <p:sp>
        <p:nvSpPr>
          <p:cNvPr id="9" name="Text 5"/>
          <p:cNvSpPr txBox="1"/>
          <p:nvPr/>
        </p:nvSpPr>
        <p:spPr>
          <a:xfrm>
            <a:off x="2834640" y="2377440"/>
            <a:ext cx="1463040" cy="365760"/>
          </a:xfrm>
          <a:prstGeom prst="rect">
            <a:avLst/>
          </a:prstGeom>
          <a:noFill/>
          <a:ln/>
        </p:spPr>
        <p:txBody>
          <a:bodyPr wrap="square" lIns="0" tIns="0" rIns="0" bIns="0" rtlCol="0" anchor="t"/>
          <a:lstStyle/>
          <a:p>
            <a:pPr marL="0" indent="0">
              <a:buNone/>
            </a:pPr>
            <a:r>
              <a:rPr lang="en-US" sz="1600" b="1" dirty="0">
                <a:solidFill>
                  <a:srgbClr val="1F2933"/>
                </a:solidFill>
                <a:latin typeface="Calibri" pitchFamily="34" charset="0"/>
                <a:ea typeface="Calibri" pitchFamily="34" charset="-122"/>
                <a:cs typeface="Calibri" pitchFamily="34" charset="-120"/>
              </a:rPr>
              <a:t>Send live data</a:t>
            </a:r>
            <a:endParaRPr lang="en-US" sz="1600" dirty="0"/>
          </a:p>
        </p:txBody>
      </p:sp>
      <p:sp>
        <p:nvSpPr>
          <p:cNvPr id="10" name="Text 6"/>
          <p:cNvSpPr txBox="1"/>
          <p:nvPr/>
        </p:nvSpPr>
        <p:spPr>
          <a:xfrm>
            <a:off x="2834640" y="2834640"/>
            <a:ext cx="1463040" cy="900000"/>
          </a:xfrm>
          <a:prstGeom prst="rect">
            <a:avLst/>
          </a:prstGeom>
          <a:noFill/>
          <a:ln/>
        </p:spPr>
        <p:txBody>
          <a:bodyPr wrap="square" lIns="0" tIns="0" rIns="0" bIns="0" rtlCol="0" anchor="t"/>
          <a:lstStyle/>
          <a:p>
            <a:pPr marL="0" indent="0">
              <a:buNone/>
            </a:pPr>
            <a:r>
              <a:rPr lang="en-US" sz="1400" dirty="0">
                <a:solidFill>
                  <a:srgbClr val="3D4852"/>
                </a:solidFill>
                <a:latin typeface="Calibri" pitchFamily="34" charset="0"/>
                <a:ea typeface="Calibri" pitchFamily="34" charset="-122"/>
                <a:cs typeface="Calibri" pitchFamily="34" charset="-120"/>
              </a:rPr>
              <a:t>Location data is sent through mobile internet.</a:t>
            </a:r>
            <a:endParaRPr lang="en-US" sz="1400" dirty="0"/>
          </a:p>
        </p:txBody>
      </p:sp>
      <p:sp>
        <p:nvSpPr>
          <p:cNvPr id="11" name="Shape 7"/>
          <p:cNvSpPr/>
          <p:nvPr/>
        </p:nvSpPr>
        <p:spPr>
          <a:xfrm>
            <a:off x="4663440" y="1371600"/>
            <a:ext cx="1828800" cy="2450000"/>
          </a:xfrm>
          <a:prstGeom prst="roundRect">
            <a:avLst>
              <a:gd name="adj" fmla="val 6000"/>
            </a:avLst>
          </a:prstGeom>
          <a:solidFill>
            <a:srgbClr val="FFF1E6"/>
          </a:solidFill>
          <a:ln w="12700">
            <a:solidFill>
              <a:srgbClr val="FFF1E6"/>
            </a:solidFill>
            <a:prstDash val="solid"/>
          </a:ln>
          <a:effectLst>
            <a:outerShdw blurRad="76200" dist="25400" dir="5400000" algn="bl" rotWithShape="0">
              <a:srgbClr val="000000">
                <a:alpha val="12000"/>
              </a:srgbClr>
            </a:outerShdw>
          </a:effectLst>
        </p:spPr>
      </p:sp>
      <p:pic>
        <p:nvPicPr>
          <p:cNvPr id="12" name="Image 2" descr="preencoded.png"/>
          <p:cNvPicPr>
            <a:picLocks noChangeAspect="1"/>
          </p:cNvPicPr>
          <p:nvPr/>
        </p:nvPicPr>
        <p:blipFill>
          <a:blip r:embed="rId5"/>
          <a:stretch>
            <a:fillRect/>
          </a:stretch>
        </p:blipFill>
        <p:spPr>
          <a:xfrm>
            <a:off x="4846320" y="1600200"/>
            <a:ext cx="548640" cy="548640"/>
          </a:xfrm>
          <a:prstGeom prst="rect">
            <a:avLst/>
          </a:prstGeom>
        </p:spPr>
      </p:pic>
      <p:sp>
        <p:nvSpPr>
          <p:cNvPr id="13" name="Text 8"/>
          <p:cNvSpPr txBox="1"/>
          <p:nvPr/>
        </p:nvSpPr>
        <p:spPr>
          <a:xfrm>
            <a:off x="4846320" y="2377440"/>
            <a:ext cx="1463040" cy="365760"/>
          </a:xfrm>
          <a:prstGeom prst="rect">
            <a:avLst/>
          </a:prstGeom>
          <a:noFill/>
          <a:ln/>
        </p:spPr>
        <p:txBody>
          <a:bodyPr wrap="square" lIns="0" tIns="0" rIns="0" bIns="0" rtlCol="0" anchor="t"/>
          <a:lstStyle/>
          <a:p>
            <a:pPr marL="0" indent="0">
              <a:buNone/>
            </a:pPr>
            <a:r>
              <a:rPr lang="en-US" sz="1600" b="1" dirty="0">
                <a:solidFill>
                  <a:srgbClr val="1F2933"/>
                </a:solidFill>
                <a:latin typeface="Calibri" pitchFamily="34" charset="0"/>
                <a:ea typeface="Calibri" pitchFamily="34" charset="-122"/>
                <a:cs typeface="Calibri" pitchFamily="34" charset="-120"/>
              </a:rPr>
              <a:t>Process in cloud</a:t>
            </a:r>
            <a:endParaRPr lang="en-US" sz="1600" dirty="0"/>
          </a:p>
        </p:txBody>
      </p:sp>
      <p:sp>
        <p:nvSpPr>
          <p:cNvPr id="14" name="Text 9"/>
          <p:cNvSpPr txBox="1"/>
          <p:nvPr/>
        </p:nvSpPr>
        <p:spPr>
          <a:xfrm>
            <a:off x="4846320" y="2834640"/>
            <a:ext cx="1463040" cy="900000"/>
          </a:xfrm>
          <a:prstGeom prst="rect">
            <a:avLst/>
          </a:prstGeom>
          <a:noFill/>
          <a:ln/>
        </p:spPr>
        <p:txBody>
          <a:bodyPr wrap="square" lIns="0" tIns="0" rIns="0" bIns="0" rtlCol="0" anchor="t"/>
          <a:lstStyle/>
          <a:p>
            <a:pPr marL="0" indent="0">
              <a:buNone/>
            </a:pPr>
            <a:r>
              <a:rPr lang="en-US" sz="1400" dirty="0">
                <a:solidFill>
                  <a:srgbClr val="3D4852"/>
                </a:solidFill>
                <a:latin typeface="Calibri" pitchFamily="34" charset="0"/>
                <a:ea typeface="Calibri" pitchFamily="34" charset="-122"/>
                <a:cs typeface="Calibri" pitchFamily="34" charset="-120"/>
              </a:rPr>
              <a:t>A cloud server processes the data.</a:t>
            </a:r>
            <a:endParaRPr lang="en-US" sz="1400" dirty="0"/>
          </a:p>
        </p:txBody>
      </p:sp>
      <p:sp>
        <p:nvSpPr>
          <p:cNvPr id="15" name="Shape 10"/>
          <p:cNvSpPr/>
          <p:nvPr/>
        </p:nvSpPr>
        <p:spPr>
          <a:xfrm>
            <a:off x="6675120" y="1371600"/>
            <a:ext cx="1828800" cy="2450000"/>
          </a:xfrm>
          <a:prstGeom prst="roundRect">
            <a:avLst>
              <a:gd name="adj" fmla="val 6000"/>
            </a:avLst>
          </a:prstGeom>
          <a:solidFill>
            <a:srgbClr val="FFF1E6"/>
          </a:solidFill>
          <a:ln w="12700">
            <a:solidFill>
              <a:srgbClr val="FFF1E6"/>
            </a:solidFill>
            <a:prstDash val="solid"/>
          </a:ln>
          <a:effectLst>
            <a:outerShdw blurRad="76200" dist="25400" dir="5400000" algn="bl" rotWithShape="0">
              <a:srgbClr val="000000">
                <a:alpha val="12000"/>
              </a:srgbClr>
            </a:outerShdw>
          </a:effectLst>
        </p:spPr>
      </p:sp>
      <p:pic>
        <p:nvPicPr>
          <p:cNvPr id="16" name="Image 3" descr="preencoded.png"/>
          <p:cNvPicPr>
            <a:picLocks noChangeAspect="1"/>
          </p:cNvPicPr>
          <p:nvPr/>
        </p:nvPicPr>
        <p:blipFill>
          <a:blip r:embed="rId6"/>
          <a:stretch>
            <a:fillRect/>
          </a:stretch>
        </p:blipFill>
        <p:spPr>
          <a:xfrm>
            <a:off x="6858000" y="1600200"/>
            <a:ext cx="548640" cy="548640"/>
          </a:xfrm>
          <a:prstGeom prst="rect">
            <a:avLst/>
          </a:prstGeom>
        </p:spPr>
      </p:pic>
      <p:sp>
        <p:nvSpPr>
          <p:cNvPr id="17" name="Text 11"/>
          <p:cNvSpPr txBox="1"/>
          <p:nvPr/>
        </p:nvSpPr>
        <p:spPr>
          <a:xfrm>
            <a:off x="6858000" y="2377440"/>
            <a:ext cx="1463040" cy="365760"/>
          </a:xfrm>
          <a:prstGeom prst="rect">
            <a:avLst/>
          </a:prstGeom>
          <a:noFill/>
          <a:ln/>
        </p:spPr>
        <p:txBody>
          <a:bodyPr wrap="square" lIns="0" tIns="0" rIns="0" bIns="0" rtlCol="0" anchor="t"/>
          <a:lstStyle/>
          <a:p>
            <a:pPr marL="0" indent="0">
              <a:buNone/>
            </a:pPr>
            <a:r>
              <a:rPr lang="en-US" sz="1600" b="1" dirty="0">
                <a:solidFill>
                  <a:srgbClr val="1F2933"/>
                </a:solidFill>
                <a:latin typeface="Calibri" pitchFamily="34" charset="0"/>
                <a:ea typeface="Calibri" pitchFamily="34" charset="-122"/>
                <a:cs typeface="Calibri" pitchFamily="34" charset="-120"/>
              </a:rPr>
              <a:t>Show in app</a:t>
            </a:r>
            <a:endParaRPr lang="en-US" sz="1600" dirty="0"/>
          </a:p>
        </p:txBody>
      </p:sp>
      <p:sp>
        <p:nvSpPr>
          <p:cNvPr id="18" name="Text 12"/>
          <p:cNvSpPr txBox="1"/>
          <p:nvPr/>
        </p:nvSpPr>
        <p:spPr>
          <a:xfrm>
            <a:off x="6858000" y="2834640"/>
            <a:ext cx="1463040" cy="900000"/>
          </a:xfrm>
          <a:prstGeom prst="rect">
            <a:avLst/>
          </a:prstGeom>
          <a:noFill/>
          <a:ln/>
        </p:spPr>
        <p:txBody>
          <a:bodyPr wrap="square" lIns="0" tIns="0" rIns="0" bIns="0" rtlCol="0" anchor="t"/>
          <a:lstStyle/>
          <a:p>
            <a:pPr marL="0" indent="0">
              <a:buNone/>
            </a:pPr>
            <a:r>
              <a:rPr lang="en-US" sz="1400" dirty="0">
                <a:solidFill>
                  <a:srgbClr val="3D4852"/>
                </a:solidFill>
                <a:latin typeface="Calibri" pitchFamily="34" charset="0"/>
                <a:ea typeface="Calibri" pitchFamily="34" charset="-122"/>
                <a:cs typeface="Calibri" pitchFamily="34" charset="-120"/>
              </a:rPr>
              <a:t>Live bus locations and estimated arrival times appear in a mobile app.</a:t>
            </a:r>
            <a:endParaRPr lang="en-US" sz="1400" dirty="0"/>
          </a:p>
        </p:txBody>
      </p:sp>
      <p:pic>
        <p:nvPicPr>
          <p:cNvPr id="119" name="Web thumbnail" descr="GoMaxTracker web dashboard"/>
          <p:cNvPicPr>
            <a:picLocks noChangeAspect="1"/>
          </p:cNvPicPr>
          <p:nvPr/>
        </p:nvPicPr>
        <p:blipFill>
          <a:blip r:embed="rId7"/>
          <a:stretch>
            <a:fillRect/>
          </a:stretch>
        </p:blipFill>
        <p:spPr>
          <a:xfrm>
            <a:off x="640080" y="3960000"/>
            <a:ext cx="1868173" cy="880000"/>
          </a:xfrm>
          <a:prstGeom prst="rect">
            <a:avLst/>
          </a:prstGeom>
          <a:ln w="9525">
            <a:solidFill>
              <a:srgbClr val="F2C4A0"/>
            </a:solidFill>
          </a:ln>
        </p:spPr>
      </p:pic>
      <p:pic>
        <p:nvPicPr>
          <p:cNvPr id="120" name="Mobile thumbnail" descr="GoMaxTracker mobile app"/>
          <p:cNvPicPr>
            <a:picLocks noChangeAspect="1"/>
          </p:cNvPicPr>
          <p:nvPr/>
        </p:nvPicPr>
        <p:blipFill>
          <a:blip r:embed="rId8"/>
          <a:stretch>
            <a:fillRect/>
          </a:stretch>
        </p:blipFill>
        <p:spPr>
          <a:xfrm>
            <a:off x="2645413" y="3960000"/>
            <a:ext cx="396000" cy="880000"/>
          </a:xfrm>
          <a:prstGeom prst="rect">
            <a:avLst/>
          </a:prstGeom>
          <a:ln w="9525">
            <a:solidFill>
              <a:srgbClr val="F2C4A0"/>
            </a:solidFill>
          </a:ln>
        </p:spPr>
      </p:pic>
      <p:sp>
        <p:nvSpPr>
          <p:cNvPr id="121" name="Example caption"/>
          <p:cNvSpPr txBox="1"/>
          <p:nvPr/>
        </p:nvSpPr>
        <p:spPr>
          <a:xfrm>
            <a:off x="3301413" y="3960000"/>
            <a:ext cx="5293947" cy="880000"/>
          </a:xfrm>
          <a:prstGeom prst="rect">
            <a:avLst/>
          </a:prstGeom>
          <a:noFill/>
        </p:spPr>
        <p:txBody>
          <a:bodyPr wrap="square" lIns="0" tIns="0" rIns="0" bIns="0" rtlCol="0" anchor="ctr"/>
          <a:lstStyle/>
          <a:p>
            <a:pPr marL="0" indent="0">
              <a:buNone/>
            </a:pPr>
            <a:r>
              <a:rPr lang="en-US" sz="1300" dirty="0">
                <a:solidFill>
                  <a:srgbClr val="3D4852"/>
                </a:solidFill>
                <a:latin typeface="Calibri" pitchFamily="34" charset="0"/>
                <a:ea typeface="Calibri" pitchFamily="34" charset="-122"/>
                <a:cs typeface="Calibri" pitchFamily="34" charset="-120"/>
              </a:rPr>
              <a:t>Example: a real GPS tracking platform already shows live vehicle positions in a web dashboard and a mobile app (see slide 6).</a:t>
            </a:r>
          </a:p>
        </p:txBody>
      </p:sp>
      <p:sp>
        <p:nvSpPr>
          <p:cNvPr id="25" name="TextBox 24">
            <a:extLst>
              <a:ext uri="{FF2B5EF4-FFF2-40B4-BE49-F238E27FC236}">
                <a16:creationId xmlns:a16="http://schemas.microsoft.com/office/drawing/2014/main" id="{4FB7BEE5-6F29-4F50-ACBC-19E16ECA257A}"/>
              </a:ext>
            </a:extLst>
          </p:cNvPr>
          <p:cNvSpPr txBox="1"/>
          <p:nvPr/>
        </p:nvSpPr>
        <p:spPr>
          <a:xfrm>
            <a:off x="8775700" y="4774168"/>
            <a:ext cx="457200" cy="369332"/>
          </a:xfrm>
          <a:prstGeom prst="rect">
            <a:avLst/>
          </a:prstGeom>
          <a:noFill/>
        </p:spPr>
        <p:txBody>
          <a:bodyPr wrap="square" rtlCol="0">
            <a:spAutoFit/>
          </a:bodyPr>
          <a:lstStyle/>
          <a:p>
            <a:r>
              <a:rPr lang="en-US" dirty="0"/>
              <a:t>3</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65760"/>
            <a:ext cx="8046720" cy="640080"/>
          </a:xfrm>
          <a:prstGeom prst="rect">
            <a:avLst/>
          </a:prstGeom>
          <a:noFill/>
          <a:ln/>
        </p:spPr>
        <p:txBody>
          <a:bodyPr wrap="square" lIns="0" tIns="0" rIns="0" bIns="0" rtlCol="0" anchor="ctr"/>
          <a:lstStyle/>
          <a:p>
            <a:pPr marL="0" indent="0">
              <a:buNone/>
            </a:pPr>
            <a:r>
              <a:rPr lang="en-US" sz="2800" b="1" dirty="0">
                <a:solidFill>
                  <a:srgbClr val="1F2933"/>
                </a:solidFill>
                <a:latin typeface="Calibri" pitchFamily="34" charset="0"/>
                <a:ea typeface="Calibri" pitchFamily="34" charset="-122"/>
                <a:cs typeface="Calibri" pitchFamily="34" charset="-120"/>
              </a:rPr>
              <a:t>Technologies Used</a:t>
            </a:r>
            <a:endParaRPr lang="en-US" sz="2800" dirty="0"/>
          </a:p>
        </p:txBody>
      </p:sp>
      <p:sp>
        <p:nvSpPr>
          <p:cNvPr id="3" name="Shape 1"/>
          <p:cNvSpPr/>
          <p:nvPr/>
        </p:nvSpPr>
        <p:spPr>
          <a:xfrm>
            <a:off x="548640" y="1280160"/>
            <a:ext cx="2560320" cy="1600200"/>
          </a:xfrm>
          <a:prstGeom prst="roundRect">
            <a:avLst>
              <a:gd name="adj" fmla="val 6857"/>
            </a:avLst>
          </a:prstGeom>
          <a:solidFill>
            <a:srgbClr val="FFF1E6"/>
          </a:solidFill>
          <a:ln w="12700">
            <a:solidFill>
              <a:srgbClr val="FFF1E6"/>
            </a:solidFill>
            <a:prstDash val="solid"/>
          </a:ln>
          <a:effectLst>
            <a:outerShdw blurRad="76200" dist="25400" dir="5400000" algn="bl" rotWithShape="0">
              <a:srgbClr val="000000">
                <a:alpha val="12000"/>
              </a:srgbClr>
            </a:outerShdw>
          </a:effectLst>
        </p:spPr>
      </p:sp>
      <p:pic>
        <p:nvPicPr>
          <p:cNvPr id="4" name="Image 0" descr="preencoded.png"/>
          <p:cNvPicPr>
            <a:picLocks noChangeAspect="1"/>
          </p:cNvPicPr>
          <p:nvPr/>
        </p:nvPicPr>
        <p:blipFill>
          <a:blip r:embed="rId3"/>
          <a:stretch>
            <a:fillRect/>
          </a:stretch>
        </p:blipFill>
        <p:spPr>
          <a:xfrm>
            <a:off x="777240" y="1463040"/>
            <a:ext cx="457200" cy="457200"/>
          </a:xfrm>
          <a:prstGeom prst="rect">
            <a:avLst/>
          </a:prstGeom>
        </p:spPr>
      </p:pic>
      <p:sp>
        <p:nvSpPr>
          <p:cNvPr id="5" name="Text 2"/>
          <p:cNvSpPr txBox="1"/>
          <p:nvPr/>
        </p:nvSpPr>
        <p:spPr>
          <a:xfrm>
            <a:off x="777240" y="2057400"/>
            <a:ext cx="2103120" cy="320040"/>
          </a:xfrm>
          <a:prstGeom prst="rect">
            <a:avLst/>
          </a:prstGeom>
          <a:noFill/>
          <a:ln/>
        </p:spPr>
        <p:txBody>
          <a:bodyPr wrap="square" lIns="0" tIns="0" rIns="0" bIns="0" rtlCol="0" anchor="t"/>
          <a:lstStyle/>
          <a:p>
            <a:pPr marL="0" indent="0">
              <a:buNone/>
            </a:pPr>
            <a:r>
              <a:rPr lang="en-US" sz="1600" b="1" dirty="0">
                <a:solidFill>
                  <a:srgbClr val="1F2933"/>
                </a:solidFill>
                <a:latin typeface="Calibri" pitchFamily="34" charset="0"/>
                <a:ea typeface="Calibri" pitchFamily="34" charset="-122"/>
                <a:cs typeface="Calibri" pitchFamily="34" charset="-120"/>
              </a:rPr>
              <a:t>GPS</a:t>
            </a:r>
            <a:endParaRPr lang="en-US" sz="1600" dirty="0"/>
          </a:p>
        </p:txBody>
      </p:sp>
      <p:sp>
        <p:nvSpPr>
          <p:cNvPr id="6" name="Text 3"/>
          <p:cNvSpPr txBox="1"/>
          <p:nvPr/>
        </p:nvSpPr>
        <p:spPr>
          <a:xfrm>
            <a:off x="777240" y="2395728"/>
            <a:ext cx="2103120" cy="365760"/>
          </a:xfrm>
          <a:prstGeom prst="rect">
            <a:avLst/>
          </a:prstGeom>
          <a:noFill/>
          <a:ln/>
        </p:spPr>
        <p:txBody>
          <a:bodyPr wrap="square" lIns="0" tIns="0" rIns="0" bIns="0" rtlCol="0" anchor="t"/>
          <a:lstStyle/>
          <a:p>
            <a:pPr marL="0" indent="0">
              <a:buNone/>
            </a:pPr>
            <a:r>
              <a:rPr lang="en-US" sz="1300" dirty="0">
                <a:solidFill>
                  <a:srgbClr val="3D4852"/>
                </a:solidFill>
                <a:latin typeface="Calibri" pitchFamily="34" charset="0"/>
                <a:ea typeface="Calibri" pitchFamily="34" charset="-122"/>
                <a:cs typeface="Calibri" pitchFamily="34" charset="-120"/>
              </a:rPr>
              <a:t>Finds the bus location</a:t>
            </a:r>
            <a:endParaRPr lang="en-US" sz="1300" dirty="0"/>
          </a:p>
        </p:txBody>
      </p:sp>
      <p:sp>
        <p:nvSpPr>
          <p:cNvPr id="7" name="Shape 4"/>
          <p:cNvSpPr/>
          <p:nvPr/>
        </p:nvSpPr>
        <p:spPr>
          <a:xfrm>
            <a:off x="3291840" y="1280160"/>
            <a:ext cx="2560320" cy="1600200"/>
          </a:xfrm>
          <a:prstGeom prst="roundRect">
            <a:avLst>
              <a:gd name="adj" fmla="val 6857"/>
            </a:avLst>
          </a:prstGeom>
          <a:solidFill>
            <a:srgbClr val="FFF1E6"/>
          </a:solidFill>
          <a:ln w="12700">
            <a:solidFill>
              <a:srgbClr val="FFF1E6"/>
            </a:solidFill>
            <a:prstDash val="solid"/>
          </a:ln>
          <a:effectLst>
            <a:outerShdw blurRad="76200" dist="25400" dir="5400000" algn="bl" rotWithShape="0">
              <a:srgbClr val="000000">
                <a:alpha val="12000"/>
              </a:srgbClr>
            </a:outerShdw>
          </a:effectLst>
        </p:spPr>
      </p:sp>
      <p:pic>
        <p:nvPicPr>
          <p:cNvPr id="8" name="Image 1" descr="preencoded.png"/>
          <p:cNvPicPr>
            <a:picLocks noChangeAspect="1"/>
          </p:cNvPicPr>
          <p:nvPr/>
        </p:nvPicPr>
        <p:blipFill>
          <a:blip r:embed="rId4"/>
          <a:stretch>
            <a:fillRect/>
          </a:stretch>
        </p:blipFill>
        <p:spPr>
          <a:xfrm>
            <a:off x="3520440" y="1463040"/>
            <a:ext cx="457200" cy="457200"/>
          </a:xfrm>
          <a:prstGeom prst="rect">
            <a:avLst/>
          </a:prstGeom>
        </p:spPr>
      </p:pic>
      <p:sp>
        <p:nvSpPr>
          <p:cNvPr id="9" name="Text 5"/>
          <p:cNvSpPr txBox="1"/>
          <p:nvPr/>
        </p:nvSpPr>
        <p:spPr>
          <a:xfrm>
            <a:off x="3520440" y="2057400"/>
            <a:ext cx="2103120" cy="320040"/>
          </a:xfrm>
          <a:prstGeom prst="rect">
            <a:avLst/>
          </a:prstGeom>
          <a:noFill/>
          <a:ln/>
        </p:spPr>
        <p:txBody>
          <a:bodyPr wrap="square" lIns="0" tIns="0" rIns="0" bIns="0" rtlCol="0" anchor="t"/>
          <a:lstStyle/>
          <a:p>
            <a:pPr marL="0" indent="0">
              <a:buNone/>
            </a:pPr>
            <a:r>
              <a:rPr lang="en-US" sz="1600" b="1" dirty="0">
                <a:solidFill>
                  <a:srgbClr val="1F2933"/>
                </a:solidFill>
                <a:latin typeface="Calibri" pitchFamily="34" charset="0"/>
                <a:ea typeface="Calibri" pitchFamily="34" charset="-122"/>
                <a:cs typeface="Calibri" pitchFamily="34" charset="-120"/>
              </a:rPr>
              <a:t>IoT</a:t>
            </a:r>
            <a:endParaRPr lang="en-US" sz="1600" dirty="0"/>
          </a:p>
        </p:txBody>
      </p:sp>
      <p:sp>
        <p:nvSpPr>
          <p:cNvPr id="10" name="Text 6"/>
          <p:cNvSpPr txBox="1"/>
          <p:nvPr/>
        </p:nvSpPr>
        <p:spPr>
          <a:xfrm>
            <a:off x="3520440" y="2395728"/>
            <a:ext cx="2103120" cy="365760"/>
          </a:xfrm>
          <a:prstGeom prst="rect">
            <a:avLst/>
          </a:prstGeom>
          <a:noFill/>
          <a:ln/>
        </p:spPr>
        <p:txBody>
          <a:bodyPr wrap="square" lIns="0" tIns="0" rIns="0" bIns="0" rtlCol="0" anchor="t"/>
          <a:lstStyle/>
          <a:p>
            <a:pPr marL="0" indent="0">
              <a:buNone/>
            </a:pPr>
            <a:r>
              <a:rPr lang="en-US" sz="1300" dirty="0">
                <a:solidFill>
                  <a:srgbClr val="3D4852"/>
                </a:solidFill>
                <a:latin typeface="Calibri" pitchFamily="34" charset="0"/>
                <a:ea typeface="Calibri" pitchFamily="34" charset="-122"/>
                <a:cs typeface="Calibri" pitchFamily="34" charset="-120"/>
              </a:rPr>
              <a:t>Connects the bus device to the network</a:t>
            </a:r>
            <a:endParaRPr lang="en-US" sz="1300" dirty="0"/>
          </a:p>
        </p:txBody>
      </p:sp>
      <p:sp>
        <p:nvSpPr>
          <p:cNvPr id="11" name="Shape 7"/>
          <p:cNvSpPr/>
          <p:nvPr/>
        </p:nvSpPr>
        <p:spPr>
          <a:xfrm>
            <a:off x="6035040" y="1280160"/>
            <a:ext cx="2560320" cy="1600200"/>
          </a:xfrm>
          <a:prstGeom prst="roundRect">
            <a:avLst>
              <a:gd name="adj" fmla="val 6857"/>
            </a:avLst>
          </a:prstGeom>
          <a:solidFill>
            <a:srgbClr val="FFF1E6"/>
          </a:solidFill>
          <a:ln w="12700">
            <a:solidFill>
              <a:srgbClr val="FFF1E6"/>
            </a:solidFill>
            <a:prstDash val="solid"/>
          </a:ln>
          <a:effectLst>
            <a:outerShdw blurRad="76200" dist="25400" dir="5400000" algn="bl" rotWithShape="0">
              <a:srgbClr val="000000">
                <a:alpha val="12000"/>
              </a:srgbClr>
            </a:outerShdw>
          </a:effectLst>
        </p:spPr>
      </p:sp>
      <p:pic>
        <p:nvPicPr>
          <p:cNvPr id="12" name="Image 2" descr="preencoded.png"/>
          <p:cNvPicPr>
            <a:picLocks noChangeAspect="1"/>
          </p:cNvPicPr>
          <p:nvPr/>
        </p:nvPicPr>
        <p:blipFill>
          <a:blip r:embed="rId5"/>
          <a:stretch>
            <a:fillRect/>
          </a:stretch>
        </p:blipFill>
        <p:spPr>
          <a:xfrm>
            <a:off x="6263640" y="1463040"/>
            <a:ext cx="457200" cy="457200"/>
          </a:xfrm>
          <a:prstGeom prst="rect">
            <a:avLst/>
          </a:prstGeom>
        </p:spPr>
      </p:pic>
      <p:sp>
        <p:nvSpPr>
          <p:cNvPr id="13" name="Text 8"/>
          <p:cNvSpPr txBox="1"/>
          <p:nvPr/>
        </p:nvSpPr>
        <p:spPr>
          <a:xfrm>
            <a:off x="6263640" y="2057400"/>
            <a:ext cx="2103120" cy="320040"/>
          </a:xfrm>
          <a:prstGeom prst="rect">
            <a:avLst/>
          </a:prstGeom>
          <a:noFill/>
          <a:ln/>
        </p:spPr>
        <p:txBody>
          <a:bodyPr wrap="square" lIns="0" tIns="0" rIns="0" bIns="0" rtlCol="0" anchor="t"/>
          <a:lstStyle/>
          <a:p>
            <a:pPr marL="0" indent="0">
              <a:buNone/>
            </a:pPr>
            <a:r>
              <a:rPr lang="en-US" sz="1600" b="1" dirty="0">
                <a:solidFill>
                  <a:srgbClr val="1F2933"/>
                </a:solidFill>
                <a:latin typeface="Calibri" pitchFamily="34" charset="0"/>
                <a:ea typeface="Calibri" pitchFamily="34" charset="-122"/>
                <a:cs typeface="Calibri" pitchFamily="34" charset="-120"/>
              </a:rPr>
              <a:t>Mobile Application</a:t>
            </a:r>
            <a:endParaRPr lang="en-US" sz="1600" dirty="0"/>
          </a:p>
        </p:txBody>
      </p:sp>
      <p:sp>
        <p:nvSpPr>
          <p:cNvPr id="14" name="Text 9"/>
          <p:cNvSpPr txBox="1"/>
          <p:nvPr/>
        </p:nvSpPr>
        <p:spPr>
          <a:xfrm>
            <a:off x="6263640" y="2395728"/>
            <a:ext cx="2103120" cy="365760"/>
          </a:xfrm>
          <a:prstGeom prst="rect">
            <a:avLst/>
          </a:prstGeom>
          <a:noFill/>
          <a:ln/>
        </p:spPr>
        <p:txBody>
          <a:bodyPr wrap="square" lIns="0" tIns="0" rIns="0" bIns="0" rtlCol="0" anchor="t"/>
          <a:lstStyle/>
          <a:p>
            <a:pPr marL="0" indent="0">
              <a:buNone/>
            </a:pPr>
            <a:r>
              <a:rPr lang="en-US" sz="1300" dirty="0">
                <a:solidFill>
                  <a:srgbClr val="3D4852"/>
                </a:solidFill>
                <a:latin typeface="Calibri" pitchFamily="34" charset="0"/>
                <a:ea typeface="Calibri" pitchFamily="34" charset="-122"/>
                <a:cs typeface="Calibri" pitchFamily="34" charset="-120"/>
              </a:rPr>
              <a:t>Shows information to passengers</a:t>
            </a:r>
            <a:endParaRPr lang="en-US" sz="1300" dirty="0"/>
          </a:p>
        </p:txBody>
      </p:sp>
      <p:sp>
        <p:nvSpPr>
          <p:cNvPr id="15" name="Shape 10"/>
          <p:cNvSpPr/>
          <p:nvPr/>
        </p:nvSpPr>
        <p:spPr>
          <a:xfrm>
            <a:off x="548640" y="3063240"/>
            <a:ext cx="2560320" cy="1600200"/>
          </a:xfrm>
          <a:prstGeom prst="roundRect">
            <a:avLst>
              <a:gd name="adj" fmla="val 6857"/>
            </a:avLst>
          </a:prstGeom>
          <a:solidFill>
            <a:srgbClr val="FFF1E6"/>
          </a:solidFill>
          <a:ln w="12700">
            <a:solidFill>
              <a:srgbClr val="FFF1E6"/>
            </a:solidFill>
            <a:prstDash val="solid"/>
          </a:ln>
          <a:effectLst>
            <a:outerShdw blurRad="76200" dist="25400" dir="5400000" algn="bl" rotWithShape="0">
              <a:srgbClr val="000000">
                <a:alpha val="12000"/>
              </a:srgbClr>
            </a:outerShdw>
          </a:effectLst>
        </p:spPr>
      </p:sp>
      <p:pic>
        <p:nvPicPr>
          <p:cNvPr id="16" name="Image 3" descr="preencoded.png"/>
          <p:cNvPicPr>
            <a:picLocks noChangeAspect="1"/>
          </p:cNvPicPr>
          <p:nvPr/>
        </p:nvPicPr>
        <p:blipFill>
          <a:blip r:embed="rId6"/>
          <a:stretch>
            <a:fillRect/>
          </a:stretch>
        </p:blipFill>
        <p:spPr>
          <a:xfrm>
            <a:off x="777240" y="3246120"/>
            <a:ext cx="457200" cy="457200"/>
          </a:xfrm>
          <a:prstGeom prst="rect">
            <a:avLst/>
          </a:prstGeom>
        </p:spPr>
      </p:pic>
      <p:sp>
        <p:nvSpPr>
          <p:cNvPr id="17" name="Text 11"/>
          <p:cNvSpPr txBox="1"/>
          <p:nvPr/>
        </p:nvSpPr>
        <p:spPr>
          <a:xfrm>
            <a:off x="777240" y="3840480"/>
            <a:ext cx="2103120" cy="320040"/>
          </a:xfrm>
          <a:prstGeom prst="rect">
            <a:avLst/>
          </a:prstGeom>
          <a:noFill/>
          <a:ln/>
        </p:spPr>
        <p:txBody>
          <a:bodyPr wrap="square" lIns="0" tIns="0" rIns="0" bIns="0" rtlCol="0" anchor="t"/>
          <a:lstStyle/>
          <a:p>
            <a:pPr marL="0" indent="0">
              <a:buNone/>
            </a:pPr>
            <a:r>
              <a:rPr lang="en-US" sz="1600" b="1" dirty="0">
                <a:solidFill>
                  <a:srgbClr val="1F2933"/>
                </a:solidFill>
                <a:latin typeface="Calibri" pitchFamily="34" charset="0"/>
                <a:ea typeface="Calibri" pitchFamily="34" charset="-122"/>
                <a:cs typeface="Calibri" pitchFamily="34" charset="-120"/>
              </a:rPr>
              <a:t>Cloud Computing</a:t>
            </a:r>
            <a:endParaRPr lang="en-US" sz="1600" dirty="0"/>
          </a:p>
        </p:txBody>
      </p:sp>
      <p:sp>
        <p:nvSpPr>
          <p:cNvPr id="18" name="Text 12"/>
          <p:cNvSpPr txBox="1"/>
          <p:nvPr/>
        </p:nvSpPr>
        <p:spPr>
          <a:xfrm>
            <a:off x="777240" y="4178808"/>
            <a:ext cx="2103120" cy="365760"/>
          </a:xfrm>
          <a:prstGeom prst="rect">
            <a:avLst/>
          </a:prstGeom>
          <a:noFill/>
          <a:ln/>
        </p:spPr>
        <p:txBody>
          <a:bodyPr wrap="square" lIns="0" tIns="0" rIns="0" bIns="0" rtlCol="0" anchor="t"/>
          <a:lstStyle/>
          <a:p>
            <a:pPr marL="0" indent="0">
              <a:buNone/>
            </a:pPr>
            <a:r>
              <a:rPr lang="en-US" sz="1300" dirty="0">
                <a:solidFill>
                  <a:srgbClr val="3D4852"/>
                </a:solidFill>
                <a:latin typeface="Calibri" pitchFamily="34" charset="0"/>
                <a:ea typeface="Calibri" pitchFamily="34" charset="-122"/>
                <a:cs typeface="Calibri" pitchFamily="34" charset="-120"/>
              </a:rPr>
              <a:t>Stores and processes the data</a:t>
            </a:r>
            <a:endParaRPr lang="en-US" sz="1300" dirty="0"/>
          </a:p>
        </p:txBody>
      </p:sp>
      <p:sp>
        <p:nvSpPr>
          <p:cNvPr id="19" name="Shape 13"/>
          <p:cNvSpPr/>
          <p:nvPr/>
        </p:nvSpPr>
        <p:spPr>
          <a:xfrm>
            <a:off x="3291840" y="3063240"/>
            <a:ext cx="2560320" cy="1600200"/>
          </a:xfrm>
          <a:prstGeom prst="roundRect">
            <a:avLst>
              <a:gd name="adj" fmla="val 6857"/>
            </a:avLst>
          </a:prstGeom>
          <a:solidFill>
            <a:srgbClr val="FFF1E6"/>
          </a:solidFill>
          <a:ln w="12700">
            <a:solidFill>
              <a:srgbClr val="FFF1E6"/>
            </a:solidFill>
            <a:prstDash val="solid"/>
          </a:ln>
          <a:effectLst>
            <a:outerShdw blurRad="76200" dist="25400" dir="5400000" algn="bl" rotWithShape="0">
              <a:srgbClr val="000000">
                <a:alpha val="12000"/>
              </a:srgbClr>
            </a:outerShdw>
          </a:effectLst>
        </p:spPr>
      </p:sp>
      <p:pic>
        <p:nvPicPr>
          <p:cNvPr id="20" name="Image 4" descr="preencoded.png"/>
          <p:cNvPicPr>
            <a:picLocks noChangeAspect="1"/>
          </p:cNvPicPr>
          <p:nvPr/>
        </p:nvPicPr>
        <p:blipFill>
          <a:blip r:embed="rId7"/>
          <a:stretch>
            <a:fillRect/>
          </a:stretch>
        </p:blipFill>
        <p:spPr>
          <a:xfrm>
            <a:off x="3520440" y="3246120"/>
            <a:ext cx="457200" cy="457200"/>
          </a:xfrm>
          <a:prstGeom prst="rect">
            <a:avLst/>
          </a:prstGeom>
        </p:spPr>
      </p:pic>
      <p:sp>
        <p:nvSpPr>
          <p:cNvPr id="21" name="Text 14"/>
          <p:cNvSpPr txBox="1"/>
          <p:nvPr/>
        </p:nvSpPr>
        <p:spPr>
          <a:xfrm>
            <a:off x="3520440" y="3840480"/>
            <a:ext cx="2103120" cy="320040"/>
          </a:xfrm>
          <a:prstGeom prst="rect">
            <a:avLst/>
          </a:prstGeom>
          <a:noFill/>
          <a:ln/>
        </p:spPr>
        <p:txBody>
          <a:bodyPr wrap="square" lIns="0" tIns="0" rIns="0" bIns="0" rtlCol="0" anchor="t"/>
          <a:lstStyle/>
          <a:p>
            <a:pPr marL="0" indent="0">
              <a:buNone/>
            </a:pPr>
            <a:r>
              <a:rPr lang="en-US" sz="1600" b="1" dirty="0">
                <a:solidFill>
                  <a:srgbClr val="1F2933"/>
                </a:solidFill>
                <a:latin typeface="Calibri" pitchFamily="34" charset="0"/>
                <a:ea typeface="Calibri" pitchFamily="34" charset="-122"/>
                <a:cs typeface="Calibri" pitchFamily="34" charset="-120"/>
              </a:rPr>
              <a:t>Mobile Internet / 4G</a:t>
            </a:r>
            <a:endParaRPr lang="en-US" sz="1600" dirty="0"/>
          </a:p>
        </p:txBody>
      </p:sp>
      <p:sp>
        <p:nvSpPr>
          <p:cNvPr id="22" name="Text 15"/>
          <p:cNvSpPr txBox="1"/>
          <p:nvPr/>
        </p:nvSpPr>
        <p:spPr>
          <a:xfrm>
            <a:off x="3520440" y="4178808"/>
            <a:ext cx="2103120" cy="365760"/>
          </a:xfrm>
          <a:prstGeom prst="rect">
            <a:avLst/>
          </a:prstGeom>
          <a:noFill/>
          <a:ln/>
        </p:spPr>
        <p:txBody>
          <a:bodyPr wrap="square" lIns="0" tIns="0" rIns="0" bIns="0" rtlCol="0" anchor="t"/>
          <a:lstStyle/>
          <a:p>
            <a:pPr marL="0" indent="0">
              <a:buNone/>
            </a:pPr>
            <a:r>
              <a:rPr lang="en-US" sz="1300" dirty="0">
                <a:solidFill>
                  <a:srgbClr val="3D4852"/>
                </a:solidFill>
                <a:latin typeface="Calibri" pitchFamily="34" charset="0"/>
                <a:ea typeface="Calibri" pitchFamily="34" charset="-122"/>
                <a:cs typeface="Calibri" pitchFamily="34" charset="-120"/>
              </a:rPr>
              <a:t>Sends data from the bus</a:t>
            </a:r>
            <a:endParaRPr lang="en-US" sz="1300" dirty="0"/>
          </a:p>
        </p:txBody>
      </p:sp>
      <p:sp>
        <p:nvSpPr>
          <p:cNvPr id="23" name="Shape 16"/>
          <p:cNvSpPr/>
          <p:nvPr/>
        </p:nvSpPr>
        <p:spPr>
          <a:xfrm>
            <a:off x="6035040" y="3063240"/>
            <a:ext cx="2560320" cy="1600200"/>
          </a:xfrm>
          <a:prstGeom prst="roundRect">
            <a:avLst>
              <a:gd name="adj" fmla="val 6857"/>
            </a:avLst>
          </a:prstGeom>
          <a:solidFill>
            <a:srgbClr val="FFF1E6"/>
          </a:solidFill>
          <a:ln w="12700">
            <a:solidFill>
              <a:srgbClr val="FFF1E6"/>
            </a:solidFill>
            <a:prstDash val="solid"/>
          </a:ln>
          <a:effectLst>
            <a:outerShdw blurRad="76200" dist="25400" dir="5400000" algn="bl" rotWithShape="0">
              <a:srgbClr val="000000">
                <a:alpha val="12000"/>
              </a:srgbClr>
            </a:outerShdw>
          </a:effectLst>
        </p:spPr>
      </p:sp>
      <p:pic>
        <p:nvPicPr>
          <p:cNvPr id="24" name="Image 5" descr="preencoded.png"/>
          <p:cNvPicPr>
            <a:picLocks noChangeAspect="1"/>
          </p:cNvPicPr>
          <p:nvPr/>
        </p:nvPicPr>
        <p:blipFill>
          <a:blip r:embed="rId8"/>
          <a:stretch>
            <a:fillRect/>
          </a:stretch>
        </p:blipFill>
        <p:spPr>
          <a:xfrm>
            <a:off x="6263640" y="3246120"/>
            <a:ext cx="457200" cy="457200"/>
          </a:xfrm>
          <a:prstGeom prst="rect">
            <a:avLst/>
          </a:prstGeom>
        </p:spPr>
      </p:pic>
      <p:sp>
        <p:nvSpPr>
          <p:cNvPr id="25" name="Text 17"/>
          <p:cNvSpPr txBox="1"/>
          <p:nvPr/>
        </p:nvSpPr>
        <p:spPr>
          <a:xfrm>
            <a:off x="6263640" y="3840480"/>
            <a:ext cx="2103120" cy="320040"/>
          </a:xfrm>
          <a:prstGeom prst="rect">
            <a:avLst/>
          </a:prstGeom>
          <a:noFill/>
          <a:ln/>
        </p:spPr>
        <p:txBody>
          <a:bodyPr wrap="square" lIns="0" tIns="0" rIns="0" bIns="0" rtlCol="0" anchor="t"/>
          <a:lstStyle/>
          <a:p>
            <a:pPr marL="0" indent="0">
              <a:buNone/>
            </a:pPr>
            <a:r>
              <a:rPr lang="en-US" sz="1600" b="1" dirty="0">
                <a:solidFill>
                  <a:srgbClr val="1F2933"/>
                </a:solidFill>
                <a:latin typeface="Calibri" pitchFamily="34" charset="0"/>
                <a:ea typeface="Calibri" pitchFamily="34" charset="-122"/>
                <a:cs typeface="Calibri" pitchFamily="34" charset="-120"/>
              </a:rPr>
              <a:t>AI (optional)</a:t>
            </a:r>
            <a:endParaRPr lang="en-US" sz="1600" dirty="0"/>
          </a:p>
        </p:txBody>
      </p:sp>
      <p:sp>
        <p:nvSpPr>
          <p:cNvPr id="26" name="Text 18"/>
          <p:cNvSpPr txBox="1"/>
          <p:nvPr/>
        </p:nvSpPr>
        <p:spPr>
          <a:xfrm>
            <a:off x="6263640" y="4178808"/>
            <a:ext cx="2103120" cy="365760"/>
          </a:xfrm>
          <a:prstGeom prst="rect">
            <a:avLst/>
          </a:prstGeom>
          <a:noFill/>
          <a:ln/>
        </p:spPr>
        <p:txBody>
          <a:bodyPr wrap="square" lIns="0" tIns="0" rIns="0" bIns="0" rtlCol="0" anchor="t"/>
          <a:lstStyle/>
          <a:p>
            <a:pPr marL="0" indent="0">
              <a:buNone/>
            </a:pPr>
            <a:r>
              <a:rPr lang="en-US" sz="1300" dirty="0">
                <a:solidFill>
                  <a:srgbClr val="3D4852"/>
                </a:solidFill>
                <a:latin typeface="Calibri" pitchFamily="34" charset="0"/>
                <a:ea typeface="Calibri" pitchFamily="34" charset="-122"/>
                <a:cs typeface="Calibri" pitchFamily="34" charset="-120"/>
              </a:rPr>
              <a:t>Can help predict arrival time (ETA)</a:t>
            </a:r>
            <a:endParaRPr lang="en-US" sz="1300" dirty="0"/>
          </a:p>
        </p:txBody>
      </p:sp>
      <p:sp>
        <p:nvSpPr>
          <p:cNvPr id="27" name="TextBox 26">
            <a:extLst>
              <a:ext uri="{FF2B5EF4-FFF2-40B4-BE49-F238E27FC236}">
                <a16:creationId xmlns:a16="http://schemas.microsoft.com/office/drawing/2014/main" id="{A83DE3C5-05FA-4028-AAA9-266AFFC806F7}"/>
              </a:ext>
            </a:extLst>
          </p:cNvPr>
          <p:cNvSpPr txBox="1"/>
          <p:nvPr/>
        </p:nvSpPr>
        <p:spPr>
          <a:xfrm>
            <a:off x="8775700" y="4774168"/>
            <a:ext cx="457200" cy="369332"/>
          </a:xfrm>
          <a:prstGeom prst="rect">
            <a:avLst/>
          </a:prstGeom>
          <a:noFill/>
        </p:spPr>
        <p:txBody>
          <a:bodyPr wrap="square" rtlCol="0">
            <a:spAutoFit/>
          </a:bodyPr>
          <a:lstStyle/>
          <a:p>
            <a:r>
              <a:rPr lang="en-US" dirty="0"/>
              <a:t>4</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65760"/>
            <a:ext cx="8046720" cy="640080"/>
          </a:xfrm>
          <a:prstGeom prst="rect">
            <a:avLst/>
          </a:prstGeom>
          <a:noFill/>
          <a:ln/>
        </p:spPr>
        <p:txBody>
          <a:bodyPr wrap="square" lIns="0" tIns="0" rIns="0" bIns="0" rtlCol="0" anchor="ctr"/>
          <a:lstStyle/>
          <a:p>
            <a:pPr marL="0" indent="0">
              <a:buNone/>
            </a:pPr>
            <a:r>
              <a:rPr lang="en-US" sz="2800" b="1" dirty="0">
                <a:solidFill>
                  <a:srgbClr val="1F2933"/>
                </a:solidFill>
                <a:latin typeface="Calibri" pitchFamily="34" charset="0"/>
                <a:ea typeface="Calibri" pitchFamily="34" charset="-122"/>
                <a:cs typeface="Calibri" pitchFamily="34" charset="-120"/>
              </a:rPr>
              <a:t>How It Works</a:t>
            </a:r>
            <a:endParaRPr lang="en-US" sz="2800" dirty="0"/>
          </a:p>
        </p:txBody>
      </p:sp>
      <p:sp>
        <p:nvSpPr>
          <p:cNvPr id="3" name="Shape 1"/>
          <p:cNvSpPr/>
          <p:nvPr/>
        </p:nvSpPr>
        <p:spPr>
          <a:xfrm>
            <a:off x="292608" y="1371600"/>
            <a:ext cx="1234440" cy="3108960"/>
          </a:xfrm>
          <a:prstGeom prst="roundRect">
            <a:avLst>
              <a:gd name="adj" fmla="val 8889"/>
            </a:avLst>
          </a:prstGeom>
          <a:solidFill>
            <a:srgbClr val="FFF1E6"/>
          </a:solidFill>
          <a:ln w="12700">
            <a:solidFill>
              <a:srgbClr val="FFF1E6"/>
            </a:solidFill>
            <a:prstDash val="solid"/>
          </a:ln>
          <a:effectLst>
            <a:outerShdw blurRad="76200" dist="25400" dir="5400000" algn="bl" rotWithShape="0">
              <a:srgbClr val="000000">
                <a:alpha val="12000"/>
              </a:srgbClr>
            </a:outerShdw>
          </a:effectLst>
        </p:spPr>
      </p:sp>
      <p:pic>
        <p:nvPicPr>
          <p:cNvPr id="4" name="Image 0" descr="preencoded.png"/>
          <p:cNvPicPr>
            <a:picLocks noChangeAspect="1"/>
          </p:cNvPicPr>
          <p:nvPr/>
        </p:nvPicPr>
        <p:blipFill>
          <a:blip r:embed="rId3"/>
          <a:stretch>
            <a:fillRect/>
          </a:stretch>
        </p:blipFill>
        <p:spPr>
          <a:xfrm>
            <a:off x="658368" y="1554480"/>
            <a:ext cx="502920" cy="502920"/>
          </a:xfrm>
          <a:prstGeom prst="rect">
            <a:avLst/>
          </a:prstGeom>
        </p:spPr>
      </p:pic>
      <p:sp>
        <p:nvSpPr>
          <p:cNvPr id="5" name="Text 2"/>
          <p:cNvSpPr txBox="1"/>
          <p:nvPr/>
        </p:nvSpPr>
        <p:spPr>
          <a:xfrm>
            <a:off x="384048" y="2240280"/>
            <a:ext cx="1051560" cy="548640"/>
          </a:xfrm>
          <a:prstGeom prst="rect">
            <a:avLst/>
          </a:prstGeom>
          <a:noFill/>
          <a:ln/>
        </p:spPr>
        <p:txBody>
          <a:bodyPr wrap="square" lIns="0" tIns="0" rIns="0" bIns="0" rtlCol="0" anchor="t"/>
          <a:lstStyle/>
          <a:p>
            <a:pPr marL="0" indent="0" algn="ctr">
              <a:buNone/>
            </a:pPr>
            <a:r>
              <a:rPr lang="en-US" sz="1300" b="1" dirty="0">
                <a:solidFill>
                  <a:srgbClr val="1F2933"/>
                </a:solidFill>
                <a:latin typeface="Calibri" pitchFamily="34" charset="0"/>
                <a:ea typeface="Calibri" pitchFamily="34" charset="-122"/>
                <a:cs typeface="Calibri" pitchFamily="34" charset="-120"/>
              </a:rPr>
              <a:t>Bus</a:t>
            </a:r>
            <a:endParaRPr lang="en-US" sz="1300" dirty="0"/>
          </a:p>
        </p:txBody>
      </p:sp>
      <p:sp>
        <p:nvSpPr>
          <p:cNvPr id="6" name="Text 3"/>
          <p:cNvSpPr txBox="1"/>
          <p:nvPr/>
        </p:nvSpPr>
        <p:spPr>
          <a:xfrm>
            <a:off x="384048" y="2880360"/>
            <a:ext cx="1051560" cy="1463040"/>
          </a:xfrm>
          <a:prstGeom prst="rect">
            <a:avLst/>
          </a:prstGeom>
          <a:noFill/>
          <a:ln/>
        </p:spPr>
        <p:txBody>
          <a:bodyPr wrap="square" lIns="0" tIns="0" rIns="0" bIns="0" rtlCol="0" anchor="t"/>
          <a:lstStyle/>
          <a:p>
            <a:pPr marL="0" indent="0" algn="ctr">
              <a:buNone/>
            </a:pPr>
            <a:r>
              <a:rPr lang="en-US" sz="1150" dirty="0">
                <a:solidFill>
                  <a:srgbClr val="3D4852"/>
                </a:solidFill>
                <a:latin typeface="Calibri" pitchFamily="34" charset="0"/>
                <a:ea typeface="Calibri" pitchFamily="34" charset="-122"/>
                <a:cs typeface="Calibri" pitchFamily="34" charset="-120"/>
              </a:rPr>
              <a:t>The bus runs on its route.</a:t>
            </a:r>
            <a:endParaRPr lang="en-US" sz="1150" dirty="0"/>
          </a:p>
        </p:txBody>
      </p:sp>
      <p:sp>
        <p:nvSpPr>
          <p:cNvPr id="7" name="Text 4"/>
          <p:cNvSpPr txBox="1"/>
          <p:nvPr/>
        </p:nvSpPr>
        <p:spPr>
          <a:xfrm>
            <a:off x="1527048" y="2377440"/>
            <a:ext cx="228600" cy="457200"/>
          </a:xfrm>
          <a:prstGeom prst="rect">
            <a:avLst/>
          </a:prstGeom>
          <a:noFill/>
          <a:ln/>
        </p:spPr>
        <p:txBody>
          <a:bodyPr wrap="square" lIns="0" tIns="0" rIns="0" bIns="0" rtlCol="0" anchor="ctr"/>
          <a:lstStyle/>
          <a:p>
            <a:pPr marL="0" indent="0" algn="ctr">
              <a:buNone/>
            </a:pPr>
            <a:r>
              <a:rPr lang="en-US" sz="2600" b="1" dirty="0">
                <a:solidFill>
                  <a:srgbClr val="EA5F0C"/>
                </a:solidFill>
                <a:latin typeface="Calibri" pitchFamily="34" charset="0"/>
                <a:ea typeface="Calibri" pitchFamily="34" charset="-122"/>
                <a:cs typeface="Calibri" pitchFamily="34" charset="-120"/>
              </a:rPr>
              <a:t>›</a:t>
            </a:r>
            <a:endParaRPr lang="en-US" sz="2600" dirty="0"/>
          </a:p>
        </p:txBody>
      </p:sp>
      <p:sp>
        <p:nvSpPr>
          <p:cNvPr id="8" name="Shape 5"/>
          <p:cNvSpPr/>
          <p:nvPr/>
        </p:nvSpPr>
        <p:spPr>
          <a:xfrm>
            <a:off x="1755648" y="1371600"/>
            <a:ext cx="1234440" cy="3108960"/>
          </a:xfrm>
          <a:prstGeom prst="roundRect">
            <a:avLst>
              <a:gd name="adj" fmla="val 8889"/>
            </a:avLst>
          </a:prstGeom>
          <a:solidFill>
            <a:srgbClr val="FFF1E6"/>
          </a:solidFill>
          <a:ln w="12700">
            <a:solidFill>
              <a:srgbClr val="FFF1E6"/>
            </a:solidFill>
            <a:prstDash val="solid"/>
          </a:ln>
          <a:effectLst>
            <a:outerShdw blurRad="76200" dist="25400" dir="5400000" algn="bl" rotWithShape="0">
              <a:srgbClr val="000000">
                <a:alpha val="12000"/>
              </a:srgbClr>
            </a:outerShdw>
          </a:effectLst>
        </p:spPr>
      </p:sp>
      <p:pic>
        <p:nvPicPr>
          <p:cNvPr id="9" name="Image 1" descr="preencoded.png"/>
          <p:cNvPicPr>
            <a:picLocks noChangeAspect="1"/>
          </p:cNvPicPr>
          <p:nvPr/>
        </p:nvPicPr>
        <p:blipFill>
          <a:blip r:embed="rId4"/>
          <a:stretch>
            <a:fillRect/>
          </a:stretch>
        </p:blipFill>
        <p:spPr>
          <a:xfrm>
            <a:off x="2121408" y="1554480"/>
            <a:ext cx="502920" cy="502920"/>
          </a:xfrm>
          <a:prstGeom prst="rect">
            <a:avLst/>
          </a:prstGeom>
        </p:spPr>
      </p:pic>
      <p:sp>
        <p:nvSpPr>
          <p:cNvPr id="10" name="Text 6"/>
          <p:cNvSpPr txBox="1"/>
          <p:nvPr/>
        </p:nvSpPr>
        <p:spPr>
          <a:xfrm>
            <a:off x="1847088" y="2240280"/>
            <a:ext cx="1051560" cy="548640"/>
          </a:xfrm>
          <a:prstGeom prst="rect">
            <a:avLst/>
          </a:prstGeom>
          <a:noFill/>
          <a:ln/>
        </p:spPr>
        <p:txBody>
          <a:bodyPr wrap="square" lIns="0" tIns="0" rIns="0" bIns="0" rtlCol="0" anchor="t"/>
          <a:lstStyle/>
          <a:p>
            <a:pPr marL="0" indent="0" algn="ctr">
              <a:buNone/>
            </a:pPr>
            <a:r>
              <a:rPr lang="en-US" sz="1300" b="1" dirty="0">
                <a:solidFill>
                  <a:srgbClr val="1F2933"/>
                </a:solidFill>
                <a:latin typeface="Calibri" pitchFamily="34" charset="0"/>
                <a:ea typeface="Calibri" pitchFamily="34" charset="-122"/>
                <a:cs typeface="Calibri" pitchFamily="34" charset="-120"/>
              </a:rPr>
              <a:t>GPS Device</a:t>
            </a:r>
            <a:endParaRPr lang="en-US" sz="1300" dirty="0"/>
          </a:p>
        </p:txBody>
      </p:sp>
      <p:sp>
        <p:nvSpPr>
          <p:cNvPr id="11" name="Text 7"/>
          <p:cNvSpPr txBox="1"/>
          <p:nvPr/>
        </p:nvSpPr>
        <p:spPr>
          <a:xfrm>
            <a:off x="1847088" y="2880360"/>
            <a:ext cx="1051560" cy="1463040"/>
          </a:xfrm>
          <a:prstGeom prst="rect">
            <a:avLst/>
          </a:prstGeom>
          <a:noFill/>
          <a:ln/>
        </p:spPr>
        <p:txBody>
          <a:bodyPr wrap="square" lIns="0" tIns="0" rIns="0" bIns="0" rtlCol="0" anchor="t"/>
          <a:lstStyle/>
          <a:p>
            <a:pPr marL="0" indent="0" algn="ctr">
              <a:buNone/>
            </a:pPr>
            <a:r>
              <a:rPr lang="en-US" sz="1150" dirty="0">
                <a:solidFill>
                  <a:srgbClr val="3D4852"/>
                </a:solidFill>
                <a:latin typeface="Calibri" pitchFamily="34" charset="0"/>
                <a:ea typeface="Calibri" pitchFamily="34" charset="-122"/>
                <a:cs typeface="Calibri" pitchFamily="34" charset="-120"/>
              </a:rPr>
              <a:t>Finds the bus location.</a:t>
            </a:r>
            <a:endParaRPr lang="en-US" sz="1150" dirty="0"/>
          </a:p>
        </p:txBody>
      </p:sp>
      <p:sp>
        <p:nvSpPr>
          <p:cNvPr id="12" name="Text 8"/>
          <p:cNvSpPr txBox="1"/>
          <p:nvPr/>
        </p:nvSpPr>
        <p:spPr>
          <a:xfrm>
            <a:off x="2990088" y="2377440"/>
            <a:ext cx="228600" cy="457200"/>
          </a:xfrm>
          <a:prstGeom prst="rect">
            <a:avLst/>
          </a:prstGeom>
          <a:noFill/>
          <a:ln/>
        </p:spPr>
        <p:txBody>
          <a:bodyPr wrap="square" lIns="0" tIns="0" rIns="0" bIns="0" rtlCol="0" anchor="ctr"/>
          <a:lstStyle/>
          <a:p>
            <a:pPr marL="0" indent="0" algn="ctr">
              <a:buNone/>
            </a:pPr>
            <a:r>
              <a:rPr lang="en-US" sz="2600" b="1" dirty="0">
                <a:solidFill>
                  <a:srgbClr val="EA5F0C"/>
                </a:solidFill>
                <a:latin typeface="Calibri" pitchFamily="34" charset="0"/>
                <a:ea typeface="Calibri" pitchFamily="34" charset="-122"/>
                <a:cs typeface="Calibri" pitchFamily="34" charset="-120"/>
              </a:rPr>
              <a:t>›</a:t>
            </a:r>
            <a:endParaRPr lang="en-US" sz="2600" dirty="0"/>
          </a:p>
        </p:txBody>
      </p:sp>
      <p:sp>
        <p:nvSpPr>
          <p:cNvPr id="13" name="Shape 9"/>
          <p:cNvSpPr/>
          <p:nvPr/>
        </p:nvSpPr>
        <p:spPr>
          <a:xfrm>
            <a:off x="3218688" y="1371600"/>
            <a:ext cx="1234440" cy="3108960"/>
          </a:xfrm>
          <a:prstGeom prst="roundRect">
            <a:avLst>
              <a:gd name="adj" fmla="val 8889"/>
            </a:avLst>
          </a:prstGeom>
          <a:solidFill>
            <a:srgbClr val="FFF1E6"/>
          </a:solidFill>
          <a:ln w="12700">
            <a:solidFill>
              <a:srgbClr val="FFF1E6"/>
            </a:solidFill>
            <a:prstDash val="solid"/>
          </a:ln>
          <a:effectLst>
            <a:outerShdw blurRad="76200" dist="25400" dir="5400000" algn="bl" rotWithShape="0">
              <a:srgbClr val="000000">
                <a:alpha val="12000"/>
              </a:srgbClr>
            </a:outerShdw>
          </a:effectLst>
        </p:spPr>
      </p:sp>
      <p:pic>
        <p:nvPicPr>
          <p:cNvPr id="14" name="Image 2" descr="preencoded.png"/>
          <p:cNvPicPr>
            <a:picLocks noChangeAspect="1"/>
          </p:cNvPicPr>
          <p:nvPr/>
        </p:nvPicPr>
        <p:blipFill>
          <a:blip r:embed="rId5"/>
          <a:stretch>
            <a:fillRect/>
          </a:stretch>
        </p:blipFill>
        <p:spPr>
          <a:xfrm>
            <a:off x="3584448" y="1554480"/>
            <a:ext cx="502920" cy="502920"/>
          </a:xfrm>
          <a:prstGeom prst="rect">
            <a:avLst/>
          </a:prstGeom>
        </p:spPr>
      </p:pic>
      <p:sp>
        <p:nvSpPr>
          <p:cNvPr id="15" name="Text 10"/>
          <p:cNvSpPr txBox="1"/>
          <p:nvPr/>
        </p:nvSpPr>
        <p:spPr>
          <a:xfrm>
            <a:off x="3310128" y="2240280"/>
            <a:ext cx="1051560" cy="548640"/>
          </a:xfrm>
          <a:prstGeom prst="rect">
            <a:avLst/>
          </a:prstGeom>
          <a:noFill/>
          <a:ln/>
        </p:spPr>
        <p:txBody>
          <a:bodyPr wrap="square" lIns="0" tIns="0" rIns="0" bIns="0" rtlCol="0" anchor="t"/>
          <a:lstStyle/>
          <a:p>
            <a:pPr marL="0" indent="0" algn="ctr">
              <a:buNone/>
            </a:pPr>
            <a:r>
              <a:rPr lang="en-US" sz="1300" b="1" dirty="0">
                <a:solidFill>
                  <a:srgbClr val="1F2933"/>
                </a:solidFill>
                <a:latin typeface="Calibri" pitchFamily="34" charset="0"/>
                <a:ea typeface="Calibri" pitchFamily="34" charset="-122"/>
                <a:cs typeface="Calibri" pitchFamily="34" charset="-120"/>
              </a:rPr>
              <a:t>Mobile Internet / 4G</a:t>
            </a:r>
            <a:endParaRPr lang="en-US" sz="1300" dirty="0"/>
          </a:p>
        </p:txBody>
      </p:sp>
      <p:sp>
        <p:nvSpPr>
          <p:cNvPr id="16" name="Text 11"/>
          <p:cNvSpPr txBox="1"/>
          <p:nvPr/>
        </p:nvSpPr>
        <p:spPr>
          <a:xfrm>
            <a:off x="3310128" y="2880360"/>
            <a:ext cx="1051560" cy="1463040"/>
          </a:xfrm>
          <a:prstGeom prst="rect">
            <a:avLst/>
          </a:prstGeom>
          <a:noFill/>
          <a:ln/>
        </p:spPr>
        <p:txBody>
          <a:bodyPr wrap="square" lIns="0" tIns="0" rIns="0" bIns="0" rtlCol="0" anchor="t"/>
          <a:lstStyle/>
          <a:p>
            <a:pPr marL="0" indent="0" algn="ctr">
              <a:buNone/>
            </a:pPr>
            <a:r>
              <a:rPr lang="en-US" sz="1150" dirty="0">
                <a:solidFill>
                  <a:srgbClr val="3D4852"/>
                </a:solidFill>
                <a:latin typeface="Calibri" pitchFamily="34" charset="0"/>
                <a:ea typeface="Calibri" pitchFamily="34" charset="-122"/>
                <a:cs typeface="Calibri" pitchFamily="34" charset="-120"/>
              </a:rPr>
              <a:t>Sends location data online.</a:t>
            </a:r>
            <a:endParaRPr lang="en-US" sz="1150" dirty="0"/>
          </a:p>
        </p:txBody>
      </p:sp>
      <p:sp>
        <p:nvSpPr>
          <p:cNvPr id="17" name="Text 12"/>
          <p:cNvSpPr txBox="1"/>
          <p:nvPr/>
        </p:nvSpPr>
        <p:spPr>
          <a:xfrm>
            <a:off x="4453128" y="2377440"/>
            <a:ext cx="228600" cy="457200"/>
          </a:xfrm>
          <a:prstGeom prst="rect">
            <a:avLst/>
          </a:prstGeom>
          <a:noFill/>
          <a:ln/>
        </p:spPr>
        <p:txBody>
          <a:bodyPr wrap="square" lIns="0" tIns="0" rIns="0" bIns="0" rtlCol="0" anchor="ctr"/>
          <a:lstStyle/>
          <a:p>
            <a:pPr marL="0" indent="0" algn="ctr">
              <a:buNone/>
            </a:pPr>
            <a:r>
              <a:rPr lang="en-US" sz="2600" b="1" dirty="0">
                <a:solidFill>
                  <a:srgbClr val="EA5F0C"/>
                </a:solidFill>
                <a:latin typeface="Calibri" pitchFamily="34" charset="0"/>
                <a:ea typeface="Calibri" pitchFamily="34" charset="-122"/>
                <a:cs typeface="Calibri" pitchFamily="34" charset="-120"/>
              </a:rPr>
              <a:t>›</a:t>
            </a:r>
            <a:endParaRPr lang="en-US" sz="2600" dirty="0"/>
          </a:p>
        </p:txBody>
      </p:sp>
      <p:sp>
        <p:nvSpPr>
          <p:cNvPr id="18" name="Shape 13"/>
          <p:cNvSpPr/>
          <p:nvPr/>
        </p:nvSpPr>
        <p:spPr>
          <a:xfrm>
            <a:off x="4681728" y="1371600"/>
            <a:ext cx="1234440" cy="3108960"/>
          </a:xfrm>
          <a:prstGeom prst="roundRect">
            <a:avLst>
              <a:gd name="adj" fmla="val 8889"/>
            </a:avLst>
          </a:prstGeom>
          <a:solidFill>
            <a:srgbClr val="FFF1E6"/>
          </a:solidFill>
          <a:ln w="12700">
            <a:solidFill>
              <a:srgbClr val="FFF1E6"/>
            </a:solidFill>
            <a:prstDash val="solid"/>
          </a:ln>
          <a:effectLst>
            <a:outerShdw blurRad="76200" dist="25400" dir="5400000" algn="bl" rotWithShape="0">
              <a:srgbClr val="000000">
                <a:alpha val="12000"/>
              </a:srgbClr>
            </a:outerShdw>
          </a:effectLst>
        </p:spPr>
      </p:sp>
      <p:pic>
        <p:nvPicPr>
          <p:cNvPr id="19" name="Image 3" descr="preencoded.png"/>
          <p:cNvPicPr>
            <a:picLocks noChangeAspect="1"/>
          </p:cNvPicPr>
          <p:nvPr/>
        </p:nvPicPr>
        <p:blipFill>
          <a:blip r:embed="rId6"/>
          <a:stretch>
            <a:fillRect/>
          </a:stretch>
        </p:blipFill>
        <p:spPr>
          <a:xfrm>
            <a:off x="5047488" y="1554480"/>
            <a:ext cx="502920" cy="502920"/>
          </a:xfrm>
          <a:prstGeom prst="rect">
            <a:avLst/>
          </a:prstGeom>
        </p:spPr>
      </p:pic>
      <p:sp>
        <p:nvSpPr>
          <p:cNvPr id="20" name="Text 14"/>
          <p:cNvSpPr txBox="1"/>
          <p:nvPr/>
        </p:nvSpPr>
        <p:spPr>
          <a:xfrm>
            <a:off x="4773168" y="2240280"/>
            <a:ext cx="1051560" cy="548640"/>
          </a:xfrm>
          <a:prstGeom prst="rect">
            <a:avLst/>
          </a:prstGeom>
          <a:noFill/>
          <a:ln/>
        </p:spPr>
        <p:txBody>
          <a:bodyPr wrap="square" lIns="0" tIns="0" rIns="0" bIns="0" rtlCol="0" anchor="t"/>
          <a:lstStyle/>
          <a:p>
            <a:pPr marL="0" indent="0" algn="ctr">
              <a:buNone/>
            </a:pPr>
            <a:r>
              <a:rPr lang="en-US" sz="1300" b="1" dirty="0">
                <a:solidFill>
                  <a:srgbClr val="1F2933"/>
                </a:solidFill>
                <a:latin typeface="Calibri" pitchFamily="34" charset="0"/>
                <a:ea typeface="Calibri" pitchFamily="34" charset="-122"/>
                <a:cs typeface="Calibri" pitchFamily="34" charset="-120"/>
              </a:rPr>
              <a:t>Cloud Server</a:t>
            </a:r>
            <a:endParaRPr lang="en-US" sz="1300" dirty="0"/>
          </a:p>
        </p:txBody>
      </p:sp>
      <p:sp>
        <p:nvSpPr>
          <p:cNvPr id="21" name="Text 15"/>
          <p:cNvSpPr txBox="1"/>
          <p:nvPr/>
        </p:nvSpPr>
        <p:spPr>
          <a:xfrm>
            <a:off x="4773168" y="2880360"/>
            <a:ext cx="1051560" cy="1463040"/>
          </a:xfrm>
          <a:prstGeom prst="rect">
            <a:avLst/>
          </a:prstGeom>
          <a:noFill/>
          <a:ln/>
        </p:spPr>
        <p:txBody>
          <a:bodyPr wrap="square" lIns="0" tIns="0" rIns="0" bIns="0" rtlCol="0" anchor="t"/>
          <a:lstStyle/>
          <a:p>
            <a:pPr marL="0" indent="0" algn="ctr">
              <a:buNone/>
            </a:pPr>
            <a:r>
              <a:rPr lang="en-US" sz="1150" dirty="0">
                <a:solidFill>
                  <a:srgbClr val="3D4852"/>
                </a:solidFill>
                <a:latin typeface="Calibri" pitchFamily="34" charset="0"/>
                <a:ea typeface="Calibri" pitchFamily="34" charset="-122"/>
                <a:cs typeface="Calibri" pitchFamily="34" charset="-120"/>
              </a:rPr>
              <a:t>Stores and processes data, and calculates ETA.</a:t>
            </a:r>
            <a:endParaRPr lang="en-US" sz="1150" dirty="0"/>
          </a:p>
        </p:txBody>
      </p:sp>
      <p:sp>
        <p:nvSpPr>
          <p:cNvPr id="22" name="Text 16"/>
          <p:cNvSpPr txBox="1"/>
          <p:nvPr/>
        </p:nvSpPr>
        <p:spPr>
          <a:xfrm>
            <a:off x="5916168" y="2377440"/>
            <a:ext cx="228600" cy="457200"/>
          </a:xfrm>
          <a:prstGeom prst="rect">
            <a:avLst/>
          </a:prstGeom>
          <a:noFill/>
          <a:ln/>
        </p:spPr>
        <p:txBody>
          <a:bodyPr wrap="square" lIns="0" tIns="0" rIns="0" bIns="0" rtlCol="0" anchor="ctr"/>
          <a:lstStyle/>
          <a:p>
            <a:pPr marL="0" indent="0" algn="ctr">
              <a:buNone/>
            </a:pPr>
            <a:r>
              <a:rPr lang="en-US" sz="2600" b="1" dirty="0">
                <a:solidFill>
                  <a:srgbClr val="EA5F0C"/>
                </a:solidFill>
                <a:latin typeface="Calibri" pitchFamily="34" charset="0"/>
                <a:ea typeface="Calibri" pitchFamily="34" charset="-122"/>
                <a:cs typeface="Calibri" pitchFamily="34" charset="-120"/>
              </a:rPr>
              <a:t>›</a:t>
            </a:r>
            <a:endParaRPr lang="en-US" sz="2600" dirty="0"/>
          </a:p>
        </p:txBody>
      </p:sp>
      <p:sp>
        <p:nvSpPr>
          <p:cNvPr id="23" name="Shape 17"/>
          <p:cNvSpPr/>
          <p:nvPr/>
        </p:nvSpPr>
        <p:spPr>
          <a:xfrm>
            <a:off x="6144768" y="1371600"/>
            <a:ext cx="1234440" cy="3108960"/>
          </a:xfrm>
          <a:prstGeom prst="roundRect">
            <a:avLst>
              <a:gd name="adj" fmla="val 8889"/>
            </a:avLst>
          </a:prstGeom>
          <a:solidFill>
            <a:srgbClr val="FFF1E6"/>
          </a:solidFill>
          <a:ln w="12700">
            <a:solidFill>
              <a:srgbClr val="FFF1E6"/>
            </a:solidFill>
            <a:prstDash val="solid"/>
          </a:ln>
          <a:effectLst>
            <a:outerShdw blurRad="76200" dist="25400" dir="5400000" algn="bl" rotWithShape="0">
              <a:srgbClr val="000000">
                <a:alpha val="12000"/>
              </a:srgbClr>
            </a:outerShdw>
          </a:effectLst>
        </p:spPr>
      </p:sp>
      <p:pic>
        <p:nvPicPr>
          <p:cNvPr id="24" name="Image 4" descr="preencoded.png"/>
          <p:cNvPicPr>
            <a:picLocks noChangeAspect="1"/>
          </p:cNvPicPr>
          <p:nvPr/>
        </p:nvPicPr>
        <p:blipFill>
          <a:blip r:embed="rId7"/>
          <a:stretch>
            <a:fillRect/>
          </a:stretch>
        </p:blipFill>
        <p:spPr>
          <a:xfrm>
            <a:off x="6510528" y="1554480"/>
            <a:ext cx="502920" cy="502920"/>
          </a:xfrm>
          <a:prstGeom prst="rect">
            <a:avLst/>
          </a:prstGeom>
        </p:spPr>
      </p:pic>
      <p:sp>
        <p:nvSpPr>
          <p:cNvPr id="25" name="Text 18"/>
          <p:cNvSpPr txBox="1"/>
          <p:nvPr/>
        </p:nvSpPr>
        <p:spPr>
          <a:xfrm>
            <a:off x="6236208" y="2240280"/>
            <a:ext cx="1051560" cy="548640"/>
          </a:xfrm>
          <a:prstGeom prst="rect">
            <a:avLst/>
          </a:prstGeom>
          <a:noFill/>
          <a:ln/>
        </p:spPr>
        <p:txBody>
          <a:bodyPr wrap="square" lIns="0" tIns="0" rIns="0" bIns="0" rtlCol="0" anchor="t"/>
          <a:lstStyle/>
          <a:p>
            <a:pPr marL="0" indent="0" algn="ctr">
              <a:buNone/>
            </a:pPr>
            <a:r>
              <a:rPr lang="en-US" sz="1300" b="1" dirty="0">
                <a:solidFill>
                  <a:srgbClr val="1F2933"/>
                </a:solidFill>
                <a:latin typeface="Calibri" pitchFamily="34" charset="0"/>
                <a:ea typeface="Calibri" pitchFamily="34" charset="-122"/>
                <a:cs typeface="Calibri" pitchFamily="34" charset="-120"/>
              </a:rPr>
              <a:t>Mobile App</a:t>
            </a:r>
            <a:endParaRPr lang="en-US" sz="1300" dirty="0"/>
          </a:p>
        </p:txBody>
      </p:sp>
      <p:sp>
        <p:nvSpPr>
          <p:cNvPr id="26" name="Text 19"/>
          <p:cNvSpPr txBox="1"/>
          <p:nvPr/>
        </p:nvSpPr>
        <p:spPr>
          <a:xfrm>
            <a:off x="6236208" y="2880360"/>
            <a:ext cx="1051560" cy="1463040"/>
          </a:xfrm>
          <a:prstGeom prst="rect">
            <a:avLst/>
          </a:prstGeom>
          <a:noFill/>
          <a:ln/>
        </p:spPr>
        <p:txBody>
          <a:bodyPr wrap="square" lIns="0" tIns="0" rIns="0" bIns="0" rtlCol="0" anchor="t"/>
          <a:lstStyle/>
          <a:p>
            <a:pPr marL="0" indent="0" algn="ctr">
              <a:buNone/>
            </a:pPr>
            <a:r>
              <a:rPr lang="en-US" sz="1150" dirty="0">
                <a:solidFill>
                  <a:srgbClr val="3D4852"/>
                </a:solidFill>
                <a:latin typeface="Calibri" pitchFamily="34" charset="0"/>
                <a:ea typeface="Calibri" pitchFamily="34" charset="-122"/>
                <a:cs typeface="Calibri" pitchFamily="34" charset="-120"/>
              </a:rPr>
              <a:t>Shows live map and arrival time.</a:t>
            </a:r>
            <a:endParaRPr lang="en-US" sz="1150" dirty="0"/>
          </a:p>
        </p:txBody>
      </p:sp>
      <p:sp>
        <p:nvSpPr>
          <p:cNvPr id="27" name="Text 20"/>
          <p:cNvSpPr txBox="1"/>
          <p:nvPr/>
        </p:nvSpPr>
        <p:spPr>
          <a:xfrm>
            <a:off x="7379208" y="2377440"/>
            <a:ext cx="228600" cy="457200"/>
          </a:xfrm>
          <a:prstGeom prst="rect">
            <a:avLst/>
          </a:prstGeom>
          <a:noFill/>
          <a:ln/>
        </p:spPr>
        <p:txBody>
          <a:bodyPr wrap="square" lIns="0" tIns="0" rIns="0" bIns="0" rtlCol="0" anchor="ctr"/>
          <a:lstStyle/>
          <a:p>
            <a:pPr marL="0" indent="0" algn="ctr">
              <a:buNone/>
            </a:pPr>
            <a:r>
              <a:rPr lang="en-US" sz="2600" b="1" dirty="0">
                <a:solidFill>
                  <a:srgbClr val="EA5F0C"/>
                </a:solidFill>
                <a:latin typeface="Calibri" pitchFamily="34" charset="0"/>
                <a:ea typeface="Calibri" pitchFamily="34" charset="-122"/>
                <a:cs typeface="Calibri" pitchFamily="34" charset="-120"/>
              </a:rPr>
              <a:t>›</a:t>
            </a:r>
            <a:endParaRPr lang="en-US" sz="2600" dirty="0"/>
          </a:p>
        </p:txBody>
      </p:sp>
      <p:sp>
        <p:nvSpPr>
          <p:cNvPr id="28" name="Shape 21"/>
          <p:cNvSpPr/>
          <p:nvPr/>
        </p:nvSpPr>
        <p:spPr>
          <a:xfrm>
            <a:off x="7607808" y="1371600"/>
            <a:ext cx="1234440" cy="3108960"/>
          </a:xfrm>
          <a:prstGeom prst="roundRect">
            <a:avLst>
              <a:gd name="adj" fmla="val 8889"/>
            </a:avLst>
          </a:prstGeom>
          <a:solidFill>
            <a:srgbClr val="FFF1E6"/>
          </a:solidFill>
          <a:ln w="12700">
            <a:solidFill>
              <a:srgbClr val="FFF1E6"/>
            </a:solidFill>
            <a:prstDash val="solid"/>
          </a:ln>
          <a:effectLst>
            <a:outerShdw blurRad="76200" dist="25400" dir="5400000" algn="bl" rotWithShape="0">
              <a:srgbClr val="000000">
                <a:alpha val="12000"/>
              </a:srgbClr>
            </a:outerShdw>
          </a:effectLst>
        </p:spPr>
      </p:sp>
      <p:pic>
        <p:nvPicPr>
          <p:cNvPr id="29" name="Image 5" descr="preencoded.png"/>
          <p:cNvPicPr>
            <a:picLocks noChangeAspect="1"/>
          </p:cNvPicPr>
          <p:nvPr/>
        </p:nvPicPr>
        <p:blipFill>
          <a:blip r:embed="rId8"/>
          <a:stretch>
            <a:fillRect/>
          </a:stretch>
        </p:blipFill>
        <p:spPr>
          <a:xfrm>
            <a:off x="7973568" y="1554480"/>
            <a:ext cx="502920" cy="502920"/>
          </a:xfrm>
          <a:prstGeom prst="rect">
            <a:avLst/>
          </a:prstGeom>
        </p:spPr>
      </p:pic>
      <p:sp>
        <p:nvSpPr>
          <p:cNvPr id="30" name="Text 22"/>
          <p:cNvSpPr txBox="1"/>
          <p:nvPr/>
        </p:nvSpPr>
        <p:spPr>
          <a:xfrm>
            <a:off x="7699248" y="2240280"/>
            <a:ext cx="1051560" cy="548640"/>
          </a:xfrm>
          <a:prstGeom prst="rect">
            <a:avLst/>
          </a:prstGeom>
          <a:noFill/>
          <a:ln/>
        </p:spPr>
        <p:txBody>
          <a:bodyPr wrap="square" lIns="0" tIns="0" rIns="0" bIns="0" rtlCol="0" anchor="t"/>
          <a:lstStyle/>
          <a:p>
            <a:pPr marL="0" indent="0" algn="ctr">
              <a:buNone/>
            </a:pPr>
            <a:r>
              <a:rPr lang="en-US" sz="1300" b="1" dirty="0">
                <a:solidFill>
                  <a:srgbClr val="1F2933"/>
                </a:solidFill>
                <a:latin typeface="Calibri" pitchFamily="34" charset="0"/>
                <a:ea typeface="Calibri" pitchFamily="34" charset="-122"/>
                <a:cs typeface="Calibri" pitchFamily="34" charset="-120"/>
              </a:rPr>
              <a:t>Passenger</a:t>
            </a:r>
            <a:endParaRPr lang="en-US" sz="1300" dirty="0"/>
          </a:p>
        </p:txBody>
      </p:sp>
      <p:sp>
        <p:nvSpPr>
          <p:cNvPr id="31" name="Text 23"/>
          <p:cNvSpPr txBox="1"/>
          <p:nvPr/>
        </p:nvSpPr>
        <p:spPr>
          <a:xfrm>
            <a:off x="7699248" y="2880360"/>
            <a:ext cx="1051560" cy="1463040"/>
          </a:xfrm>
          <a:prstGeom prst="rect">
            <a:avLst/>
          </a:prstGeom>
          <a:noFill/>
          <a:ln/>
        </p:spPr>
        <p:txBody>
          <a:bodyPr wrap="square" lIns="0" tIns="0" rIns="0" bIns="0" rtlCol="0" anchor="t"/>
          <a:lstStyle/>
          <a:p>
            <a:pPr marL="0" indent="0" algn="ctr">
              <a:buNone/>
            </a:pPr>
            <a:r>
              <a:rPr lang="en-US" sz="1150" dirty="0">
                <a:solidFill>
                  <a:srgbClr val="3D4852"/>
                </a:solidFill>
                <a:latin typeface="Calibri" pitchFamily="34" charset="0"/>
                <a:ea typeface="Calibri" pitchFamily="34" charset="-122"/>
                <a:cs typeface="Calibri" pitchFamily="34" charset="-120"/>
              </a:rPr>
              <a:t>Plans the trip using live information.</a:t>
            </a:r>
            <a:endParaRPr lang="en-US" sz="1150" dirty="0"/>
          </a:p>
        </p:txBody>
      </p:sp>
      <p:pic>
        <p:nvPicPr>
          <p:cNvPr id="119" name="Mobile thumbnail" descr="GoMaxTracker mobile app"/>
          <p:cNvPicPr>
            <a:picLocks noChangeAspect="1"/>
          </p:cNvPicPr>
          <p:nvPr/>
        </p:nvPicPr>
        <p:blipFill>
          <a:blip r:embed="rId9"/>
          <a:stretch>
            <a:fillRect/>
          </a:stretch>
        </p:blipFill>
        <p:spPr>
          <a:xfrm>
            <a:off x="6559488" y="3480000"/>
            <a:ext cx="405000" cy="900000"/>
          </a:xfrm>
          <a:prstGeom prst="rect">
            <a:avLst/>
          </a:prstGeom>
          <a:ln w="9525">
            <a:solidFill>
              <a:srgbClr val="F2C4A0"/>
            </a:solidFill>
          </a:ln>
        </p:spPr>
      </p:pic>
      <p:sp>
        <p:nvSpPr>
          <p:cNvPr id="34" name="TextBox 33">
            <a:extLst>
              <a:ext uri="{FF2B5EF4-FFF2-40B4-BE49-F238E27FC236}">
                <a16:creationId xmlns:a16="http://schemas.microsoft.com/office/drawing/2014/main" id="{365DCC9E-C756-4BAD-9CD2-8A196DD7335A}"/>
              </a:ext>
            </a:extLst>
          </p:cNvPr>
          <p:cNvSpPr txBox="1"/>
          <p:nvPr/>
        </p:nvSpPr>
        <p:spPr>
          <a:xfrm>
            <a:off x="8775700" y="4774168"/>
            <a:ext cx="457200" cy="369332"/>
          </a:xfrm>
          <a:prstGeom prst="rect">
            <a:avLst/>
          </a:prstGeom>
          <a:noFill/>
        </p:spPr>
        <p:txBody>
          <a:bodyPr wrap="square" rtlCol="0">
            <a:spAutoFit/>
          </a:bodyPr>
          <a:lstStyle/>
          <a:p>
            <a:r>
              <a:rPr lang="en-US" dirty="0"/>
              <a:t>5</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Title"/>
          <p:cNvSpPr txBox="1"/>
          <p:nvPr/>
        </p:nvSpPr>
        <p:spPr>
          <a:xfrm>
            <a:off x="548640" y="365760"/>
            <a:ext cx="8046720" cy="640080"/>
          </a:xfrm>
          <a:prstGeom prst="rect">
            <a:avLst/>
          </a:prstGeom>
          <a:noFill/>
        </p:spPr>
        <p:txBody>
          <a:bodyPr wrap="square" lIns="0" tIns="0" rIns="0" bIns="0" rtlCol="0" anchor="ctr"/>
          <a:lstStyle/>
          <a:p>
            <a:pPr marL="0" indent="0" algn="l">
              <a:buNone/>
            </a:pPr>
            <a:r>
              <a:rPr lang="en-US" sz="2800" b="1" dirty="0">
                <a:solidFill>
                  <a:srgbClr val="1F2933"/>
                </a:solidFill>
                <a:latin typeface="Calibri" pitchFamily="34" charset="0"/>
                <a:ea typeface="Calibri" pitchFamily="34" charset="-122"/>
                <a:cs typeface="Calibri" pitchFamily="34" charset="-120"/>
              </a:rPr>
              <a:t>Real-World Example: GPS Tracking Platform</a:t>
            </a:r>
          </a:p>
        </p:txBody>
      </p:sp>
      <p:pic>
        <p:nvPicPr>
          <p:cNvPr id="3" name="Web dashboard" descr="GoMaxTracker web dashboard showing live vehicles on a map"/>
          <p:cNvPicPr>
            <a:picLocks noChangeAspect="1"/>
          </p:cNvPicPr>
          <p:nvPr/>
        </p:nvPicPr>
        <p:blipFill>
          <a:blip r:embed="rId2"/>
          <a:stretch>
            <a:fillRect/>
          </a:stretch>
        </p:blipFill>
        <p:spPr>
          <a:xfrm>
            <a:off x="548640" y="1423068"/>
            <a:ext cx="6187440" cy="2914584"/>
          </a:xfrm>
          <a:prstGeom prst="rect">
            <a:avLst/>
          </a:prstGeom>
          <a:ln w="12700">
            <a:solidFill>
              <a:srgbClr val="F2C4A0"/>
            </a:solidFill>
          </a:ln>
        </p:spPr>
      </p:pic>
      <p:pic>
        <p:nvPicPr>
          <p:cNvPr id="4" name="Mobile app" descr="GoMaxTracker mobile app showing live vehicles on a map"/>
          <p:cNvPicPr>
            <a:picLocks noChangeAspect="1"/>
          </p:cNvPicPr>
          <p:nvPr/>
        </p:nvPicPr>
        <p:blipFill>
          <a:blip r:embed="rId3"/>
          <a:stretch>
            <a:fillRect/>
          </a:stretch>
        </p:blipFill>
        <p:spPr>
          <a:xfrm>
            <a:off x="7072884" y="1188720"/>
            <a:ext cx="1522476" cy="3383280"/>
          </a:xfrm>
          <a:prstGeom prst="rect">
            <a:avLst/>
          </a:prstGeom>
          <a:ln w="12700">
            <a:solidFill>
              <a:srgbClr val="F2C4A0"/>
            </a:solidFill>
          </a:ln>
        </p:spPr>
      </p:pic>
      <p:sp>
        <p:nvSpPr>
          <p:cNvPr id="5" name="Caption web"/>
          <p:cNvSpPr txBox="1"/>
          <p:nvPr/>
        </p:nvSpPr>
        <p:spPr>
          <a:xfrm>
            <a:off x="548640" y="4662000"/>
            <a:ext cx="6187440" cy="300000"/>
          </a:xfrm>
          <a:prstGeom prst="rect">
            <a:avLst/>
          </a:prstGeom>
          <a:noFill/>
        </p:spPr>
        <p:txBody>
          <a:bodyPr wrap="square" lIns="0" tIns="0" rIns="0" bIns="0" rtlCol="0" anchor="t"/>
          <a:lstStyle/>
          <a:p>
            <a:pPr marL="0" indent="0" algn="ctr">
              <a:buNone/>
            </a:pPr>
            <a:r>
              <a:rPr lang="en-US" sz="1200" b="0" dirty="0">
                <a:solidFill>
                  <a:srgbClr val="6B7280"/>
                </a:solidFill>
                <a:latin typeface="Calibri" pitchFamily="34" charset="0"/>
                <a:ea typeface="Calibri" pitchFamily="34" charset="-122"/>
                <a:cs typeface="Calibri" pitchFamily="34" charset="-120"/>
              </a:rPr>
              <a:t>Web dashboard: live location, speed and status of vehicles</a:t>
            </a:r>
          </a:p>
        </p:txBody>
      </p:sp>
      <p:sp>
        <p:nvSpPr>
          <p:cNvPr id="6" name="Caption mobile"/>
          <p:cNvSpPr txBox="1"/>
          <p:nvPr/>
        </p:nvSpPr>
        <p:spPr>
          <a:xfrm>
            <a:off x="6872884" y="4662000"/>
            <a:ext cx="1922476" cy="300000"/>
          </a:xfrm>
          <a:prstGeom prst="rect">
            <a:avLst/>
          </a:prstGeom>
          <a:noFill/>
        </p:spPr>
        <p:txBody>
          <a:bodyPr wrap="square" lIns="0" tIns="0" rIns="0" bIns="0" rtlCol="0" anchor="t"/>
          <a:lstStyle/>
          <a:p>
            <a:pPr marL="0" indent="0" algn="ctr">
              <a:buNone/>
            </a:pPr>
            <a:r>
              <a:rPr lang="en-US" sz="1200" b="0" dirty="0">
                <a:solidFill>
                  <a:srgbClr val="6B7280"/>
                </a:solidFill>
                <a:latin typeface="Calibri" pitchFamily="34" charset="0"/>
                <a:ea typeface="Calibri" pitchFamily="34" charset="-122"/>
                <a:cs typeface="Calibri" pitchFamily="34" charset="-120"/>
              </a:rPr>
              <a:t>Mobile app</a:t>
            </a:r>
          </a:p>
        </p:txBody>
      </p:sp>
      <p:sp>
        <p:nvSpPr>
          <p:cNvPr id="7" name="TextBox 6">
            <a:extLst>
              <a:ext uri="{FF2B5EF4-FFF2-40B4-BE49-F238E27FC236}">
                <a16:creationId xmlns:a16="http://schemas.microsoft.com/office/drawing/2014/main" id="{558BE81E-C177-4940-A477-C2CC0EE9A97C}"/>
              </a:ext>
            </a:extLst>
          </p:cNvPr>
          <p:cNvSpPr txBox="1"/>
          <p:nvPr/>
        </p:nvSpPr>
        <p:spPr>
          <a:xfrm>
            <a:off x="8775700" y="4774168"/>
            <a:ext cx="457200" cy="369332"/>
          </a:xfrm>
          <a:prstGeom prst="rect">
            <a:avLst/>
          </a:prstGeom>
          <a:noFill/>
        </p:spPr>
        <p:txBody>
          <a:bodyPr wrap="square" rtlCol="0">
            <a:spAutoFit/>
          </a:bodyPr>
          <a:lstStyle/>
          <a:p>
            <a:r>
              <a:rPr lang="en-US" dirty="0"/>
              <a:t>6</a:t>
            </a:r>
          </a:p>
        </p:txBody>
      </p:sp>
      <p:sp>
        <p:nvSpPr>
          <p:cNvPr id="8" name="Rectangle 7">
            <a:extLst>
              <a:ext uri="{FF2B5EF4-FFF2-40B4-BE49-F238E27FC236}">
                <a16:creationId xmlns:a16="http://schemas.microsoft.com/office/drawing/2014/main" id="{339F7F80-7F89-4584-A06D-D31394452033}"/>
              </a:ext>
            </a:extLst>
          </p:cNvPr>
          <p:cNvSpPr/>
          <p:nvPr/>
        </p:nvSpPr>
        <p:spPr>
          <a:xfrm>
            <a:off x="581025" y="1444626"/>
            <a:ext cx="912813" cy="20955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23CEF339-E347-4F10-AEDF-17C93FB95496}"/>
              </a:ext>
            </a:extLst>
          </p:cNvPr>
          <p:cNvSpPr/>
          <p:nvPr/>
        </p:nvSpPr>
        <p:spPr>
          <a:xfrm>
            <a:off x="7350125" y="1318293"/>
            <a:ext cx="912813" cy="20955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65760"/>
            <a:ext cx="8046720" cy="640080"/>
          </a:xfrm>
          <a:prstGeom prst="rect">
            <a:avLst/>
          </a:prstGeom>
          <a:noFill/>
          <a:ln/>
        </p:spPr>
        <p:txBody>
          <a:bodyPr wrap="square" lIns="0" tIns="0" rIns="0" bIns="0" rtlCol="0" anchor="ctr"/>
          <a:lstStyle/>
          <a:p>
            <a:pPr marL="0" indent="0">
              <a:buNone/>
            </a:pPr>
            <a:r>
              <a:rPr lang="en-US" sz="2800" b="1" dirty="0">
                <a:solidFill>
                  <a:srgbClr val="1F2933"/>
                </a:solidFill>
                <a:latin typeface="Calibri" pitchFamily="34" charset="0"/>
                <a:ea typeface="Calibri" pitchFamily="34" charset="-122"/>
                <a:cs typeface="Calibri" pitchFamily="34" charset="-120"/>
              </a:rPr>
              <a:t>Benefits</a:t>
            </a:r>
            <a:endParaRPr lang="en-US" sz="2800" dirty="0"/>
          </a:p>
        </p:txBody>
      </p:sp>
      <p:sp>
        <p:nvSpPr>
          <p:cNvPr id="3" name="Shape 1"/>
          <p:cNvSpPr/>
          <p:nvPr/>
        </p:nvSpPr>
        <p:spPr>
          <a:xfrm>
            <a:off x="548640" y="1280160"/>
            <a:ext cx="2560320" cy="1600200"/>
          </a:xfrm>
          <a:prstGeom prst="roundRect">
            <a:avLst>
              <a:gd name="adj" fmla="val 6857"/>
            </a:avLst>
          </a:prstGeom>
          <a:solidFill>
            <a:srgbClr val="FFF1E6"/>
          </a:solidFill>
          <a:ln w="12700">
            <a:solidFill>
              <a:srgbClr val="FFF1E6"/>
            </a:solidFill>
            <a:prstDash val="solid"/>
          </a:ln>
          <a:effectLst>
            <a:outerShdw blurRad="76200" dist="25400" dir="5400000" algn="bl" rotWithShape="0">
              <a:srgbClr val="000000">
                <a:alpha val="12000"/>
              </a:srgbClr>
            </a:outerShdw>
          </a:effectLst>
        </p:spPr>
      </p:sp>
      <p:pic>
        <p:nvPicPr>
          <p:cNvPr id="4" name="Image 0" descr="preencoded.png"/>
          <p:cNvPicPr>
            <a:picLocks noChangeAspect="1"/>
          </p:cNvPicPr>
          <p:nvPr/>
        </p:nvPicPr>
        <p:blipFill>
          <a:blip r:embed="rId3"/>
          <a:stretch>
            <a:fillRect/>
          </a:stretch>
        </p:blipFill>
        <p:spPr>
          <a:xfrm>
            <a:off x="777240" y="1508760"/>
            <a:ext cx="502920" cy="502920"/>
          </a:xfrm>
          <a:prstGeom prst="rect">
            <a:avLst/>
          </a:prstGeom>
        </p:spPr>
      </p:pic>
      <p:sp>
        <p:nvSpPr>
          <p:cNvPr id="5" name="Text 2"/>
          <p:cNvSpPr txBox="1"/>
          <p:nvPr/>
        </p:nvSpPr>
        <p:spPr>
          <a:xfrm>
            <a:off x="777240" y="2194560"/>
            <a:ext cx="2103120" cy="548640"/>
          </a:xfrm>
          <a:prstGeom prst="rect">
            <a:avLst/>
          </a:prstGeom>
          <a:noFill/>
          <a:ln/>
        </p:spPr>
        <p:txBody>
          <a:bodyPr wrap="square" lIns="0" tIns="0" rIns="0" bIns="0" rtlCol="0" anchor="t"/>
          <a:lstStyle/>
          <a:p>
            <a:pPr marL="0" indent="0">
              <a:buNone/>
            </a:pPr>
            <a:r>
              <a:rPr lang="en-US" sz="1600" b="1" dirty="0">
                <a:solidFill>
                  <a:srgbClr val="1F2933"/>
                </a:solidFill>
                <a:latin typeface="Calibri" pitchFamily="34" charset="0"/>
                <a:ea typeface="Calibri" pitchFamily="34" charset="-122"/>
                <a:cs typeface="Calibri" pitchFamily="34" charset="-120"/>
              </a:rPr>
              <a:t>Live bus location</a:t>
            </a:r>
            <a:endParaRPr lang="en-US" sz="1600" dirty="0"/>
          </a:p>
        </p:txBody>
      </p:sp>
      <p:sp>
        <p:nvSpPr>
          <p:cNvPr id="6" name="Shape 3"/>
          <p:cNvSpPr/>
          <p:nvPr/>
        </p:nvSpPr>
        <p:spPr>
          <a:xfrm>
            <a:off x="3291840" y="1280160"/>
            <a:ext cx="2560320" cy="1600200"/>
          </a:xfrm>
          <a:prstGeom prst="roundRect">
            <a:avLst>
              <a:gd name="adj" fmla="val 6857"/>
            </a:avLst>
          </a:prstGeom>
          <a:solidFill>
            <a:srgbClr val="FFF1E6"/>
          </a:solidFill>
          <a:ln w="12700">
            <a:solidFill>
              <a:srgbClr val="FFF1E6"/>
            </a:solidFill>
            <a:prstDash val="solid"/>
          </a:ln>
          <a:effectLst>
            <a:outerShdw blurRad="76200" dist="25400" dir="5400000" algn="bl" rotWithShape="0">
              <a:srgbClr val="000000">
                <a:alpha val="12000"/>
              </a:srgbClr>
            </a:outerShdw>
          </a:effectLst>
        </p:spPr>
      </p:sp>
      <p:pic>
        <p:nvPicPr>
          <p:cNvPr id="7" name="Image 1" descr="preencoded.png"/>
          <p:cNvPicPr>
            <a:picLocks noChangeAspect="1"/>
          </p:cNvPicPr>
          <p:nvPr/>
        </p:nvPicPr>
        <p:blipFill>
          <a:blip r:embed="rId4"/>
          <a:stretch>
            <a:fillRect/>
          </a:stretch>
        </p:blipFill>
        <p:spPr>
          <a:xfrm>
            <a:off x="3520440" y="1508760"/>
            <a:ext cx="502920" cy="502920"/>
          </a:xfrm>
          <a:prstGeom prst="rect">
            <a:avLst/>
          </a:prstGeom>
        </p:spPr>
      </p:pic>
      <p:sp>
        <p:nvSpPr>
          <p:cNvPr id="8" name="Text 4"/>
          <p:cNvSpPr txBox="1"/>
          <p:nvPr/>
        </p:nvSpPr>
        <p:spPr>
          <a:xfrm>
            <a:off x="3520440" y="2194560"/>
            <a:ext cx="2103120" cy="548640"/>
          </a:xfrm>
          <a:prstGeom prst="rect">
            <a:avLst/>
          </a:prstGeom>
          <a:noFill/>
          <a:ln/>
        </p:spPr>
        <p:txBody>
          <a:bodyPr wrap="square" lIns="0" tIns="0" rIns="0" bIns="0" rtlCol="0" anchor="t"/>
          <a:lstStyle/>
          <a:p>
            <a:pPr marL="0" indent="0">
              <a:buNone/>
            </a:pPr>
            <a:r>
              <a:rPr lang="en-US" sz="1600" b="1" dirty="0">
                <a:solidFill>
                  <a:srgbClr val="1F2933"/>
                </a:solidFill>
                <a:latin typeface="Calibri" pitchFamily="34" charset="0"/>
                <a:ea typeface="Calibri" pitchFamily="34" charset="-122"/>
                <a:cs typeface="Calibri" pitchFamily="34" charset="-120"/>
              </a:rPr>
              <a:t>Reduced waiting time</a:t>
            </a:r>
            <a:endParaRPr lang="en-US" sz="1600" dirty="0"/>
          </a:p>
        </p:txBody>
      </p:sp>
      <p:sp>
        <p:nvSpPr>
          <p:cNvPr id="9" name="Shape 5"/>
          <p:cNvSpPr/>
          <p:nvPr/>
        </p:nvSpPr>
        <p:spPr>
          <a:xfrm>
            <a:off x="6035040" y="1280160"/>
            <a:ext cx="2560320" cy="1600200"/>
          </a:xfrm>
          <a:prstGeom prst="roundRect">
            <a:avLst>
              <a:gd name="adj" fmla="val 6857"/>
            </a:avLst>
          </a:prstGeom>
          <a:solidFill>
            <a:srgbClr val="FFF1E6"/>
          </a:solidFill>
          <a:ln w="12700">
            <a:solidFill>
              <a:srgbClr val="FFF1E6"/>
            </a:solidFill>
            <a:prstDash val="solid"/>
          </a:ln>
          <a:effectLst>
            <a:outerShdw blurRad="76200" dist="25400" dir="5400000" algn="bl" rotWithShape="0">
              <a:srgbClr val="000000">
                <a:alpha val="12000"/>
              </a:srgbClr>
            </a:outerShdw>
          </a:effectLst>
        </p:spPr>
      </p:sp>
      <p:pic>
        <p:nvPicPr>
          <p:cNvPr id="10" name="Image 2" descr="preencoded.png"/>
          <p:cNvPicPr>
            <a:picLocks noChangeAspect="1"/>
          </p:cNvPicPr>
          <p:nvPr/>
        </p:nvPicPr>
        <p:blipFill>
          <a:blip r:embed="rId5"/>
          <a:stretch>
            <a:fillRect/>
          </a:stretch>
        </p:blipFill>
        <p:spPr>
          <a:xfrm>
            <a:off x="6263640" y="1508760"/>
            <a:ext cx="502920" cy="502920"/>
          </a:xfrm>
          <a:prstGeom prst="rect">
            <a:avLst/>
          </a:prstGeom>
        </p:spPr>
      </p:pic>
      <p:sp>
        <p:nvSpPr>
          <p:cNvPr id="11" name="Text 6"/>
          <p:cNvSpPr txBox="1"/>
          <p:nvPr/>
        </p:nvSpPr>
        <p:spPr>
          <a:xfrm>
            <a:off x="6263640" y="2194560"/>
            <a:ext cx="2103120" cy="548640"/>
          </a:xfrm>
          <a:prstGeom prst="rect">
            <a:avLst/>
          </a:prstGeom>
          <a:noFill/>
          <a:ln/>
        </p:spPr>
        <p:txBody>
          <a:bodyPr wrap="square" lIns="0" tIns="0" rIns="0" bIns="0" rtlCol="0" anchor="t"/>
          <a:lstStyle/>
          <a:p>
            <a:pPr marL="0" indent="0">
              <a:buNone/>
            </a:pPr>
            <a:r>
              <a:rPr lang="en-US" sz="1600" b="1" dirty="0">
                <a:solidFill>
                  <a:srgbClr val="1F2933"/>
                </a:solidFill>
                <a:latin typeface="Calibri" pitchFamily="34" charset="0"/>
                <a:ea typeface="Calibri" pitchFamily="34" charset="-122"/>
                <a:cs typeface="Calibri" pitchFamily="34" charset="-120"/>
              </a:rPr>
              <a:t>Better journey planning</a:t>
            </a:r>
            <a:endParaRPr lang="en-US" sz="1600" dirty="0"/>
          </a:p>
        </p:txBody>
      </p:sp>
      <p:sp>
        <p:nvSpPr>
          <p:cNvPr id="12" name="Shape 7"/>
          <p:cNvSpPr/>
          <p:nvPr/>
        </p:nvSpPr>
        <p:spPr>
          <a:xfrm>
            <a:off x="548640" y="3063240"/>
            <a:ext cx="2560320" cy="1600200"/>
          </a:xfrm>
          <a:prstGeom prst="roundRect">
            <a:avLst>
              <a:gd name="adj" fmla="val 6857"/>
            </a:avLst>
          </a:prstGeom>
          <a:solidFill>
            <a:srgbClr val="FFF1E6"/>
          </a:solidFill>
          <a:ln w="12700">
            <a:solidFill>
              <a:srgbClr val="FFF1E6"/>
            </a:solidFill>
            <a:prstDash val="solid"/>
          </a:ln>
          <a:effectLst>
            <a:outerShdw blurRad="76200" dist="25400" dir="5400000" algn="bl" rotWithShape="0">
              <a:srgbClr val="000000">
                <a:alpha val="12000"/>
              </a:srgbClr>
            </a:outerShdw>
          </a:effectLst>
        </p:spPr>
      </p:sp>
      <p:pic>
        <p:nvPicPr>
          <p:cNvPr id="13" name="Image 3" descr="preencoded.png"/>
          <p:cNvPicPr>
            <a:picLocks noChangeAspect="1"/>
          </p:cNvPicPr>
          <p:nvPr/>
        </p:nvPicPr>
        <p:blipFill>
          <a:blip r:embed="rId6"/>
          <a:stretch>
            <a:fillRect/>
          </a:stretch>
        </p:blipFill>
        <p:spPr>
          <a:xfrm>
            <a:off x="777240" y="3291840"/>
            <a:ext cx="502920" cy="502920"/>
          </a:xfrm>
          <a:prstGeom prst="rect">
            <a:avLst/>
          </a:prstGeom>
        </p:spPr>
      </p:pic>
      <p:sp>
        <p:nvSpPr>
          <p:cNvPr id="14" name="Text 8"/>
          <p:cNvSpPr txBox="1"/>
          <p:nvPr/>
        </p:nvSpPr>
        <p:spPr>
          <a:xfrm>
            <a:off x="777240" y="3977640"/>
            <a:ext cx="2103120" cy="548640"/>
          </a:xfrm>
          <a:prstGeom prst="rect">
            <a:avLst/>
          </a:prstGeom>
          <a:noFill/>
          <a:ln/>
        </p:spPr>
        <p:txBody>
          <a:bodyPr wrap="square" lIns="0" tIns="0" rIns="0" bIns="0" rtlCol="0" anchor="t"/>
          <a:lstStyle/>
          <a:p>
            <a:pPr marL="0" indent="0">
              <a:buNone/>
            </a:pPr>
            <a:r>
              <a:rPr lang="en-US" sz="1600" b="1" dirty="0">
                <a:solidFill>
                  <a:srgbClr val="1F2933"/>
                </a:solidFill>
                <a:latin typeface="Calibri" pitchFamily="34" charset="0"/>
                <a:ea typeface="Calibri" pitchFamily="34" charset="-122"/>
                <a:cs typeface="Calibri" pitchFamily="34" charset="-120"/>
              </a:rPr>
              <a:t>Easier bus monitoring</a:t>
            </a:r>
            <a:endParaRPr lang="en-US" sz="1600" dirty="0"/>
          </a:p>
        </p:txBody>
      </p:sp>
      <p:sp>
        <p:nvSpPr>
          <p:cNvPr id="15" name="Shape 9"/>
          <p:cNvSpPr/>
          <p:nvPr/>
        </p:nvSpPr>
        <p:spPr>
          <a:xfrm>
            <a:off x="3291840" y="3063240"/>
            <a:ext cx="2560320" cy="1600200"/>
          </a:xfrm>
          <a:prstGeom prst="roundRect">
            <a:avLst>
              <a:gd name="adj" fmla="val 6857"/>
            </a:avLst>
          </a:prstGeom>
          <a:solidFill>
            <a:srgbClr val="FFF1E6"/>
          </a:solidFill>
          <a:ln w="12700">
            <a:solidFill>
              <a:srgbClr val="FFF1E6"/>
            </a:solidFill>
            <a:prstDash val="solid"/>
          </a:ln>
          <a:effectLst>
            <a:outerShdw blurRad="76200" dist="25400" dir="5400000" algn="bl" rotWithShape="0">
              <a:srgbClr val="000000">
                <a:alpha val="12000"/>
              </a:srgbClr>
            </a:outerShdw>
          </a:effectLst>
        </p:spPr>
      </p:sp>
      <p:pic>
        <p:nvPicPr>
          <p:cNvPr id="16" name="Image 4" descr="preencoded.png"/>
          <p:cNvPicPr>
            <a:picLocks noChangeAspect="1"/>
          </p:cNvPicPr>
          <p:nvPr/>
        </p:nvPicPr>
        <p:blipFill>
          <a:blip r:embed="rId7"/>
          <a:stretch>
            <a:fillRect/>
          </a:stretch>
        </p:blipFill>
        <p:spPr>
          <a:xfrm>
            <a:off x="3520440" y="3291840"/>
            <a:ext cx="502920" cy="502920"/>
          </a:xfrm>
          <a:prstGeom prst="rect">
            <a:avLst/>
          </a:prstGeom>
        </p:spPr>
      </p:pic>
      <p:sp>
        <p:nvSpPr>
          <p:cNvPr id="17" name="Text 10"/>
          <p:cNvSpPr txBox="1"/>
          <p:nvPr/>
        </p:nvSpPr>
        <p:spPr>
          <a:xfrm>
            <a:off x="3520440" y="3977640"/>
            <a:ext cx="2103120" cy="548640"/>
          </a:xfrm>
          <a:prstGeom prst="rect">
            <a:avLst/>
          </a:prstGeom>
          <a:noFill/>
          <a:ln/>
        </p:spPr>
        <p:txBody>
          <a:bodyPr wrap="square" lIns="0" tIns="0" rIns="0" bIns="0" rtlCol="0" anchor="t"/>
          <a:lstStyle/>
          <a:p>
            <a:pPr marL="0" indent="0">
              <a:buNone/>
            </a:pPr>
            <a:r>
              <a:rPr lang="en-US" sz="1600" b="1" dirty="0">
                <a:solidFill>
                  <a:srgbClr val="1F2933"/>
                </a:solidFill>
                <a:latin typeface="Calibri" pitchFamily="34" charset="0"/>
                <a:ea typeface="Calibri" pitchFamily="34" charset="-122"/>
                <a:cs typeface="Calibri" pitchFamily="34" charset="-120"/>
              </a:rPr>
              <a:t>Useful transportation data</a:t>
            </a:r>
            <a:endParaRPr lang="en-US" sz="1600" dirty="0"/>
          </a:p>
        </p:txBody>
      </p:sp>
      <p:sp>
        <p:nvSpPr>
          <p:cNvPr id="18" name="Shape 11"/>
          <p:cNvSpPr/>
          <p:nvPr/>
        </p:nvSpPr>
        <p:spPr>
          <a:xfrm>
            <a:off x="6035040" y="3063240"/>
            <a:ext cx="2560320" cy="1600200"/>
          </a:xfrm>
          <a:prstGeom prst="roundRect">
            <a:avLst>
              <a:gd name="adj" fmla="val 6857"/>
            </a:avLst>
          </a:prstGeom>
          <a:solidFill>
            <a:srgbClr val="FFF1E6"/>
          </a:solidFill>
          <a:ln w="12700">
            <a:solidFill>
              <a:srgbClr val="FFF1E6"/>
            </a:solidFill>
            <a:prstDash val="solid"/>
          </a:ln>
          <a:effectLst>
            <a:outerShdw blurRad="76200" dist="25400" dir="5400000" algn="bl" rotWithShape="0">
              <a:srgbClr val="000000">
                <a:alpha val="12000"/>
              </a:srgbClr>
            </a:outerShdw>
          </a:effectLst>
        </p:spPr>
      </p:sp>
      <p:pic>
        <p:nvPicPr>
          <p:cNvPr id="19" name="Image 5" descr="preencoded.png"/>
          <p:cNvPicPr>
            <a:picLocks noChangeAspect="1"/>
          </p:cNvPicPr>
          <p:nvPr/>
        </p:nvPicPr>
        <p:blipFill>
          <a:blip r:embed="rId8"/>
          <a:stretch>
            <a:fillRect/>
          </a:stretch>
        </p:blipFill>
        <p:spPr>
          <a:xfrm>
            <a:off x="6263640" y="3291840"/>
            <a:ext cx="502920" cy="502920"/>
          </a:xfrm>
          <a:prstGeom prst="rect">
            <a:avLst/>
          </a:prstGeom>
        </p:spPr>
      </p:pic>
      <p:sp>
        <p:nvSpPr>
          <p:cNvPr id="20" name="Text 12"/>
          <p:cNvSpPr txBox="1"/>
          <p:nvPr/>
        </p:nvSpPr>
        <p:spPr>
          <a:xfrm>
            <a:off x="6263640" y="3977640"/>
            <a:ext cx="2103120" cy="548640"/>
          </a:xfrm>
          <a:prstGeom prst="rect">
            <a:avLst/>
          </a:prstGeom>
          <a:noFill/>
          <a:ln/>
        </p:spPr>
        <p:txBody>
          <a:bodyPr wrap="square" lIns="0" tIns="0" rIns="0" bIns="0" rtlCol="0" anchor="t"/>
          <a:lstStyle/>
          <a:p>
            <a:pPr marL="0" indent="0">
              <a:buNone/>
            </a:pPr>
            <a:r>
              <a:rPr lang="en-US" sz="1600" b="1" dirty="0">
                <a:solidFill>
                  <a:srgbClr val="1F2933"/>
                </a:solidFill>
                <a:latin typeface="Calibri" pitchFamily="34" charset="0"/>
                <a:ea typeface="Calibri" pitchFamily="34" charset="-122"/>
                <a:cs typeface="Calibri" pitchFamily="34" charset="-120"/>
              </a:rPr>
              <a:t>More organized public transportation</a:t>
            </a:r>
            <a:endParaRPr lang="en-US" sz="1600" dirty="0"/>
          </a:p>
        </p:txBody>
      </p:sp>
      <p:sp>
        <p:nvSpPr>
          <p:cNvPr id="21" name="TextBox 20">
            <a:extLst>
              <a:ext uri="{FF2B5EF4-FFF2-40B4-BE49-F238E27FC236}">
                <a16:creationId xmlns:a16="http://schemas.microsoft.com/office/drawing/2014/main" id="{7475EC87-7589-4431-A4F6-F340C20E7926}"/>
              </a:ext>
            </a:extLst>
          </p:cNvPr>
          <p:cNvSpPr txBox="1"/>
          <p:nvPr/>
        </p:nvSpPr>
        <p:spPr>
          <a:xfrm>
            <a:off x="8775700" y="4774168"/>
            <a:ext cx="457200" cy="369332"/>
          </a:xfrm>
          <a:prstGeom prst="rect">
            <a:avLst/>
          </a:prstGeom>
          <a:noFill/>
        </p:spPr>
        <p:txBody>
          <a:bodyPr wrap="square" rtlCol="0">
            <a:spAutoFit/>
          </a:bodyPr>
          <a:lstStyle/>
          <a:p>
            <a:r>
              <a:rPr lang="en-US" dirty="0"/>
              <a:t>7</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65760"/>
            <a:ext cx="8046720" cy="640080"/>
          </a:xfrm>
          <a:prstGeom prst="rect">
            <a:avLst/>
          </a:prstGeom>
          <a:noFill/>
          <a:ln/>
        </p:spPr>
        <p:txBody>
          <a:bodyPr wrap="square" lIns="0" tIns="0" rIns="0" bIns="0" rtlCol="0" anchor="ctr"/>
          <a:lstStyle/>
          <a:p>
            <a:pPr marL="0" indent="0">
              <a:buNone/>
            </a:pPr>
            <a:r>
              <a:rPr lang="en-US" sz="2800" b="1" dirty="0">
                <a:solidFill>
                  <a:srgbClr val="1F2933"/>
                </a:solidFill>
                <a:latin typeface="Calibri" pitchFamily="34" charset="0"/>
                <a:ea typeface="Calibri" pitchFamily="34" charset="-122"/>
                <a:cs typeface="Calibri" pitchFamily="34" charset="-120"/>
              </a:rPr>
              <a:t>Challenges</a:t>
            </a:r>
            <a:endParaRPr lang="en-US" sz="2800" dirty="0"/>
          </a:p>
        </p:txBody>
      </p:sp>
      <p:sp>
        <p:nvSpPr>
          <p:cNvPr id="3" name="Shape 1"/>
          <p:cNvSpPr/>
          <p:nvPr/>
        </p:nvSpPr>
        <p:spPr>
          <a:xfrm>
            <a:off x="640080" y="1280160"/>
            <a:ext cx="1828800" cy="1463040"/>
          </a:xfrm>
          <a:prstGeom prst="roundRect">
            <a:avLst>
              <a:gd name="adj" fmla="val 7500"/>
            </a:avLst>
          </a:prstGeom>
          <a:solidFill>
            <a:srgbClr val="FFF1E6"/>
          </a:solidFill>
          <a:ln w="12700">
            <a:solidFill>
              <a:srgbClr val="FFF1E6"/>
            </a:solidFill>
            <a:prstDash val="solid"/>
          </a:ln>
          <a:effectLst>
            <a:outerShdw blurRad="76200" dist="25400" dir="5400000" algn="bl" rotWithShape="0">
              <a:srgbClr val="000000">
                <a:alpha val="12000"/>
              </a:srgbClr>
            </a:outerShdw>
          </a:effectLst>
        </p:spPr>
      </p:sp>
      <p:pic>
        <p:nvPicPr>
          <p:cNvPr id="4" name="Image 0" descr="preencoded.png"/>
          <p:cNvPicPr>
            <a:picLocks noChangeAspect="1"/>
          </p:cNvPicPr>
          <p:nvPr/>
        </p:nvPicPr>
        <p:blipFill>
          <a:blip r:embed="rId3"/>
          <a:stretch>
            <a:fillRect/>
          </a:stretch>
        </p:blipFill>
        <p:spPr>
          <a:xfrm>
            <a:off x="822960" y="1463040"/>
            <a:ext cx="411480" cy="411480"/>
          </a:xfrm>
          <a:prstGeom prst="rect">
            <a:avLst/>
          </a:prstGeom>
        </p:spPr>
      </p:pic>
      <p:sp>
        <p:nvSpPr>
          <p:cNvPr id="5" name="Text 2"/>
          <p:cNvSpPr txBox="1"/>
          <p:nvPr/>
        </p:nvSpPr>
        <p:spPr>
          <a:xfrm>
            <a:off x="822960" y="2011680"/>
            <a:ext cx="1508760" cy="640080"/>
          </a:xfrm>
          <a:prstGeom prst="rect">
            <a:avLst/>
          </a:prstGeom>
          <a:noFill/>
          <a:ln/>
        </p:spPr>
        <p:txBody>
          <a:bodyPr wrap="square" lIns="0" tIns="0" rIns="0" bIns="0" rtlCol="0" anchor="t"/>
          <a:lstStyle/>
          <a:p>
            <a:pPr marL="0" indent="0">
              <a:buNone/>
            </a:pPr>
            <a:r>
              <a:rPr lang="en-US" sz="1250" b="1" dirty="0">
                <a:solidFill>
                  <a:srgbClr val="1F2933"/>
                </a:solidFill>
                <a:latin typeface="Calibri" pitchFamily="34" charset="0"/>
                <a:ea typeface="Calibri" pitchFamily="34" charset="-122"/>
                <a:cs typeface="Calibri" pitchFamily="34" charset="-120"/>
              </a:rPr>
              <a:t>GPS device and maintenance cost</a:t>
            </a:r>
            <a:endParaRPr lang="en-US" sz="1250" dirty="0"/>
          </a:p>
        </p:txBody>
      </p:sp>
      <p:sp>
        <p:nvSpPr>
          <p:cNvPr id="6" name="Shape 3"/>
          <p:cNvSpPr/>
          <p:nvPr/>
        </p:nvSpPr>
        <p:spPr>
          <a:xfrm>
            <a:off x="2651760" y="1280160"/>
            <a:ext cx="1828800" cy="1463040"/>
          </a:xfrm>
          <a:prstGeom prst="roundRect">
            <a:avLst>
              <a:gd name="adj" fmla="val 7500"/>
            </a:avLst>
          </a:prstGeom>
          <a:solidFill>
            <a:srgbClr val="FFF1E6"/>
          </a:solidFill>
          <a:ln w="12700">
            <a:solidFill>
              <a:srgbClr val="FFF1E6"/>
            </a:solidFill>
            <a:prstDash val="solid"/>
          </a:ln>
          <a:effectLst>
            <a:outerShdw blurRad="76200" dist="25400" dir="5400000" algn="bl" rotWithShape="0">
              <a:srgbClr val="000000">
                <a:alpha val="12000"/>
              </a:srgbClr>
            </a:outerShdw>
          </a:effectLst>
        </p:spPr>
      </p:sp>
      <p:pic>
        <p:nvPicPr>
          <p:cNvPr id="7" name="Image 1" descr="preencoded.png"/>
          <p:cNvPicPr>
            <a:picLocks noChangeAspect="1"/>
          </p:cNvPicPr>
          <p:nvPr/>
        </p:nvPicPr>
        <p:blipFill>
          <a:blip r:embed="rId4"/>
          <a:stretch>
            <a:fillRect/>
          </a:stretch>
        </p:blipFill>
        <p:spPr>
          <a:xfrm>
            <a:off x="2834640" y="1463040"/>
            <a:ext cx="411480" cy="411480"/>
          </a:xfrm>
          <a:prstGeom prst="rect">
            <a:avLst/>
          </a:prstGeom>
        </p:spPr>
      </p:pic>
      <p:sp>
        <p:nvSpPr>
          <p:cNvPr id="8" name="Text 4"/>
          <p:cNvSpPr txBox="1"/>
          <p:nvPr/>
        </p:nvSpPr>
        <p:spPr>
          <a:xfrm>
            <a:off x="2834640" y="2011680"/>
            <a:ext cx="1508760" cy="640080"/>
          </a:xfrm>
          <a:prstGeom prst="rect">
            <a:avLst/>
          </a:prstGeom>
          <a:noFill/>
          <a:ln/>
        </p:spPr>
        <p:txBody>
          <a:bodyPr wrap="square" lIns="0" tIns="0" rIns="0" bIns="0" rtlCol="0" anchor="t"/>
          <a:lstStyle/>
          <a:p>
            <a:pPr marL="0" indent="0">
              <a:buNone/>
            </a:pPr>
            <a:r>
              <a:rPr lang="en-US" sz="1250" b="1" dirty="0">
                <a:solidFill>
                  <a:srgbClr val="1F2933"/>
                </a:solidFill>
                <a:latin typeface="Calibri" pitchFamily="34" charset="0"/>
                <a:ea typeface="Calibri" pitchFamily="34" charset="-122"/>
                <a:cs typeface="Calibri" pitchFamily="34" charset="-120"/>
              </a:rPr>
              <a:t>Internet / data cost</a:t>
            </a:r>
            <a:endParaRPr lang="en-US" sz="1250" dirty="0"/>
          </a:p>
        </p:txBody>
      </p:sp>
      <p:sp>
        <p:nvSpPr>
          <p:cNvPr id="9" name="Shape 5"/>
          <p:cNvSpPr/>
          <p:nvPr/>
        </p:nvSpPr>
        <p:spPr>
          <a:xfrm>
            <a:off x="4663440" y="1280160"/>
            <a:ext cx="1828800" cy="1463040"/>
          </a:xfrm>
          <a:prstGeom prst="roundRect">
            <a:avLst>
              <a:gd name="adj" fmla="val 7500"/>
            </a:avLst>
          </a:prstGeom>
          <a:solidFill>
            <a:srgbClr val="FFF1E6"/>
          </a:solidFill>
          <a:ln w="12700">
            <a:solidFill>
              <a:srgbClr val="FFF1E6"/>
            </a:solidFill>
            <a:prstDash val="solid"/>
          </a:ln>
          <a:effectLst>
            <a:outerShdw blurRad="76200" dist="25400" dir="5400000" algn="bl" rotWithShape="0">
              <a:srgbClr val="000000">
                <a:alpha val="12000"/>
              </a:srgbClr>
            </a:outerShdw>
          </a:effectLst>
        </p:spPr>
      </p:sp>
      <p:pic>
        <p:nvPicPr>
          <p:cNvPr id="10" name="Image 2" descr="preencoded.png"/>
          <p:cNvPicPr>
            <a:picLocks noChangeAspect="1"/>
          </p:cNvPicPr>
          <p:nvPr/>
        </p:nvPicPr>
        <p:blipFill>
          <a:blip r:embed="rId5"/>
          <a:stretch>
            <a:fillRect/>
          </a:stretch>
        </p:blipFill>
        <p:spPr>
          <a:xfrm>
            <a:off x="4846320" y="1463040"/>
            <a:ext cx="411480" cy="411480"/>
          </a:xfrm>
          <a:prstGeom prst="rect">
            <a:avLst/>
          </a:prstGeom>
        </p:spPr>
      </p:pic>
      <p:sp>
        <p:nvSpPr>
          <p:cNvPr id="11" name="Text 6"/>
          <p:cNvSpPr txBox="1"/>
          <p:nvPr/>
        </p:nvSpPr>
        <p:spPr>
          <a:xfrm>
            <a:off x="4846320" y="2011680"/>
            <a:ext cx="1508760" cy="640080"/>
          </a:xfrm>
          <a:prstGeom prst="rect">
            <a:avLst/>
          </a:prstGeom>
          <a:noFill/>
          <a:ln/>
        </p:spPr>
        <p:txBody>
          <a:bodyPr wrap="square" lIns="0" tIns="0" rIns="0" bIns="0" rtlCol="0" anchor="t"/>
          <a:lstStyle/>
          <a:p>
            <a:pPr marL="0" indent="0">
              <a:buNone/>
            </a:pPr>
            <a:r>
              <a:rPr lang="en-US" sz="1250" b="1" dirty="0">
                <a:solidFill>
                  <a:srgbClr val="1F2933"/>
                </a:solidFill>
                <a:latin typeface="Calibri" pitchFamily="34" charset="0"/>
                <a:ea typeface="Calibri" pitchFamily="34" charset="-122"/>
                <a:cs typeface="Calibri" pitchFamily="34" charset="-120"/>
              </a:rPr>
              <a:t>Bus operator cooperation</a:t>
            </a:r>
            <a:endParaRPr lang="en-US" sz="1250" dirty="0"/>
          </a:p>
        </p:txBody>
      </p:sp>
      <p:sp>
        <p:nvSpPr>
          <p:cNvPr id="12" name="Shape 7"/>
          <p:cNvSpPr/>
          <p:nvPr/>
        </p:nvSpPr>
        <p:spPr>
          <a:xfrm>
            <a:off x="6675120" y="1280160"/>
            <a:ext cx="1828800" cy="1463040"/>
          </a:xfrm>
          <a:prstGeom prst="roundRect">
            <a:avLst>
              <a:gd name="adj" fmla="val 7500"/>
            </a:avLst>
          </a:prstGeom>
          <a:solidFill>
            <a:srgbClr val="FFF1E6"/>
          </a:solidFill>
          <a:ln w="12700">
            <a:solidFill>
              <a:srgbClr val="FFF1E6"/>
            </a:solidFill>
            <a:prstDash val="solid"/>
          </a:ln>
          <a:effectLst>
            <a:outerShdw blurRad="76200" dist="25400" dir="5400000" algn="bl" rotWithShape="0">
              <a:srgbClr val="000000">
                <a:alpha val="12000"/>
              </a:srgbClr>
            </a:outerShdw>
          </a:effectLst>
        </p:spPr>
      </p:sp>
      <p:pic>
        <p:nvPicPr>
          <p:cNvPr id="13" name="Image 3" descr="preencoded.png"/>
          <p:cNvPicPr>
            <a:picLocks noChangeAspect="1"/>
          </p:cNvPicPr>
          <p:nvPr/>
        </p:nvPicPr>
        <p:blipFill>
          <a:blip r:embed="rId6"/>
          <a:stretch>
            <a:fillRect/>
          </a:stretch>
        </p:blipFill>
        <p:spPr>
          <a:xfrm>
            <a:off x="6858000" y="1463040"/>
            <a:ext cx="411480" cy="411480"/>
          </a:xfrm>
          <a:prstGeom prst="rect">
            <a:avLst/>
          </a:prstGeom>
        </p:spPr>
      </p:pic>
      <p:sp>
        <p:nvSpPr>
          <p:cNvPr id="14" name="Text 8"/>
          <p:cNvSpPr txBox="1"/>
          <p:nvPr/>
        </p:nvSpPr>
        <p:spPr>
          <a:xfrm>
            <a:off x="6858000" y="2011680"/>
            <a:ext cx="1508760" cy="640080"/>
          </a:xfrm>
          <a:prstGeom prst="rect">
            <a:avLst/>
          </a:prstGeom>
          <a:noFill/>
          <a:ln/>
        </p:spPr>
        <p:txBody>
          <a:bodyPr wrap="square" lIns="0" tIns="0" rIns="0" bIns="0" rtlCol="0" anchor="t"/>
          <a:lstStyle/>
          <a:p>
            <a:pPr marL="0" indent="0">
              <a:buNone/>
            </a:pPr>
            <a:r>
              <a:rPr lang="en-US" sz="1250" b="1" dirty="0">
                <a:solidFill>
                  <a:srgbClr val="1F2933"/>
                </a:solidFill>
                <a:latin typeface="Calibri" pitchFamily="34" charset="0"/>
                <a:ea typeface="Calibri" pitchFamily="34" charset="-122"/>
                <a:cs typeface="Calibri" pitchFamily="34" charset="-120"/>
              </a:rPr>
              <a:t>Traffic can affect ETA accuracy</a:t>
            </a:r>
            <a:endParaRPr lang="en-US" sz="1250" dirty="0"/>
          </a:p>
        </p:txBody>
      </p:sp>
      <p:sp>
        <p:nvSpPr>
          <p:cNvPr id="15" name="Shape 9"/>
          <p:cNvSpPr/>
          <p:nvPr/>
        </p:nvSpPr>
        <p:spPr>
          <a:xfrm>
            <a:off x="1645920" y="2926080"/>
            <a:ext cx="1828800" cy="1463040"/>
          </a:xfrm>
          <a:prstGeom prst="roundRect">
            <a:avLst>
              <a:gd name="adj" fmla="val 7500"/>
            </a:avLst>
          </a:prstGeom>
          <a:solidFill>
            <a:srgbClr val="FFF1E6"/>
          </a:solidFill>
          <a:ln w="12700">
            <a:solidFill>
              <a:srgbClr val="FFF1E6"/>
            </a:solidFill>
            <a:prstDash val="solid"/>
          </a:ln>
          <a:effectLst>
            <a:outerShdw blurRad="76200" dist="25400" dir="5400000" algn="bl" rotWithShape="0">
              <a:srgbClr val="000000">
                <a:alpha val="12000"/>
              </a:srgbClr>
            </a:outerShdw>
          </a:effectLst>
        </p:spPr>
      </p:sp>
      <p:pic>
        <p:nvPicPr>
          <p:cNvPr id="16" name="Image 4" descr="preencoded.png"/>
          <p:cNvPicPr>
            <a:picLocks noChangeAspect="1"/>
          </p:cNvPicPr>
          <p:nvPr/>
        </p:nvPicPr>
        <p:blipFill>
          <a:blip r:embed="rId7"/>
          <a:stretch>
            <a:fillRect/>
          </a:stretch>
        </p:blipFill>
        <p:spPr>
          <a:xfrm>
            <a:off x="1828800" y="3108960"/>
            <a:ext cx="411480" cy="411480"/>
          </a:xfrm>
          <a:prstGeom prst="rect">
            <a:avLst/>
          </a:prstGeom>
        </p:spPr>
      </p:pic>
      <p:sp>
        <p:nvSpPr>
          <p:cNvPr id="17" name="Text 10"/>
          <p:cNvSpPr txBox="1"/>
          <p:nvPr/>
        </p:nvSpPr>
        <p:spPr>
          <a:xfrm>
            <a:off x="1828800" y="3657600"/>
            <a:ext cx="1508760" cy="640080"/>
          </a:xfrm>
          <a:prstGeom prst="rect">
            <a:avLst/>
          </a:prstGeom>
          <a:noFill/>
          <a:ln/>
        </p:spPr>
        <p:txBody>
          <a:bodyPr wrap="square" lIns="0" tIns="0" rIns="0" bIns="0" rtlCol="0" anchor="t"/>
          <a:lstStyle/>
          <a:p>
            <a:pPr marL="0" indent="0">
              <a:buNone/>
            </a:pPr>
            <a:r>
              <a:rPr lang="en-US" sz="1250" b="1" dirty="0">
                <a:solidFill>
                  <a:srgbClr val="1F2933"/>
                </a:solidFill>
                <a:latin typeface="Calibri" pitchFamily="34" charset="0"/>
                <a:ea typeface="Calibri" pitchFamily="34" charset="-122"/>
                <a:cs typeface="Calibri" pitchFamily="34" charset="-120"/>
              </a:rPr>
              <a:t>GPS accuracy limitations</a:t>
            </a:r>
            <a:endParaRPr lang="en-US" sz="1250" dirty="0"/>
          </a:p>
        </p:txBody>
      </p:sp>
      <p:sp>
        <p:nvSpPr>
          <p:cNvPr id="18" name="Shape 11"/>
          <p:cNvSpPr/>
          <p:nvPr/>
        </p:nvSpPr>
        <p:spPr>
          <a:xfrm>
            <a:off x="3657600" y="2926080"/>
            <a:ext cx="1828800" cy="1463040"/>
          </a:xfrm>
          <a:prstGeom prst="roundRect">
            <a:avLst>
              <a:gd name="adj" fmla="val 7500"/>
            </a:avLst>
          </a:prstGeom>
          <a:solidFill>
            <a:srgbClr val="FFF1E6"/>
          </a:solidFill>
          <a:ln w="12700">
            <a:solidFill>
              <a:srgbClr val="FFF1E6"/>
            </a:solidFill>
            <a:prstDash val="solid"/>
          </a:ln>
          <a:effectLst>
            <a:outerShdw blurRad="76200" dist="25400" dir="5400000" algn="bl" rotWithShape="0">
              <a:srgbClr val="000000">
                <a:alpha val="12000"/>
              </a:srgbClr>
            </a:outerShdw>
          </a:effectLst>
        </p:spPr>
      </p:sp>
      <p:pic>
        <p:nvPicPr>
          <p:cNvPr id="19" name="Image 5" descr="preencoded.png"/>
          <p:cNvPicPr>
            <a:picLocks noChangeAspect="1"/>
          </p:cNvPicPr>
          <p:nvPr/>
        </p:nvPicPr>
        <p:blipFill>
          <a:blip r:embed="rId8"/>
          <a:stretch>
            <a:fillRect/>
          </a:stretch>
        </p:blipFill>
        <p:spPr>
          <a:xfrm>
            <a:off x="3840480" y="3108960"/>
            <a:ext cx="411480" cy="411480"/>
          </a:xfrm>
          <a:prstGeom prst="rect">
            <a:avLst/>
          </a:prstGeom>
        </p:spPr>
      </p:pic>
      <p:sp>
        <p:nvSpPr>
          <p:cNvPr id="20" name="Text 12"/>
          <p:cNvSpPr txBox="1"/>
          <p:nvPr/>
        </p:nvSpPr>
        <p:spPr>
          <a:xfrm>
            <a:off x="3840480" y="3657600"/>
            <a:ext cx="1508760" cy="640080"/>
          </a:xfrm>
          <a:prstGeom prst="rect">
            <a:avLst/>
          </a:prstGeom>
          <a:noFill/>
          <a:ln/>
        </p:spPr>
        <p:txBody>
          <a:bodyPr wrap="square" lIns="0" tIns="0" rIns="0" bIns="0" rtlCol="0" anchor="t"/>
          <a:lstStyle/>
          <a:p>
            <a:pPr marL="0" indent="0">
              <a:buNone/>
            </a:pPr>
            <a:r>
              <a:rPr lang="en-US" sz="1250" b="1" dirty="0">
                <a:solidFill>
                  <a:srgbClr val="1F2933"/>
                </a:solidFill>
                <a:latin typeface="Calibri" pitchFamily="34" charset="0"/>
                <a:ea typeface="Calibri" pitchFamily="34" charset="-122"/>
                <a:cs typeface="Calibri" pitchFamily="34" charset="-120"/>
              </a:rPr>
              <a:t>Privacy and data security</a:t>
            </a:r>
            <a:endParaRPr lang="en-US" sz="1250" dirty="0"/>
          </a:p>
        </p:txBody>
      </p:sp>
      <p:sp>
        <p:nvSpPr>
          <p:cNvPr id="21" name="Shape 13"/>
          <p:cNvSpPr/>
          <p:nvPr/>
        </p:nvSpPr>
        <p:spPr>
          <a:xfrm>
            <a:off x="5669280" y="2926080"/>
            <a:ext cx="1828800" cy="1463040"/>
          </a:xfrm>
          <a:prstGeom prst="roundRect">
            <a:avLst>
              <a:gd name="adj" fmla="val 7500"/>
            </a:avLst>
          </a:prstGeom>
          <a:solidFill>
            <a:srgbClr val="FFF1E6"/>
          </a:solidFill>
          <a:ln w="12700">
            <a:solidFill>
              <a:srgbClr val="FFF1E6"/>
            </a:solidFill>
            <a:prstDash val="solid"/>
          </a:ln>
          <a:effectLst>
            <a:outerShdw blurRad="76200" dist="25400" dir="5400000" algn="bl" rotWithShape="0">
              <a:srgbClr val="000000">
                <a:alpha val="12000"/>
              </a:srgbClr>
            </a:outerShdw>
          </a:effectLst>
        </p:spPr>
      </p:sp>
      <p:pic>
        <p:nvPicPr>
          <p:cNvPr id="22" name="Image 6" descr="preencoded.png"/>
          <p:cNvPicPr>
            <a:picLocks noChangeAspect="1"/>
          </p:cNvPicPr>
          <p:nvPr/>
        </p:nvPicPr>
        <p:blipFill>
          <a:blip r:embed="rId9"/>
          <a:stretch>
            <a:fillRect/>
          </a:stretch>
        </p:blipFill>
        <p:spPr>
          <a:xfrm>
            <a:off x="5852160" y="3108960"/>
            <a:ext cx="411480" cy="411480"/>
          </a:xfrm>
          <a:prstGeom prst="rect">
            <a:avLst/>
          </a:prstGeom>
        </p:spPr>
      </p:pic>
      <p:sp>
        <p:nvSpPr>
          <p:cNvPr id="23" name="Text 14"/>
          <p:cNvSpPr txBox="1"/>
          <p:nvPr/>
        </p:nvSpPr>
        <p:spPr>
          <a:xfrm>
            <a:off x="5852160" y="3657600"/>
            <a:ext cx="1508760" cy="640080"/>
          </a:xfrm>
          <a:prstGeom prst="rect">
            <a:avLst/>
          </a:prstGeom>
          <a:noFill/>
          <a:ln/>
        </p:spPr>
        <p:txBody>
          <a:bodyPr wrap="square" lIns="0" tIns="0" rIns="0" bIns="0" rtlCol="0" anchor="t"/>
          <a:lstStyle/>
          <a:p>
            <a:pPr marL="0" indent="0">
              <a:buNone/>
            </a:pPr>
            <a:r>
              <a:rPr lang="en-US" sz="1250" b="1" dirty="0">
                <a:solidFill>
                  <a:srgbClr val="1F2933"/>
                </a:solidFill>
                <a:latin typeface="Calibri" pitchFamily="34" charset="0"/>
                <a:ea typeface="Calibri" pitchFamily="34" charset="-122"/>
                <a:cs typeface="Calibri" pitchFamily="34" charset="-120"/>
              </a:rPr>
              <a:t>Smartphone / internet access limitations</a:t>
            </a:r>
            <a:endParaRPr lang="en-US" sz="1250" dirty="0"/>
          </a:p>
        </p:txBody>
      </p:sp>
      <p:sp>
        <p:nvSpPr>
          <p:cNvPr id="24" name="TextBox 23">
            <a:extLst>
              <a:ext uri="{FF2B5EF4-FFF2-40B4-BE49-F238E27FC236}">
                <a16:creationId xmlns:a16="http://schemas.microsoft.com/office/drawing/2014/main" id="{332F8B17-E32C-438E-AB17-36C8C899D733}"/>
              </a:ext>
            </a:extLst>
          </p:cNvPr>
          <p:cNvSpPr txBox="1"/>
          <p:nvPr/>
        </p:nvSpPr>
        <p:spPr>
          <a:xfrm>
            <a:off x="8775700" y="4774168"/>
            <a:ext cx="457200" cy="369332"/>
          </a:xfrm>
          <a:prstGeom prst="rect">
            <a:avLst/>
          </a:prstGeom>
          <a:noFill/>
        </p:spPr>
        <p:txBody>
          <a:bodyPr wrap="square" rtlCol="0">
            <a:spAutoFit/>
          </a:bodyPr>
          <a:lstStyle/>
          <a:p>
            <a:r>
              <a:rPr lang="en-US" dirty="0"/>
              <a:t>8</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65760"/>
            <a:ext cx="8046720" cy="640080"/>
          </a:xfrm>
          <a:prstGeom prst="rect">
            <a:avLst/>
          </a:prstGeom>
          <a:noFill/>
          <a:ln/>
        </p:spPr>
        <p:txBody>
          <a:bodyPr wrap="square" lIns="0" tIns="0" rIns="0" bIns="0" rtlCol="0" anchor="ctr"/>
          <a:lstStyle/>
          <a:p>
            <a:pPr marL="0" indent="0">
              <a:buNone/>
            </a:pPr>
            <a:r>
              <a:rPr lang="en-US" sz="2800" b="1" dirty="0">
                <a:solidFill>
                  <a:srgbClr val="1F2933"/>
                </a:solidFill>
                <a:latin typeface="Calibri" pitchFamily="34" charset="0"/>
                <a:ea typeface="Calibri" pitchFamily="34" charset="-122"/>
                <a:cs typeface="Calibri" pitchFamily="34" charset="-120"/>
              </a:rPr>
              <a:t>Conclusion</a:t>
            </a:r>
            <a:endParaRPr lang="en-US" sz="2800" dirty="0"/>
          </a:p>
        </p:txBody>
      </p:sp>
      <p:sp>
        <p:nvSpPr>
          <p:cNvPr id="3" name="Shape 1"/>
          <p:cNvSpPr/>
          <p:nvPr/>
        </p:nvSpPr>
        <p:spPr>
          <a:xfrm>
            <a:off x="548640" y="1371600"/>
            <a:ext cx="8046720" cy="868680"/>
          </a:xfrm>
          <a:prstGeom prst="roundRect">
            <a:avLst>
              <a:gd name="adj" fmla="val 12632"/>
            </a:avLst>
          </a:prstGeom>
          <a:solidFill>
            <a:srgbClr val="FFF1E6"/>
          </a:solidFill>
          <a:ln w="12700">
            <a:solidFill>
              <a:srgbClr val="FFF1E6"/>
            </a:solidFill>
            <a:prstDash val="solid"/>
          </a:ln>
          <a:effectLst>
            <a:outerShdw blurRad="76200" dist="25400" dir="5400000" algn="bl" rotWithShape="0">
              <a:srgbClr val="000000">
                <a:alpha val="12000"/>
              </a:srgbClr>
            </a:outerShdw>
          </a:effectLst>
        </p:spPr>
      </p:sp>
      <p:sp>
        <p:nvSpPr>
          <p:cNvPr id="4" name="Shape 2"/>
          <p:cNvSpPr/>
          <p:nvPr/>
        </p:nvSpPr>
        <p:spPr>
          <a:xfrm>
            <a:off x="777240" y="1554480"/>
            <a:ext cx="502920" cy="502920"/>
          </a:xfrm>
          <a:prstGeom prst="ellipse">
            <a:avLst/>
          </a:prstGeom>
          <a:solidFill>
            <a:srgbClr val="EA5F0C"/>
          </a:solidFill>
          <a:ln w="12700">
            <a:solidFill>
              <a:srgbClr val="EA5F0C"/>
            </a:solidFill>
            <a:prstDash val="solid"/>
          </a:ln>
        </p:spPr>
      </p:sp>
      <p:sp>
        <p:nvSpPr>
          <p:cNvPr id="5" name="Text 3"/>
          <p:cNvSpPr txBox="1"/>
          <p:nvPr/>
        </p:nvSpPr>
        <p:spPr>
          <a:xfrm>
            <a:off x="777240" y="1554480"/>
            <a:ext cx="502920" cy="502920"/>
          </a:xfrm>
          <a:prstGeom prst="rect">
            <a:avLst/>
          </a:prstGeom>
          <a:noFill/>
          <a:ln/>
        </p:spPr>
        <p:txBody>
          <a:bodyPr wrap="square" lIns="0" tIns="0" rIns="0" bIns="0"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6" name="Text 4"/>
          <p:cNvSpPr txBox="1"/>
          <p:nvPr/>
        </p:nvSpPr>
        <p:spPr>
          <a:xfrm>
            <a:off x="1508760" y="1463040"/>
            <a:ext cx="6858000" cy="685800"/>
          </a:xfrm>
          <a:prstGeom prst="rect">
            <a:avLst/>
          </a:prstGeom>
          <a:noFill/>
          <a:ln/>
        </p:spPr>
        <p:txBody>
          <a:bodyPr wrap="square" lIns="0" tIns="0" rIns="0" bIns="0" rtlCol="0" anchor="ctr"/>
          <a:lstStyle/>
          <a:p>
            <a:pPr marL="0" indent="0">
              <a:buNone/>
            </a:pPr>
            <a:r>
              <a:rPr lang="en-US" sz="1700" dirty="0">
                <a:solidFill>
                  <a:srgbClr val="3D4852"/>
                </a:solidFill>
                <a:latin typeface="Calibri" pitchFamily="34" charset="0"/>
                <a:ea typeface="Calibri" pitchFamily="34" charset="-122"/>
                <a:cs typeface="Calibri" pitchFamily="34" charset="-120"/>
              </a:rPr>
              <a:t>GPS and IoT devices collect live bus location data.</a:t>
            </a:r>
            <a:endParaRPr lang="en-US" sz="1700" dirty="0"/>
          </a:p>
        </p:txBody>
      </p:sp>
      <p:sp>
        <p:nvSpPr>
          <p:cNvPr id="7" name="Shape 5"/>
          <p:cNvSpPr/>
          <p:nvPr/>
        </p:nvSpPr>
        <p:spPr>
          <a:xfrm>
            <a:off x="548640" y="2423160"/>
            <a:ext cx="8046720" cy="868680"/>
          </a:xfrm>
          <a:prstGeom prst="roundRect">
            <a:avLst>
              <a:gd name="adj" fmla="val 12632"/>
            </a:avLst>
          </a:prstGeom>
          <a:solidFill>
            <a:srgbClr val="FFF1E6"/>
          </a:solidFill>
          <a:ln w="12700">
            <a:solidFill>
              <a:srgbClr val="FFF1E6"/>
            </a:solidFill>
            <a:prstDash val="solid"/>
          </a:ln>
          <a:effectLst>
            <a:outerShdw blurRad="76200" dist="25400" dir="5400000" algn="bl" rotWithShape="0">
              <a:srgbClr val="000000">
                <a:alpha val="12000"/>
              </a:srgbClr>
            </a:outerShdw>
          </a:effectLst>
        </p:spPr>
      </p:sp>
      <p:sp>
        <p:nvSpPr>
          <p:cNvPr id="8" name="Shape 6"/>
          <p:cNvSpPr/>
          <p:nvPr/>
        </p:nvSpPr>
        <p:spPr>
          <a:xfrm>
            <a:off x="777240" y="2606040"/>
            <a:ext cx="502920" cy="502920"/>
          </a:xfrm>
          <a:prstGeom prst="ellipse">
            <a:avLst/>
          </a:prstGeom>
          <a:solidFill>
            <a:srgbClr val="EA5F0C"/>
          </a:solidFill>
          <a:ln w="12700">
            <a:solidFill>
              <a:srgbClr val="EA5F0C"/>
            </a:solidFill>
            <a:prstDash val="solid"/>
          </a:ln>
        </p:spPr>
      </p:sp>
      <p:sp>
        <p:nvSpPr>
          <p:cNvPr id="9" name="Text 7"/>
          <p:cNvSpPr txBox="1"/>
          <p:nvPr/>
        </p:nvSpPr>
        <p:spPr>
          <a:xfrm>
            <a:off x="777240" y="2606040"/>
            <a:ext cx="502920" cy="502920"/>
          </a:xfrm>
          <a:prstGeom prst="rect">
            <a:avLst/>
          </a:prstGeom>
          <a:noFill/>
          <a:ln/>
        </p:spPr>
        <p:txBody>
          <a:bodyPr wrap="square" lIns="0" tIns="0" rIns="0" bIns="0"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10" name="Text 8"/>
          <p:cNvSpPr txBox="1"/>
          <p:nvPr/>
        </p:nvSpPr>
        <p:spPr>
          <a:xfrm>
            <a:off x="1508760" y="2514600"/>
            <a:ext cx="6858000" cy="685800"/>
          </a:xfrm>
          <a:prstGeom prst="rect">
            <a:avLst/>
          </a:prstGeom>
          <a:noFill/>
          <a:ln/>
        </p:spPr>
        <p:txBody>
          <a:bodyPr wrap="square" lIns="0" tIns="0" rIns="0" bIns="0" rtlCol="0" anchor="ctr"/>
          <a:lstStyle/>
          <a:p>
            <a:pPr marL="0" indent="0">
              <a:buNone/>
            </a:pPr>
            <a:r>
              <a:rPr lang="en-US" sz="1700" dirty="0">
                <a:solidFill>
                  <a:srgbClr val="3D4852"/>
                </a:solidFill>
                <a:latin typeface="Calibri" pitchFamily="34" charset="0"/>
                <a:ea typeface="Calibri" pitchFamily="34" charset="-122"/>
                <a:cs typeface="Calibri" pitchFamily="34" charset="-120"/>
              </a:rPr>
              <a:t>Cloud computing processes the data and prepares arrival times.</a:t>
            </a:r>
            <a:endParaRPr lang="en-US" sz="1700" dirty="0"/>
          </a:p>
        </p:txBody>
      </p:sp>
      <p:sp>
        <p:nvSpPr>
          <p:cNvPr id="11" name="Shape 9"/>
          <p:cNvSpPr/>
          <p:nvPr/>
        </p:nvSpPr>
        <p:spPr>
          <a:xfrm>
            <a:off x="548640" y="3474720"/>
            <a:ext cx="8046720" cy="868680"/>
          </a:xfrm>
          <a:prstGeom prst="roundRect">
            <a:avLst>
              <a:gd name="adj" fmla="val 12632"/>
            </a:avLst>
          </a:prstGeom>
          <a:solidFill>
            <a:srgbClr val="FFF1E6"/>
          </a:solidFill>
          <a:ln w="12700">
            <a:solidFill>
              <a:srgbClr val="FFF1E6"/>
            </a:solidFill>
            <a:prstDash val="solid"/>
          </a:ln>
          <a:effectLst>
            <a:outerShdw blurRad="76200" dist="25400" dir="5400000" algn="bl" rotWithShape="0">
              <a:srgbClr val="000000">
                <a:alpha val="12000"/>
              </a:srgbClr>
            </a:outerShdw>
          </a:effectLst>
        </p:spPr>
      </p:sp>
      <p:sp>
        <p:nvSpPr>
          <p:cNvPr id="12" name="Shape 10"/>
          <p:cNvSpPr/>
          <p:nvPr/>
        </p:nvSpPr>
        <p:spPr>
          <a:xfrm>
            <a:off x="777240" y="3657600"/>
            <a:ext cx="502920" cy="502920"/>
          </a:xfrm>
          <a:prstGeom prst="ellipse">
            <a:avLst/>
          </a:prstGeom>
          <a:solidFill>
            <a:srgbClr val="EA5F0C"/>
          </a:solidFill>
          <a:ln w="12700">
            <a:solidFill>
              <a:srgbClr val="EA5F0C"/>
            </a:solidFill>
            <a:prstDash val="solid"/>
          </a:ln>
        </p:spPr>
      </p:sp>
      <p:sp>
        <p:nvSpPr>
          <p:cNvPr id="13" name="Text 11"/>
          <p:cNvSpPr txBox="1"/>
          <p:nvPr/>
        </p:nvSpPr>
        <p:spPr>
          <a:xfrm>
            <a:off x="777240" y="3657600"/>
            <a:ext cx="502920" cy="502920"/>
          </a:xfrm>
          <a:prstGeom prst="rect">
            <a:avLst/>
          </a:prstGeom>
          <a:noFill/>
          <a:ln/>
        </p:spPr>
        <p:txBody>
          <a:bodyPr wrap="square" lIns="0" tIns="0" rIns="0" bIns="0"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14" name="Text 12"/>
          <p:cNvSpPr txBox="1"/>
          <p:nvPr/>
        </p:nvSpPr>
        <p:spPr>
          <a:xfrm>
            <a:off x="1508760" y="3566160"/>
            <a:ext cx="6858000" cy="685800"/>
          </a:xfrm>
          <a:prstGeom prst="rect">
            <a:avLst/>
          </a:prstGeom>
          <a:noFill/>
          <a:ln/>
        </p:spPr>
        <p:txBody>
          <a:bodyPr wrap="square" lIns="0" tIns="0" rIns="0" bIns="0" rtlCol="0" anchor="ctr"/>
          <a:lstStyle/>
          <a:p>
            <a:pPr marL="0" indent="0">
              <a:buNone/>
            </a:pPr>
            <a:r>
              <a:rPr lang="en-US" sz="1700" dirty="0">
                <a:solidFill>
                  <a:srgbClr val="3D4852"/>
                </a:solidFill>
                <a:latin typeface="Calibri" pitchFamily="34" charset="0"/>
                <a:ea typeface="Calibri" pitchFamily="34" charset="-122"/>
                <a:cs typeface="Calibri" pitchFamily="34" charset="-120"/>
              </a:rPr>
              <a:t>Mobile apps give passengers clear information, so they can plan trips and wait less.</a:t>
            </a:r>
            <a:endParaRPr lang="en-US" sz="1700" dirty="0"/>
          </a:p>
        </p:txBody>
      </p:sp>
      <p:sp>
        <p:nvSpPr>
          <p:cNvPr id="15" name="TextBox 14">
            <a:extLst>
              <a:ext uri="{FF2B5EF4-FFF2-40B4-BE49-F238E27FC236}">
                <a16:creationId xmlns:a16="http://schemas.microsoft.com/office/drawing/2014/main" id="{28C4BEB3-4AFE-4F0A-974C-C6C26F2E6B1F}"/>
              </a:ext>
            </a:extLst>
          </p:cNvPr>
          <p:cNvSpPr txBox="1"/>
          <p:nvPr/>
        </p:nvSpPr>
        <p:spPr>
          <a:xfrm>
            <a:off x="8775700" y="4774168"/>
            <a:ext cx="457200" cy="369332"/>
          </a:xfrm>
          <a:prstGeom prst="rect">
            <a:avLst/>
          </a:prstGeom>
          <a:noFill/>
        </p:spPr>
        <p:txBody>
          <a:bodyPr wrap="square" rtlCol="0">
            <a:spAutoFit/>
          </a:bodyPr>
          <a:lstStyle/>
          <a:p>
            <a:r>
              <a:rPr lang="en-US" dirty="0"/>
              <a:t>9</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8</TotalTime>
  <Words>796</Words>
  <Application>Microsoft Office PowerPoint</Application>
  <PresentationFormat>On-screen Show (16:9)</PresentationFormat>
  <Paragraphs>106</Paragraphs>
  <Slides>9</Slides>
  <Notes>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9</vt:i4>
      </vt:variant>
    </vt:vector>
  </HeadingPairs>
  <TitlesOfParts>
    <vt:vector size="12" baseType="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Go Max</cp:lastModifiedBy>
  <cp:revision>3</cp:revision>
  <dcterms:created xsi:type="dcterms:W3CDTF">2026-09-28T19:21:07Z</dcterms:created>
  <dcterms:modified xsi:type="dcterms:W3CDTF">2026-09-30T20:29:16Z</dcterms:modified>
</cp:coreProperties>
</file>